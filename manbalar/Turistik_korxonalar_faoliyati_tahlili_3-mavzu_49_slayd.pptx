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notesMasterIdLst>
    <p:notesMasterId r:id="rId5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A.N. Xoliqulov, “Turistik korxonalar faoliyati tahlili”, 2024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698480" y="65105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3-mavzu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3557"/>
          </a:solidFill>
          <a:ln w="12700">
            <a:solidFill>
              <a:srgbClr val="0E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230368"/>
            <a:ext cx="12191695" cy="1627632"/>
          </a:xfrm>
          <a:prstGeom prst="rect">
            <a:avLst/>
          </a:prstGeom>
          <a:solidFill>
            <a:srgbClr val="163F63"/>
          </a:solidFill>
          <a:ln w="12700">
            <a:solidFill>
              <a:srgbClr val="163F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822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FD3F5"/>
                </a:solidFill>
              </a:rPr>
              <a:t>3-MAVZU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772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TURISTIK KORXONALARNING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MOLIYAVIY HISOBOTLARI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VA ULARNING TAVSIFI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41605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AF5"/>
                </a:solidFill>
              </a:rPr>
              <a:t>“Turistik korxonalar faoliyati tahlili” fanidan ma’ruza taqdimoti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5623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Asosiy manba: A.N. Xoliqulov, 2024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605332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D9E7"/>
                </a:solidFill>
              </a:rPr>
              <a:t>Yangilangan normativ izohlar: 2024–2025-yillardagi BHMS talablari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Mavzuning tuzilishi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134416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5788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132588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3.1. Iqtisodiy tahlil jarayonida qo‘llaniladigan axborotlar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" y="221284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22656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Hisoblanadigan va hisoblanmaydigan axborot manbalari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" y="308152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09524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306324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Ochiq va yopiq axborotlar hamda tijorat siri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58368" y="395020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96392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393192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Moliyaviy hisobotlarni tekshirishning asosiy yo‘nalishlari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58368" y="481888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483260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97280" y="480060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3.2. Moliyaviy hisobotlarning tarkibi va mazmuni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Mavzuning o‘quv maqsadi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134416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5788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132588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Turistik korxona tahlilida axborotning o‘rni va vazifasini tushuntirish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" y="221284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22656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Axborot manbalarini to‘g‘ri tasniflash va ulardan foydalanishni o‘rgatish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" y="308152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09524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306324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Moliyaviy hisobot shakllari o‘rtasidagi mantiqiy bog‘liqlikni ko‘rsatish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58368" y="395020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96392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393192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Rahbar uchun moliyaviy hisobotni “iqtisodiy o‘qish” ko‘nikmasini shakllantirish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Moliyaviy hisobot — asosiy axborot manbai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134416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5788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132588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Xoliqulovga ko‘ra, turistik firma va kompaniyaning moliyaviy hisoboti uning moliyaviy-xo‘jalik faoliyatini ifodalovchi asosiy ko‘rsatkichlar manbaidir.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" y="221284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22656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Hisobot korxonaning mablag‘lari, majburiyatlari, daromadlari, xarajatlari va moliyaviy natijalari haqida tizimli tasavvur beradi.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" y="308152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09524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306324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Tahlil aynan shu ma’lumotlarni qayta ishlash, taqqoslash va boshqaruv qaroriga aylantirish jarayonidir.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Turistik biznesda hisob va nazorat nega zarur?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134416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5788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132588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Yaxshi biznes g‘oya va moliyalashtirishning o‘zi barqaror natija uchun yetarli emas.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" y="221284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22656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Aniq hisob-kitob va ichki nazorat bo‘lmasa, moliyaviy resurslardan samarasiz foydalanish xavfi oshadi.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" y="308152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09524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306324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Malakali buxgalter korxona faoliyatidagi iqtisodiy jarayonlarni tizimli qayd etadi va rahbarni ishonchli axborot bilan ta’minlaydi.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58368" y="395020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96392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393192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Hisob va nazorat rahbarning qarorlarini faktlar bilan asoslashga xizmat qiladi.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Iqtisodiy tahlil axborotlarining asosiy tasnifi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1307592"/>
            <a:ext cx="5285232" cy="4553712"/>
          </a:xfrm>
          <a:prstGeom prst="roundRect">
            <a:avLst>
              <a:gd name="adj" fmla="val 1606"/>
            </a:avLst>
          </a:prstGeom>
          <a:solidFill>
            <a:srgbClr val="EEF4FA"/>
          </a:solidFill>
          <a:ln w="15240">
            <a:solidFill>
              <a:srgbClr val="2F75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52704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78"/>
                </a:solidFill>
              </a:rPr>
              <a:t>Hisoblanadigan axborotlar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96112" y="2185416"/>
            <a:ext cx="164592" cy="164592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0432" y="2148840"/>
            <a:ext cx="448056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</a:rPr>
              <a:t>Buxgalteriya hisobi va hisoboti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96112" y="2990088"/>
            <a:ext cx="164592" cy="164592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2953512"/>
            <a:ext cx="448056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</a:rPr>
              <a:t>Statistika hisobi va hisoboti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96112" y="3794760"/>
            <a:ext cx="164592" cy="164592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3758184"/>
            <a:ext cx="448056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</a:rPr>
              <a:t>Boshqaruv (tezkor) hisobi va hisoboti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96112" y="4599432"/>
            <a:ext cx="164592" cy="164592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4562856"/>
            <a:ext cx="448056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</a:rPr>
              <a:t>Tanlab kuzatish ma’lumotlari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263640" y="1307592"/>
            <a:ext cx="5285232" cy="4553712"/>
          </a:xfrm>
          <a:prstGeom prst="roundRect">
            <a:avLst>
              <a:gd name="adj" fmla="val 1606"/>
            </a:avLst>
          </a:prstGeom>
          <a:solidFill>
            <a:srgbClr val="F2F7EE"/>
          </a:solidFill>
          <a:ln w="15240">
            <a:solidFill>
              <a:srgbClr val="70AD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52704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48235"/>
                </a:solidFill>
              </a:rPr>
              <a:t>Hisoblanmaydigan axborotlar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519672" y="2185416"/>
            <a:ext cx="164592" cy="164592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93992" y="2148840"/>
            <a:ext cx="448056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</a:rPr>
              <a:t>Ichki va tashqi taftish materiallari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519672" y="2990088"/>
            <a:ext cx="164592" cy="164592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93992" y="2953512"/>
            <a:ext cx="448056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</a:rPr>
              <a:t>Ichki va tashqi audit hisobotlari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6519672" y="3794760"/>
            <a:ext cx="164592" cy="164592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93992" y="3758184"/>
            <a:ext cx="448056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</a:rPr>
              <a:t>Nazorat va tekshiruv materiallari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6519672" y="4599432"/>
            <a:ext cx="164592" cy="164592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93992" y="4562856"/>
            <a:ext cx="448056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</a:rPr>
              <a:t>Majlis va yig‘ilish qarorlari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“Hisoblanmaydigan” axborot nimani anglatadi?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134416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5788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132588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Bu atama “raqamlarda ifodalanmaydi” degani emas.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" y="221284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22656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Asosiy ma’no — bunday ma’lumotlar doimiy va muntazam hisob tizimida uzluksiz qayd etilmaydi.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" y="308152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09524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306324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Ular muayyan vaziyat, tekshiruv, audit yoki boshqaruv muhokamasi natijasida shakllanadi.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58368" y="395020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96392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393192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Tahlilda ular rasmiy hisobotdagi ko‘rsatkichlarni izohlash va sabablarni aniqlashga yordam beradi.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Buxgalteriya hisobi va hisoboti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134416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5788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132588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Turistik korxonaning xo‘jalik operatsiyalarini tizimli qayd etadi.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" y="221284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22656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Xo‘jalik mablag‘lari va ularning shakllanish manbalarini aks ettiradi.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" y="308152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09524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306324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Moliyaviy holat va natijalarni baholash uchun asosiy raqamli baza yaratadi.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58368" y="395020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96392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393192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Kompleks iqtisodiy tahlilning eng muhim boshlang‘ich manbalaridan biridir.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Statistika hisobi va hisoboti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134416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5788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132588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Makro va mikro darajadagi hodisa va jarayonlarning miqdoriy tomonini ifodalaydi.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" y="221284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22656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Turistlar soni, xizmat hajmi, bandlik, o‘sish sur’atlari kabi ko‘rsatkichlarni umumlashtirish imkonini beradi.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" y="308152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09524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306324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Korxona ko‘rsatkichlarini tarmoq va hudud miqyosidagi tendensiyalar bilan taqqoslashda foydalidir.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Boshqaruv (tezkor) hisobi va hisoboti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134416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5788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132588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Hisobot davri ichida tezkor boshqaruv uchun zarur bo‘lgan axborotlarni qamrab oladi.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" y="221284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22656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Kunlik, haftalik yoki operatsion natijalarni kuzatishga imkon beradi.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" y="308152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09524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306324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Rahbarning tezkor qaror qabul qilishi uchun moslashuvchan axborot beradi.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58368" y="395020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96392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393192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Ko‘pincha ichki foydalanish uchun mo‘ljallangan va tijorat siri elementlarini saqlaydi.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Tanlab kuzatish ma’lumotlari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134416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5788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132588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Hisobotdagi umumiy ko‘rsatkichlarni chuqurlashtirishga xizmat qiladi.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" y="221284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22656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Muayyan xizmat turi, mijozlar guruhi, jarayon yoki bo‘linmani alohida o‘rganish imkonini beradi.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" y="308152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09524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306324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To‘liq kuzatuv qimmat yoki murakkab bo‘lgan hollarda amaliy ahamiyatga ega.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Hisoblanmaydigan axborot manbalari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134416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5788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132588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Ichki idora va idoradan tashqari taftish natijalari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" y="221284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22656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Ichki va tashqi audit hisobotlari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" y="308152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09524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306324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Laboratoriya hamda sanitariya nazorati materiallari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58368" y="395020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96392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393192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Soliq tekshiruvlari natijalari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58368" y="481888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483260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97280" y="480060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Mehnat jamoasi majlis va yig‘ilish qarorlari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Tahlilda axborotdan foydalanish mantiqi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77240" y="2011680"/>
            <a:ext cx="1960474" cy="1371600"/>
          </a:xfrm>
          <a:prstGeom prst="roundRect">
            <a:avLst>
              <a:gd name="adj" fmla="val 5333"/>
            </a:avLst>
          </a:prstGeom>
          <a:solidFill>
            <a:srgbClr val="F3F8EE"/>
          </a:solidFill>
          <a:ln w="15240">
            <a:solidFill>
              <a:srgbClr val="70AD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139696"/>
            <a:ext cx="347472" cy="347472"/>
          </a:xfrm>
          <a:prstGeom prst="rect">
            <a:avLst/>
          </a:prstGeom>
          <a:solidFill>
            <a:srgbClr val="70AD47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578608"/>
            <a:ext cx="168615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Ma’lumotni yig‘ish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756002" y="2496312"/>
            <a:ext cx="164592" cy="411480"/>
          </a:xfrm>
          <a:prstGeom prst="chevron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38882" y="2011680"/>
            <a:ext cx="1960474" cy="1371600"/>
          </a:xfrm>
          <a:prstGeom prst="roundRect">
            <a:avLst>
              <a:gd name="adj" fmla="val 5333"/>
            </a:avLst>
          </a:prstGeom>
          <a:solidFill>
            <a:srgbClr val="EAF2F8"/>
          </a:solidFill>
          <a:ln w="15240">
            <a:solidFill>
              <a:srgbClr val="2F75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76042" y="2139696"/>
            <a:ext cx="347472" cy="347472"/>
          </a:xfrm>
          <a:prstGeom prst="rect">
            <a:avLst/>
          </a:prstGeom>
          <a:solidFill>
            <a:srgbClr val="2F75B5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76042" y="2578608"/>
            <a:ext cx="168615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Tekshirish va solishtirish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917643" y="2496312"/>
            <a:ext cx="164592" cy="411480"/>
          </a:xfrm>
          <a:prstGeom prst="chevron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0523" y="2011680"/>
            <a:ext cx="1960474" cy="1371600"/>
          </a:xfrm>
          <a:prstGeom prst="roundRect">
            <a:avLst>
              <a:gd name="adj" fmla="val 5333"/>
            </a:avLst>
          </a:prstGeom>
          <a:solidFill>
            <a:srgbClr val="F3F8EE"/>
          </a:solidFill>
          <a:ln w="15240">
            <a:solidFill>
              <a:srgbClr val="70AD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37683" y="2139696"/>
            <a:ext cx="347472" cy="347472"/>
          </a:xfrm>
          <a:prstGeom prst="rect">
            <a:avLst/>
          </a:prstGeom>
          <a:solidFill>
            <a:srgbClr val="70AD47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37683" y="2578608"/>
            <a:ext cx="168615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Tahlil qilish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079285" y="2496312"/>
            <a:ext cx="164592" cy="411480"/>
          </a:xfrm>
          <a:prstGeom prst="chevron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62165" y="2011680"/>
            <a:ext cx="1960474" cy="1371600"/>
          </a:xfrm>
          <a:prstGeom prst="roundRect">
            <a:avLst>
              <a:gd name="adj" fmla="val 5333"/>
            </a:avLst>
          </a:prstGeom>
          <a:solidFill>
            <a:srgbClr val="EAF2F8"/>
          </a:solidFill>
          <a:ln w="15240">
            <a:solidFill>
              <a:srgbClr val="2F75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99325" y="2139696"/>
            <a:ext cx="347472" cy="347472"/>
          </a:xfrm>
          <a:prstGeom prst="rect">
            <a:avLst/>
          </a:prstGeom>
          <a:solidFill>
            <a:srgbClr val="2F75B5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99325" y="2578608"/>
            <a:ext cx="168615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Xulosa chiqarish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9240926" y="2496312"/>
            <a:ext cx="164592" cy="411480"/>
          </a:xfrm>
          <a:prstGeom prst="chevron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23806" y="2011680"/>
            <a:ext cx="1960474" cy="1371600"/>
          </a:xfrm>
          <a:prstGeom prst="roundRect">
            <a:avLst>
              <a:gd name="adj" fmla="val 5333"/>
            </a:avLst>
          </a:prstGeom>
          <a:solidFill>
            <a:srgbClr val="F3F8EE"/>
          </a:solidFill>
          <a:ln w="15240">
            <a:solidFill>
              <a:srgbClr val="70AD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60966" y="2139696"/>
            <a:ext cx="347472" cy="347472"/>
          </a:xfrm>
          <a:prstGeom prst="rect">
            <a:avLst/>
          </a:prstGeom>
          <a:solidFill>
            <a:srgbClr val="70AD47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560966" y="2578608"/>
            <a:ext cx="168615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Boshqaruv qarori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Reja va me’yoriy hujjatlar ham axborot manbai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134416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5788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132588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Tasdiqlangan reja va biznes-reja ko‘rsatkichlari tahlil uchun mezon vazifasini bajaradi.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" y="221284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22656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Me’yorlar, limitlar va ichki standartlar fakt natijalarni baholash imkonini beradi.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" y="308152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09524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306324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Tahlilda faqat “nima bo‘ldi?” emas, “nimaga nisbatan qanday bo‘ldi?” degan savol ham muhim.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Ochiq va yopiq axborotlar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1307592"/>
            <a:ext cx="5285232" cy="4553712"/>
          </a:xfrm>
          <a:prstGeom prst="roundRect">
            <a:avLst>
              <a:gd name="adj" fmla="val 1606"/>
            </a:avLst>
          </a:prstGeom>
          <a:solidFill>
            <a:srgbClr val="EEF4FA"/>
          </a:solidFill>
          <a:ln w="15240">
            <a:solidFill>
              <a:srgbClr val="2F75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52704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78"/>
                </a:solidFill>
              </a:rPr>
              <a:t>Ochiq axborotlar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96112" y="2185416"/>
            <a:ext cx="164592" cy="164592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0432" y="2148840"/>
            <a:ext cx="448056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</a:rPr>
              <a:t>Tashqi foydalanuvchilarga taqdim etilishi mumkin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96112" y="2990088"/>
            <a:ext cx="164592" cy="164592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2953512"/>
            <a:ext cx="448056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</a:rPr>
              <a:t>Moliyaviy va statistik hisobot ko‘rsatkichlari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96112" y="3794760"/>
            <a:ext cx="164592" cy="164592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3758184"/>
            <a:ext cx="448056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</a:rPr>
              <a:t>Investor, kreditor va davlat organlari foydalanishi mumkin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263640" y="1307592"/>
            <a:ext cx="5285232" cy="4553712"/>
          </a:xfrm>
          <a:prstGeom prst="roundRect">
            <a:avLst>
              <a:gd name="adj" fmla="val 1606"/>
            </a:avLst>
          </a:prstGeom>
          <a:solidFill>
            <a:srgbClr val="F2F7EE"/>
          </a:solidFill>
          <a:ln w="15240">
            <a:solidFill>
              <a:srgbClr val="70AD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52704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48235"/>
                </a:solidFill>
              </a:rPr>
              <a:t>Yopiq axborotlar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519672" y="2185416"/>
            <a:ext cx="164592" cy="164592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93992" y="2148840"/>
            <a:ext cx="448056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</a:rPr>
              <a:t>Boshqaruv hisobi ma’lumotlari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519672" y="2990088"/>
            <a:ext cx="164592" cy="164592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93992" y="2953512"/>
            <a:ext cx="448056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</a:rPr>
              <a:t>Ichki me’yorlar, limitlar va texnologik ko‘rsatkichlar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519672" y="3794760"/>
            <a:ext cx="164592" cy="164592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93992" y="3758184"/>
            <a:ext cx="448056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</a:rPr>
              <a:t>Tijorat siri va raqobat ustunligini ifodalovchi ma’lumotlar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Tijorat siri va tahlil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134416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5788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132588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Bozor sharoitida barcha tahliliy ma’lumotlarni oshkor qilish maqsadga muvofiq emas.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" y="221284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22656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Korxona o‘zining ichki normativlari, tarif yondashuvlari, xarajat tuzilmasi va boshqaruv yechimlarini himoya qilishi mumkin.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" y="308152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09524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306324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Shu bilan birga tashqi foydalanuvchilarga ishonchli moliyaviy axborot taqdim etilishi lozim.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58368" y="395020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96392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393192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Vazifa — oshkoralik va tijorat manfaatlari o‘rtasida oqilona muvozanat yaratish.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Moliyaviy hisobotni tekshirish: 1-qadam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134416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5788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132588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Buxgalteriya balansi ko‘rsatkichlarini Bosh kitobdagi ma’lumotlar bilan solishtirish.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" y="221284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22656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Balansdagi raqamlar sintetik hisob ma’lumotlari bilan mos kelishi kerak.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" y="308152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09524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306324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Nomuvofiqliklar hisobotning ishonchliligiga shubha tug‘diradi.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Moliyaviy hisobotni tekshirish: 2-qadam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134416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5788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132588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Balans bo‘limlaridagi moddalar yig‘indisi bo‘lim yakunlariga mosligini tekshirish.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" y="221284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22656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Aktiv va passiv (majburiyatlar + xususiy kapital) tengligini nazorat qilish.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" y="308152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09524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306324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Arifmetik va mantiqiy xatolarni aniqlash.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Moliyaviy hisobotni tekshirish: 3-qadam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134416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5788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132588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Balansdagi ko‘rsatkichlarni boshqa moliyaviy hisobot shakllari bilan o‘zaro solishtirish.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" y="221284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22656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Bir xil iqtisodiy mazmunga ega ko‘rsatkichlar o‘zaro mos bo‘lishi kerak.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" y="308152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09524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306324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Bu usul hisobotlararo bog‘liqlikni tekshiradi.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Moliyaviy hisobotni tekshirish: 4-qadam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93268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Normativ qism yangilangan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58368" y="134416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35788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" y="132588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Hisobot shakli va mazmunining amaldagi BHMS talablariga muvofiqligini tekshirish.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58368" y="221284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22656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219456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Xoliqulov kitobida 2002–2003-yillardagi hujjatlar tilga olingan; amaliyotda amaldagi yangi me’yorlar qo‘llanadi.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58368" y="308152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309524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306324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2025-yildan 1-son BHMS va moliyaviy hisobotlarni taqdim etish bo‘yicha yangi nizom amalda.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Rahbar hisobotni imzolashdan oldin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77240" y="2011680"/>
            <a:ext cx="1960474" cy="1371600"/>
          </a:xfrm>
          <a:prstGeom prst="roundRect">
            <a:avLst>
              <a:gd name="adj" fmla="val 5333"/>
            </a:avLst>
          </a:prstGeom>
          <a:solidFill>
            <a:srgbClr val="F3F8EE"/>
          </a:solidFill>
          <a:ln w="15240">
            <a:solidFill>
              <a:srgbClr val="70AD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139696"/>
            <a:ext cx="347472" cy="347472"/>
          </a:xfrm>
          <a:prstGeom prst="rect">
            <a:avLst/>
          </a:prstGeom>
          <a:solidFill>
            <a:srgbClr val="70AD47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578608"/>
            <a:ext cx="168615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Hujjatlarni ko‘rib chiqadi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756002" y="2496312"/>
            <a:ext cx="164592" cy="411480"/>
          </a:xfrm>
          <a:prstGeom prst="chevron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38882" y="2011680"/>
            <a:ext cx="1960474" cy="1371600"/>
          </a:xfrm>
          <a:prstGeom prst="roundRect">
            <a:avLst>
              <a:gd name="adj" fmla="val 5333"/>
            </a:avLst>
          </a:prstGeom>
          <a:solidFill>
            <a:srgbClr val="EAF2F8"/>
          </a:solidFill>
          <a:ln w="15240">
            <a:solidFill>
              <a:srgbClr val="2F75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76042" y="2139696"/>
            <a:ext cx="347472" cy="347472"/>
          </a:xfrm>
          <a:prstGeom prst="rect">
            <a:avLst/>
          </a:prstGeom>
          <a:solidFill>
            <a:srgbClr val="2F75B5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76042" y="2578608"/>
            <a:ext cx="168615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Raqamlar mosligini tekshiradi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917643" y="2496312"/>
            <a:ext cx="164592" cy="411480"/>
          </a:xfrm>
          <a:prstGeom prst="chevron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0523" y="2011680"/>
            <a:ext cx="1960474" cy="1371600"/>
          </a:xfrm>
          <a:prstGeom prst="roundRect">
            <a:avLst>
              <a:gd name="adj" fmla="val 5333"/>
            </a:avLst>
          </a:prstGeom>
          <a:solidFill>
            <a:srgbClr val="F3F8EE"/>
          </a:solidFill>
          <a:ln w="15240">
            <a:solidFill>
              <a:srgbClr val="70AD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37683" y="2139696"/>
            <a:ext cx="347472" cy="347472"/>
          </a:xfrm>
          <a:prstGeom prst="rect">
            <a:avLst/>
          </a:prstGeom>
          <a:solidFill>
            <a:srgbClr val="70AD47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37683" y="2578608"/>
            <a:ext cx="168615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Hisobotlararo bog‘liqlikni baholaydi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079285" y="2496312"/>
            <a:ext cx="164592" cy="411480"/>
          </a:xfrm>
          <a:prstGeom prst="chevron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62165" y="2011680"/>
            <a:ext cx="1960474" cy="1371600"/>
          </a:xfrm>
          <a:prstGeom prst="roundRect">
            <a:avLst>
              <a:gd name="adj" fmla="val 5333"/>
            </a:avLst>
          </a:prstGeom>
          <a:solidFill>
            <a:srgbClr val="EAF2F8"/>
          </a:solidFill>
          <a:ln w="15240">
            <a:solidFill>
              <a:srgbClr val="2F75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99325" y="2139696"/>
            <a:ext cx="347472" cy="347472"/>
          </a:xfrm>
          <a:prstGeom prst="rect">
            <a:avLst/>
          </a:prstGeom>
          <a:solidFill>
            <a:srgbClr val="2F75B5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99325" y="2578608"/>
            <a:ext cx="168615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Moliyaviy holatni tushunadi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9240926" y="2496312"/>
            <a:ext cx="164592" cy="411480"/>
          </a:xfrm>
          <a:prstGeom prst="chevron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23806" y="2011680"/>
            <a:ext cx="1960474" cy="1371600"/>
          </a:xfrm>
          <a:prstGeom prst="roundRect">
            <a:avLst>
              <a:gd name="adj" fmla="val 5333"/>
            </a:avLst>
          </a:prstGeom>
          <a:solidFill>
            <a:srgbClr val="F3F8EE"/>
          </a:solidFill>
          <a:ln w="15240">
            <a:solidFill>
              <a:srgbClr val="70AD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60966" y="2139696"/>
            <a:ext cx="347472" cy="347472"/>
          </a:xfrm>
          <a:prstGeom prst="rect">
            <a:avLst/>
          </a:prstGeom>
          <a:solidFill>
            <a:srgbClr val="70AD47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560966" y="2578608"/>
            <a:ext cx="168615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Shundan so‘ng tasdiqlaydi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Rahbar va buxgalterning roli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134416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5788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132588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Rahbar barcha buxgalteriya yozuvlarini tuzishi shart emas, ammo hisobot mazmunini tushunishi zarur.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" y="221284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22656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Buxgalter ishonchli hisob tizimini yuritadi va moliyaviy axborotni shakllantiradi.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" y="308152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09524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306324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Rahbar esa ushbu axborot asosida boshqaruv qarorlarini qabul qiladi.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58368" y="395020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96392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393192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Hisobotni imzolash mas’uliyatni ham anglatadi.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05840"/>
            <a:ext cx="11064240" cy="4480560"/>
          </a:xfrm>
          <a:prstGeom prst="rect">
            <a:avLst/>
          </a:prstGeom>
          <a:solidFill>
            <a:srgbClr val="EAF2F8"/>
          </a:solidFill>
          <a:ln w="19050">
            <a:solidFill>
              <a:srgbClr val="2F75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5087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75B5"/>
                </a:solidFill>
              </a:rPr>
              <a:t>3.2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233172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F4E78"/>
                </a:solidFill>
              </a:rPr>
              <a:t>Turistik firma va kompaniyalarda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1F4E78"/>
                </a:solidFill>
              </a:rPr>
              <a:t>moliyaviy hisobotlar tarkibi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914400" y="4023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Kitobdagi yondashuv + amaldagi 2024–2025-yil me’yorlari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Moliyaviy hisobotning vazifasi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93268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Mazmuni amaldagi qonunchilik bilan uyg‘unlashtirilgan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58368" y="134416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35788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" y="132588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Korxonaning hisobot sanasidagi moliyaviy holatini ko‘rsatish.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58368" y="221284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22656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219456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Hisobot davridagi moliyaviy natijani yoritish.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58368" y="308152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309524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306324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Pul mablag‘lari harakatini aks ettirish.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58368" y="395020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96392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97280" y="393192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Tashqi va ichki foydalanuvchilarga qaror qabul qilish uchun tizimlashtirilgan axborot berish.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Kitobdagi va amaldagi yillik hisobot tarkibi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93268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Yangilangan normativ taqqoslash</a:t>
            </a:r>
            <a:endParaRPr lang="en-US" sz="11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927080" cy="4526280"/>
        </p:xfrm>
        <a:graphic>
          <a:graphicData uri="http://schemas.openxmlformats.org/drawingml/2006/table">
            <a:tbl>
              <a:tblPr/>
              <a:tblGrid>
                <a:gridCol w="2468880"/>
                <a:gridCol w="3931920"/>
                <a:gridCol w="45262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Manba</a:t>
                      </a:r>
                      <a:endParaRPr lang="en-US" sz="13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Asosiy shakllar</a:t>
                      </a:r>
                      <a:endParaRPr lang="en-US" sz="13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Izoh</a:t>
                      </a:r>
                      <a:endParaRPr lang="en-US" sz="13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Xoliqulov, 2024</a:t>
                      </a:r>
                      <a:endParaRPr lang="en-US" sz="13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1-shakl Balans; 2-shakl Moliyaviy natijalar; 2a; 3; 4; 5-shakllar</a:t>
                      </a:r>
                      <a:endParaRPr lang="en-US" sz="13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Kitob avvalgi normativ tizimga tayangan</a:t>
                      </a:r>
                      <a:endParaRPr lang="en-US" sz="13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Amaldagi BHMS (2025)</a:t>
                      </a:r>
                      <a:endParaRPr lang="en-US" sz="13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Buxgalteriya balansi; Moliyaviy natijalar; Xususiy kapital; Pul oqimlari; izohlar</a:t>
                      </a:r>
                      <a:endParaRPr lang="en-US" sz="13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2024-yilgi yangi Nizomga muvofiq</a:t>
                      </a:r>
                      <a:endParaRPr lang="en-US" sz="13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Mikrofirma/kichik korxona</a:t>
                      </a:r>
                      <a:endParaRPr lang="en-US" sz="13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Buxgalteriya balansi; Moliyaviy natijalar to‘g‘risidagi hisobot</a:t>
                      </a:r>
                      <a:endParaRPr lang="en-US" sz="13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Soddalashtirilgan yillik tarkib</a:t>
                      </a:r>
                      <a:endParaRPr lang="en-US" sz="13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1417320"/>
            <a:ext cx="10927080" cy="566928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554480"/>
            <a:ext cx="3642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Manba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282440" y="1554480"/>
            <a:ext cx="3642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Asosiy shakllar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24800" y="1554480"/>
            <a:ext cx="3642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Izoh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Buxgalteriya balansi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134416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5788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132588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Korxonaning muayyan sanadagi aktivlari, majburiyatlari va xususiy kapitali haqida ma’lumot beradi.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" y="221284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22656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Rahbar mablag‘larning miqdori va joylashuvini baholashi mumkin.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" y="308152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09524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306324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O‘z mablag‘lari va jalb qilingan mablag‘lar nisbatini ko‘rsatadi.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58368" y="395020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96392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393192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Likvidlik va moliyaviy barqarorlik tahlilining asosiy manbai hisoblanadi.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Balans rahbarga qanday savollarga javob beradi?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134416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5788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132588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Korxona qancha aktivga ega?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" y="221284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22656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Bu aktivlar qaysi manbalar hisobidan shakllangan?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" y="308152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09524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306324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Qancha mablag‘ o‘z kapitali, qancha qismi majburiyatlar hisobidan moliyalashtirilgan?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58368" y="395020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96392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393192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Qisqa muddatli majburiyatlarni qoplash imkoniyati qanday?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58368" y="481888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483260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97280" y="480060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Korxonaning umumiy moliyaviy barqarorligi qanday?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Moliyaviy natijalar to‘g‘risidagi hisobot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134416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5788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132588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Hisobot davridagi daromadlar va xarajatlarni ko‘rsatadi.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" y="221284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22656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Sotishdan sof tushum va sotilgan xizmatlar tannarxini baholashga imkon beradi.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" y="308152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09524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306324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Yalpi moliyaviy natija, asosiy faoliyat natijasi va sof foyda (zarar) shakllanishini ochib beradi.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58368" y="395020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96392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393192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Rentabellik va foydalilik tahlili uchun asosiy manbadir.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Moliyaviy natijalar hisobotidagi asosiy mantiq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134416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5788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132588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Sof tushum → xizmatlar tannarxi → yalpi natija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" y="221284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22656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Yalpi natija → operatsion daromad/xarajatlar → asosiy faoliyat natijasi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" y="308152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09524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306324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Moliyaviy faoliyat natijalari va soliqlar → sof foyda yoki zarar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58368" y="395020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96392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393192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Tahlilning maqsadi faqat natijani emas, uning shakllanish sabablarini ham aniqlashdir.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Xususiy kapital to‘g‘risidagi hisobot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134416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5788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132588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Korxona xususiy kapitalining tarkibi va harakatini ko‘rsatadi.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" y="221284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22656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Hisobot davrida kapitalning ko‘payishi yoki kamayishi sabablari aniqlanadi.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" y="308152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09524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306324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Mulkdorlar uchun korxonaning o‘z mablag‘lari dinamikasini baholash imkonini beradi.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58368" y="395020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96392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393192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Kitobdagi “o‘z mablag‘lari (kapitali) to‘g‘risidagi hisobot” mazmuni bilan uyg‘un.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Pul oqimlari to‘g‘risidagi hisobot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134416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5788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132588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Pul mablag‘larining kirimi va chiqimini tizimli ko‘rsatadi.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" y="221284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22656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Korxona foyda ko‘rsatayotgan bo‘lsa ham, pul oqimi yetishmasligi mumkin — shu sababli alohida tahlil zarur.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" y="308152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09524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306324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Pul oqimlari faoliyat yo‘nalishlari bo‘yicha tahlil qilinadi.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58368" y="395020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96392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393192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Likvidlik va to‘lov qobiliyatini baholashda muhim manba hisoblanadi.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Moliyaviy hisobotga izohlar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93268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Amaldagi 2024-yilgi Nizom bo‘yicha yangilangan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58368" y="134416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35788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" y="132588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Amaldagi tizimda moliyaviy hisobotga izohlar, hisob-kitoblar va tushuntirishlar ham tarkibiy qism hisoblanadi.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58368" y="221284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22656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219456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Ular raqamlarning mazmunini chuqurroq tushuntiradi.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58368" y="308152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309524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306324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Hisob siyosati, muhim baholashlar va qo‘shimcha ma’lumotlar foydalanuvchining to‘g‘ri xulosa chiqarishiga yordam beradi.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Kitobdagi 2a-shakl: debitorlik va kreditorlik qarzlari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134416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5788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132588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Xoliqulov ushbu ma’lumotnomani turistik korxona uchun muhim tahliliy manba sifatida ko‘rsatadi.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" y="221284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22656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Debitorlik qarzi — korxona olishi kerak bo‘lgan mablag‘lar.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" y="308152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09524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306324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Kreditorlik qarzi — korxonaning boshqa subyektlar oldidagi qarzlari.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58368" y="395020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96392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393192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Muddati o‘tgan qarzlar aylanma mablag‘lar va to‘lov qobiliyatiga salbiy ta’sir qiladi.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Asosiy vositalar to‘g‘risidagi ma’lumotlardan foydalanish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134416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5788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132588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Asosiy vositalarning davr boshidagi va oxiridagi holatini baholash.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" y="221284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22656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Sotib olingan, ishga tushirilgan, sotilgan yoki hisobdan chiqarilgan obyektlarni ko‘rish.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" y="308152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09524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306324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Eskirish va yaroqlilik darajasini tahlil qilish.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58368" y="395020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96392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393192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Turistik korxonaning moddiy-texnik bazasi holatini baholash.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Moliyaviy hisobotlardan rahbar nimani biladi?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134416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5788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132588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Mablag‘lar hajmi va ularning shakllanish manbalari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" y="221284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22656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Uzoq muddatli va joriy aktivlar tarkibi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" y="308152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09524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306324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O‘z kapitali va majburiyatlar ulushi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58368" y="395020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96392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393192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Debitor va kreditor qarzlar holati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58368" y="481888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483260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97280" y="480060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Likvidlik, moliyaviy barqarorlik va rentabellik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Moliyaviy hisobotni iqtisodiy o‘qish algoritmi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77240" y="2011680"/>
            <a:ext cx="1960474" cy="1371600"/>
          </a:xfrm>
          <a:prstGeom prst="roundRect">
            <a:avLst>
              <a:gd name="adj" fmla="val 5333"/>
            </a:avLst>
          </a:prstGeom>
          <a:solidFill>
            <a:srgbClr val="F3F8EE"/>
          </a:solidFill>
          <a:ln w="15240">
            <a:solidFill>
              <a:srgbClr val="70AD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139696"/>
            <a:ext cx="347472" cy="347472"/>
          </a:xfrm>
          <a:prstGeom prst="rect">
            <a:avLst/>
          </a:prstGeom>
          <a:solidFill>
            <a:srgbClr val="70AD47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578608"/>
            <a:ext cx="168615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Balansni ko‘rish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756002" y="2496312"/>
            <a:ext cx="164592" cy="411480"/>
          </a:xfrm>
          <a:prstGeom prst="chevron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38882" y="2011680"/>
            <a:ext cx="1960474" cy="1371600"/>
          </a:xfrm>
          <a:prstGeom prst="roundRect">
            <a:avLst>
              <a:gd name="adj" fmla="val 5333"/>
            </a:avLst>
          </a:prstGeom>
          <a:solidFill>
            <a:srgbClr val="EAF2F8"/>
          </a:solidFill>
          <a:ln w="15240">
            <a:solidFill>
              <a:srgbClr val="2F75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76042" y="2139696"/>
            <a:ext cx="347472" cy="347472"/>
          </a:xfrm>
          <a:prstGeom prst="rect">
            <a:avLst/>
          </a:prstGeom>
          <a:solidFill>
            <a:srgbClr val="2F75B5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76042" y="2578608"/>
            <a:ext cx="168615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Natijalarni baholash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917643" y="2496312"/>
            <a:ext cx="164592" cy="411480"/>
          </a:xfrm>
          <a:prstGeom prst="chevron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0523" y="2011680"/>
            <a:ext cx="1960474" cy="1371600"/>
          </a:xfrm>
          <a:prstGeom prst="roundRect">
            <a:avLst>
              <a:gd name="adj" fmla="val 5333"/>
            </a:avLst>
          </a:prstGeom>
          <a:solidFill>
            <a:srgbClr val="F3F8EE"/>
          </a:solidFill>
          <a:ln w="15240">
            <a:solidFill>
              <a:srgbClr val="70AD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37683" y="2139696"/>
            <a:ext cx="347472" cy="347472"/>
          </a:xfrm>
          <a:prstGeom prst="rect">
            <a:avLst/>
          </a:prstGeom>
          <a:solidFill>
            <a:srgbClr val="70AD47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37683" y="2578608"/>
            <a:ext cx="168615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Pul oqimini tekshirish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079285" y="2496312"/>
            <a:ext cx="164592" cy="411480"/>
          </a:xfrm>
          <a:prstGeom prst="chevron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62165" y="2011680"/>
            <a:ext cx="1960474" cy="1371600"/>
          </a:xfrm>
          <a:prstGeom prst="roundRect">
            <a:avLst>
              <a:gd name="adj" fmla="val 5333"/>
            </a:avLst>
          </a:prstGeom>
          <a:solidFill>
            <a:srgbClr val="EAF2F8"/>
          </a:solidFill>
          <a:ln w="15240">
            <a:solidFill>
              <a:srgbClr val="2F75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99325" y="2139696"/>
            <a:ext cx="347472" cy="347472"/>
          </a:xfrm>
          <a:prstGeom prst="rect">
            <a:avLst/>
          </a:prstGeom>
          <a:solidFill>
            <a:srgbClr val="2F75B5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99325" y="2578608"/>
            <a:ext cx="168615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Kapital o‘zgarishini tahlil qilish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9240926" y="2496312"/>
            <a:ext cx="164592" cy="411480"/>
          </a:xfrm>
          <a:prstGeom prst="chevron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23806" y="2011680"/>
            <a:ext cx="1960474" cy="1371600"/>
          </a:xfrm>
          <a:prstGeom prst="roundRect">
            <a:avLst>
              <a:gd name="adj" fmla="val 5333"/>
            </a:avLst>
          </a:prstGeom>
          <a:solidFill>
            <a:srgbClr val="F3F8EE"/>
          </a:solidFill>
          <a:ln w="15240">
            <a:solidFill>
              <a:srgbClr val="70AD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60966" y="2139696"/>
            <a:ext cx="347472" cy="347472"/>
          </a:xfrm>
          <a:prstGeom prst="rect">
            <a:avLst/>
          </a:prstGeom>
          <a:solidFill>
            <a:srgbClr val="70AD47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560966" y="2578608"/>
            <a:ext cx="168615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Umumiy xulosa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Hisobot shakllari o‘zaro bog‘langan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134416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5788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132588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Balans korxonaning moliyaviy holatini “bir sanadagi surat” sifatida ko‘rsatadi.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" y="221284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22656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Moliyaviy natijalar hisoboti davr davomida foyda yoki zarar qanday shakllanganini ko‘rsatadi.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" y="308152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09524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306324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Pul oqimlari hisoboti foyda bilan real pul harakati o‘rtasidagi farqni tushuntiradi.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58368" y="395020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96392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393192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Xususiy kapital hisoboti mulkdor kapitalidagi o‘zgarishlarni ko‘rsatadi.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58368" y="481888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483260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97280" y="480060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Tahlil to‘liq bo‘lishi uchun shakllar birgalikda o‘rganiladi.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Foydalanuvchi va unga kerak bo‘lgan axborot</a:t>
            </a:r>
            <a:endParaRPr lang="en-US" sz="25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927080" cy="4526280"/>
        </p:xfrm>
        <a:graphic>
          <a:graphicData uri="http://schemas.openxmlformats.org/drawingml/2006/table">
            <a:tbl>
              <a:tblPr/>
              <a:tblGrid>
                <a:gridCol w="2468880"/>
                <a:gridCol w="3931920"/>
                <a:gridCol w="45262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Foydalanuvchi</a:t>
                      </a:r>
                      <a:endParaRPr lang="en-US" sz="13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Asosiy qiziqish</a:t>
                      </a:r>
                      <a:endParaRPr lang="en-US" sz="13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Ko‘proq foydalanadigan hisobot</a:t>
                      </a:r>
                      <a:endParaRPr lang="en-US" sz="13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Rahbar</a:t>
                      </a:r>
                      <a:endParaRPr lang="en-US" sz="13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Samaradorlik, likvidlik, qarzlar, foyda</a:t>
                      </a:r>
                      <a:endParaRPr lang="en-US" sz="13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Barcha shakllar</a:t>
                      </a:r>
                      <a:endParaRPr lang="en-US" sz="13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Mulkdor/investor</a:t>
                      </a:r>
                      <a:endParaRPr lang="en-US" sz="13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Kapital rentabelligi, foyda, barqarorlik</a:t>
                      </a:r>
                      <a:endParaRPr lang="en-US" sz="13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Balans, natijalar, kapital</a:t>
                      </a:r>
                      <a:endParaRPr lang="en-US" sz="13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Kreditor/bank</a:t>
                      </a:r>
                      <a:endParaRPr lang="en-US" sz="13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To‘lov qobiliyati va qarz yuki</a:t>
                      </a:r>
                      <a:endParaRPr lang="en-US" sz="13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Balans, pul oqimlari</a:t>
                      </a:r>
                      <a:endParaRPr lang="en-US" sz="13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Davlat organlari</a:t>
                      </a:r>
                      <a:endParaRPr lang="en-US" sz="13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Hisobot intizomi va soliq bazasi</a:t>
                      </a:r>
                      <a:endParaRPr lang="en-US" sz="13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Moliyaviy hisobotlar va tegishli ma’lumotlar</a:t>
                      </a:r>
                      <a:endParaRPr lang="en-US" sz="13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0080" y="1417320"/>
            <a:ext cx="10927080" cy="566928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1554480"/>
            <a:ext cx="3642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Foydalanuvchi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282440" y="1554480"/>
            <a:ext cx="3642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Asosiy qiziqish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924800" y="1554480"/>
            <a:ext cx="3642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Ko‘proq foydalanadigan hisobot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Mikrofirmalar va kichik korxonalar uchun soddalashtirish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93268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2025-yildan amaldagi tartib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58368" y="134416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35788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" y="132588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Amaldagi Nizomga ko‘ra, mikrofirmalar va kichik korxonalar yillik moliyaviy hisobot sifatida buxgalteriya balansi va moliyaviy natijalar to‘g‘risidagi hisobotni taqdim etadi.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58368" y="221284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22656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219456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Bu yondashuv kichik biznesning hisobot yukini soddalashtiradi.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58368" y="308152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309524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306324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Biroq ichki boshqaruv uchun qo‘shimcha tahliliy ma’lumotlarni yuritish amaliy jihatdan foydali bo‘lib qoladi.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Yillik hisobotni taqdim etish muddati — yangilangan ma’lumot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93268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Manba: O‘zR Iqtisodiyot va moliya vazirining 181-son buyrug‘i, ro‘yxat №3567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58368" y="134416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35788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" y="132588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BHMS asosida tuzilgan yillik moliyaviy hisobot hisobot yilidan keyingi yilning 1-martidan kechiktirmay taqdim etiladi.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58368" y="221284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22656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219456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MHXS asosida tuzilgan yillik moliyaviy hisobot esa 1-maydan kechiktirmay taqdim etiladi.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58368" y="308152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309524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306324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Bu ma’lumot Xoliqulov kitobidagi eski normativ havolalarni amaldagi tartib bilan to‘ldiradi.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Axborot sifati — tahlil sifati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134416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5788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132588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Noto‘g‘ri yoki kechikkan axborot noto‘g‘ri boshqaruv qaroriga olib kelishi mumkin.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" y="221284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22656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Ishonchlilik, to‘liqlik, o‘z vaqtida taqdim etish va taqqoslanuvchanlik — amaliy tahlilning asosiy talablari.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" y="308152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09524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306324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Moliyaviy hisobotni shunchaki topshirish emas, undan boshqaruv vositasi sifatida foydalanish muhim.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Turistik korxona uchun amaliy misol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93268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Didaktik misol — kitobdagi yondashuv asosida tuzilgan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58368" y="134416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35788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" y="132588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Turpaketlar sotilishi oshgan, ammo debitorlik qarzi ham keskin ko‘paygan.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58368" y="221284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22656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219456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Moliyaviy natijalar hisoboti foyda o‘sishini ko‘rsatishi mumkin.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58368" y="308152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309524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306324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Balans debitorlik qarzi ko‘payganini, pul oqimlari hisoboti esa real pul tushumi yetarli emasligini ko‘rsatishi mumkin.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58368" y="395020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96392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97280" y="393192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Demak, bitta hisobotga qarab xulosa qilish yetarli emas.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Tahliliy xulosa qanday shakllanadi?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134416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5788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132588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Hisobot raqamlari tekshiriladi.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" y="221284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22656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Davrlar va reja ko‘rsatkichlari bilan taqqoslanadi.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" y="308152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09524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306324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Ijobiy va salbiy o‘zgarishlar aniqlanadi.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58368" y="395020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96392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393192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O‘zgarish sabablari topiladi.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58368" y="481888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483260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97280" y="480060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Aniq boshqaruv choralari ishlab chiqiladi.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Mavzu bo‘yicha tayanch iboralar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134416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5788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132588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Moliyaviy hisobot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" y="221284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22656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Statistik hisobot va tezkor hisobot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" y="308152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09524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306324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Buxgalteriya balansi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58368" y="395020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96392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393192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Moliyaviy natijalar to‘g‘risidagi hisobot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58368" y="481888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483260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97280" y="480060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Pul oqimlari va xususiy kapital to‘g‘risidagi hisobot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Nazorat savollari — 1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134416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5788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132588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Iqtisodiy tahlilda qo‘llaniladigan axborot ta’minoti qanday guruhlarga bo‘linadi?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" y="221284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22656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Hisoblanadigan axborotlarga nimalar kiradi?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" y="308152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09524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306324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Hisoblanmaydigan axborotlar deganda nima tushuniladi?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58368" y="395020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96392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393192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Ochiq va yopiq axborotlar o‘rtasidagi farq nimada?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Nazorat savollari — 2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134416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5788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132588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Moliyaviy hisobotning asosiy shakllari qaysilar?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" y="221284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22656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Buxgalteriya balansi nimani aks ettiradi?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" y="308152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09524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306324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Moliyaviy natijalar to‘g‘risidagi hisobotda qanday ko‘rsatkichlar yoritiladi?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58368" y="395020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96392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393192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Pul oqimlari hisoboti rahbar uchun nima sababdan muhim?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58368" y="481888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483260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97280" y="480060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Moliyaviy hisobotni tekshirishning asosiy bosqichlarini ayting.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Amaliy topshiriq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134416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5788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132588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Bir turistik firma uchun axborot manbalarini “hisoblanadigan” va “hisoblanmaydigan” guruhlarga ajrating.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" y="221284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22656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Rahbar sifatida qaysi moliyaviy hisobot shakliga birinchi bo‘lib qarashingizni va sababini izohlang.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" y="308152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09524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306324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Foyda oshgan, ammo pul mablag‘i kamaygan holat uchun kamida uchta ehtimoliy sabab yozing.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58368" y="395020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96392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393192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Qaysi axborotlar tijorat siri sifatida himoyalanishi kerakligini muhokama qiling.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Mavzuning asosiy xulosalari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134416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5788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132588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Turistik korxonani sifatli tahlil qilish ishonchli axborotga bog‘liq.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" y="221284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22656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Moliyaviy hisobot tahlilning markaziy manbai, ammo yagona manba emas.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" y="308152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09524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306324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Hisob shakllari o‘zaro bog‘liq va kompleks o‘rganilgandagina to‘liq xulosa beradi.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58368" y="395020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96392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393192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Rahbar hisobotni nafaqat imzolashi, balki uning iqtisodiy mazmunini tushunishi kerak.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58368" y="481888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483260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97280" y="480060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Amaldagi BHMS talablari bilan ishlash eski normativ havolalarni yangilab borishni talab qiladi.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Foydalanilgan manbalar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134416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5788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132588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Xoliqulov A.N. Turistik korxonalar faoliyati tahlili. O‘quv qo‘llanma. Samarqand, 2024. 75–80-betlar.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" y="221284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22656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O‘zbekiston Respublikasi “Buxgalteriya hisobi to‘g‘risida”gi Qonuni (O‘RQ-404).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" y="308152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09524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306324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1-son BHMS “Moliyaviy hisobotni taqdim etish va hisob siyosati” (ro‘yxat №3544, 06.08.2024).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58368" y="395020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96392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</a:rPr>
              <a:t>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3931920"/>
            <a:ext cx="10287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“Moliyaviy hisobotlarni taqdim etish muddatlari hamda ularning tarkibi va mazmuni to‘g‘risida”gi Nizom (ro‘yxat №3567, 04.11.2024).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Turistik korxonalarning moliyaviy hisobotlari va ularning tavsifi</dc:title>
  <dc:subject>Turistik korxonalar faoliyati tahlili - 3-mavzu</dc:subject>
  <dc:creator>OpenAI</dc:creator>
  <cp:lastModifiedBy>OpenAI</cp:lastModifiedBy>
  <cp:revision>1</cp:revision>
  <dcterms:created xsi:type="dcterms:W3CDTF">2026-09-14T17:43:44Z</dcterms:created>
  <dcterms:modified xsi:type="dcterms:W3CDTF">2026-09-14T17:43:44Z</dcterms:modified>
</cp:coreProperties>
</file>