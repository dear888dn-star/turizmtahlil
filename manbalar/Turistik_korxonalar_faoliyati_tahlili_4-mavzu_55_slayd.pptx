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4C6E"/>
          </a:solidFill>
          <a:ln w="12700">
            <a:solidFill>
              <a:srgbClr val="0F4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565392"/>
            <a:ext cx="11384280" cy="0"/>
          </a:xfrm>
          <a:prstGeom prst="line">
            <a:avLst/>
          </a:prstGeom>
          <a:noFill/>
          <a:ln w="12700">
            <a:solidFill>
              <a:srgbClr val="D7E0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658368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A.N. Xoliqulov, “Turistik korxonalar faoliyati tahlili”, 2024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652760" y="65836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4-mavzu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40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D5E4"/>
                </a:solidFill>
              </a:rPr>
              <a:t>4-MAVZU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1325880"/>
            <a:ext cx="10241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TURISTIK KORXONALAR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BUXGALTERIYA BALANSI VA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BOSHQA HISOBOTLAR BILAN BOG‘LIQLIGI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53492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6ED"/>
                </a:solidFill>
              </a:rPr>
              <a:t>Asosiy manba: A.N. Xoliqulov, “Turistik korxonalar faoliyati tahlili”, 2024, 81–99-betlar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173F58"/>
          </a:solidFill>
          <a:ln w="12700">
            <a:solidFill>
              <a:srgbClr val="173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DDEAF0"/>
                </a:solidFill>
              </a:rPr>
              <a:t>Buxgalteriya balansi • aktiv va passiv • o‘zaro bog‘liqlik • tahlilga tayyorlash</a:t>
            </a:r>
            <a:endParaRPr lang="en-US" sz="11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Mavzuning tuzilishi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4.1. Buxgalteriya balansi: turlari, tarkibi va tavsifi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4.2. Balans moddalarining bir-biri bilan bog‘liqligi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4.3. Balans va moliyaviy hisobotning boshqa shakllari o‘rtasidagi bog‘liqlik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4.4. Balansni tahlilga tayyorlash va uning aniqligini tekshirish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Mavzuni o‘rganish natijasida talaba…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Buxgalteriya balansining iqtisodiy mazmunini tushuntira oladi.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Balans turlarini tasniflaydi va aktiv hamda passiv tarkibini izohlaydi.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Balans bo‘limlari o‘rtasidagi asosiy tenglik va nisbatlarni tekshiradi.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Balansni boshqa moliyaviy hisobotlar bilan solishtirib nazorat qiladi.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58368" y="458114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57200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24128" y="455371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Balansni iqtisodiy tahlil uchun tayyorlash bosqichlarini bajaradi.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Turistik korxona uchun balans nima beradi?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13232" y="1298448"/>
            <a:ext cx="10789920" cy="100584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A6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7276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6E"/>
                </a:solidFill>
              </a:rPr>
              <a:t>Balans — korxonaning muayyan sanadagi moliyaviy “surati”.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87552" y="278892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3312" y="2788920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Korxona ixtiyoridagi mablag‘lar miqdori va ularning joylashishini ko‘rsatadi.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359359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53312" y="3593592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Mablag‘larning qaysi manbalar hisobidan shakllanganini aniqlashga yordam beradi.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439826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3312" y="4398264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Rahbarga likvidlik, moliyaviy barqarorlik va qarz yukini dastlabki baholash imkonini beradi.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520293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53312" y="5202936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Keyingi iqtisodiy tahlil uchun asosiy axborot bazasi vazifasini bajaradi.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“Balans” tushunchasi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965960" y="1417320"/>
            <a:ext cx="8275320" cy="1051560"/>
          </a:xfrm>
          <a:prstGeom prst="roundRect">
            <a:avLst/>
          </a:prstGeom>
          <a:solidFill>
            <a:srgbClr val="E9F3F8"/>
          </a:solidFill>
          <a:ln w="15240">
            <a:solidFill>
              <a:srgbClr val="8BB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48840" y="1700784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4C6E"/>
                </a:solidFill>
              </a:rPr>
              <a:t>AKTIV = PASSIV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60120" y="2980944"/>
            <a:ext cx="164592" cy="164592"/>
          </a:xfrm>
          <a:prstGeom prst="ellipse">
            <a:avLst/>
          </a:prstGeom>
          <a:solidFill>
            <a:srgbClr val="0F4C6E"/>
          </a:solidFill>
          <a:ln w="12700">
            <a:solidFill>
              <a:srgbClr val="0F4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907792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“Balans” atamasi tenglik va muvozanat mazmunini anglatadi.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3785616"/>
            <a:ext cx="164592" cy="164592"/>
          </a:xfrm>
          <a:prstGeom prst="ellipse">
            <a:avLst/>
          </a:prstGeom>
          <a:solidFill>
            <a:srgbClr val="7AA35A"/>
          </a:solidFill>
          <a:ln w="12700">
            <a:solidFill>
              <a:srgbClr val="7AA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3712464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Aktivda mablag‘larning tarkibi va joylashuvi, passivda esa ularning manbalari aks etadi.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4590288"/>
            <a:ext cx="164592" cy="164592"/>
          </a:xfrm>
          <a:prstGeom prst="ellipse">
            <a:avLst/>
          </a:prstGeom>
          <a:solidFill>
            <a:srgbClr val="0F4C6E"/>
          </a:solidFill>
          <a:ln w="12700">
            <a:solidFill>
              <a:srgbClr val="0F4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4517136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Bir xil xo‘jalik mablag‘lari ikki tomondan: nima ko‘rinishda va qaysi manbadan ekanligi bo‘yicha ifodalanadi.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Buxgalteriya balansining tasniflanish belgilari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2286000"/>
            <a:ext cx="2044598" cy="14173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7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2414016"/>
            <a:ext cx="384048" cy="384048"/>
          </a:xfrm>
          <a:prstGeom prst="rect">
            <a:avLst/>
          </a:prstGeom>
          <a:solidFill>
            <a:srgbClr val="0F4C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852928"/>
            <a:ext cx="171541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A"/>
                </a:solidFill>
              </a:rPr>
              <a:t>Tuzilish vaqti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12110" y="276148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4C6E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867558" y="2286000"/>
            <a:ext cx="2044598" cy="1417320"/>
          </a:xfrm>
          <a:prstGeom prst="roundRect">
            <a:avLst/>
          </a:prstGeom>
          <a:solidFill>
            <a:srgbClr val="EEF5FA"/>
          </a:solidFill>
          <a:ln w="12700">
            <a:solidFill>
              <a:srgbClr val="AFC7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7286" y="2414016"/>
            <a:ext cx="384048" cy="384048"/>
          </a:xfrm>
          <a:prstGeom prst="rect">
            <a:avLst/>
          </a:prstGeom>
          <a:solidFill>
            <a:srgbClr val="0F4C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32150" y="2852928"/>
            <a:ext cx="171541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A"/>
                </a:solidFill>
              </a:rPr>
              <a:t>Axborot hajmi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21301" y="276148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4C6E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076749" y="2286000"/>
            <a:ext cx="2044598" cy="14173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7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86477" y="2414016"/>
            <a:ext cx="384048" cy="384048"/>
          </a:xfrm>
          <a:prstGeom prst="rect">
            <a:avLst/>
          </a:prstGeom>
          <a:solidFill>
            <a:srgbClr val="0F4C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41341" y="2852928"/>
            <a:ext cx="171541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A"/>
                </a:solidFill>
              </a:rPr>
              <a:t>Mulkchilik shakli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0491" y="276148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4C6E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285939" y="2286000"/>
            <a:ext cx="2044598" cy="1417320"/>
          </a:xfrm>
          <a:prstGeom prst="roundRect">
            <a:avLst/>
          </a:prstGeom>
          <a:solidFill>
            <a:srgbClr val="EEF5FA"/>
          </a:solidFill>
          <a:ln w="12700">
            <a:solidFill>
              <a:srgbClr val="AFC7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95667" y="2414016"/>
            <a:ext cx="384048" cy="384048"/>
          </a:xfrm>
          <a:prstGeom prst="rect">
            <a:avLst/>
          </a:prstGeom>
          <a:solidFill>
            <a:srgbClr val="0F4C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50531" y="2852928"/>
            <a:ext cx="171541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A"/>
                </a:solidFill>
              </a:rPr>
              <a:t>Aks ettirish obyekti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39682" y="276148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4C6E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495130" y="2286000"/>
            <a:ext cx="2044598" cy="14173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7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4858" y="2414016"/>
            <a:ext cx="384048" cy="384048"/>
          </a:xfrm>
          <a:prstGeom prst="rect">
            <a:avLst/>
          </a:prstGeom>
          <a:solidFill>
            <a:srgbClr val="0F4C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59722" y="2852928"/>
            <a:ext cx="171541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A"/>
                </a:solidFill>
              </a:rPr>
              <a:t>Tozalash usuli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Tuzilish vaqtiga ko‘ra balans turlari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Kirish balansi — korxona faoliyati boshlanganda tuziladi.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Joriy balans — korxona faoliyati davomida belgilangan muddatlarda tuziladi.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Tugatish balansi — korxona faoliyati tugatilganda tuziladi.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Bo‘lish balansi — yirik korxona bo‘linayotganda yoki tarkibiy bo‘linma boshqa subyektga berilganda tuziladi.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58368" y="458114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57200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24128" y="455371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Birlashtirish balansi — bir necha korxona qo‘shilganda tuziladi.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Kirish balansi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13232" y="1298448"/>
            <a:ext cx="10789920" cy="100584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A6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7276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6E"/>
                </a:solidFill>
              </a:rPr>
              <a:t>Korxonaning boshlang‘ich moliyaviy holatini qayd etadi.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87552" y="278892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3312" y="2788920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Faoliyat boshlanish vaqtidagi mavjud boyliklar ko‘rsatiladi.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359359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53312" y="3593592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Ustav kapitali va dastlabki aktivlar asosiy o‘rin tutadi.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439826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3312" y="4398264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Keyingi joriy balanslar uchun boshlang‘ich nuqta vazifasini bajaradi.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Joriy balans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13232" y="1298448"/>
            <a:ext cx="10789920" cy="100584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A6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7276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6E"/>
                </a:solidFill>
              </a:rPr>
              <a:t>Turistik firma faoliyatining amaldagi moliyaviy holatini ifodalaydi.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87552" y="278892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3312" y="2788920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Hisobot davri davomida belgilangan muddatlarda tuziladi.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359359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53312" y="3593592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Aktivlar, xususiy kapital va majburiyatlar dinamikasini kuzatish imkonini beradi.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439826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3312" y="4398264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Rahbar va tahlilchilar uchun eng ko‘p foydalaniladigan balans turidir.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Tugatish, bo‘lish va birlashtirish balanslari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394960" cy="4526280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B8D1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72200" y="1234440"/>
            <a:ext cx="5394960" cy="4526280"/>
          </a:xfrm>
          <a:prstGeom prst="roundRect">
            <a:avLst/>
          </a:prstGeom>
          <a:solidFill>
            <a:srgbClr val="F7FBF3"/>
          </a:solidFill>
          <a:ln w="12700">
            <a:solidFill>
              <a:srgbClr val="C8D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81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Tugatish / bo‘lish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46520" y="1481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Birlashtirish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751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6E"/>
                </a:solidFill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70432" y="197510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Faoliyat yakunlanganda — tugatish balansi.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7249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6E"/>
                </a:solidFill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70432" y="272491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Yirik korxona bo‘linganda — bo‘lish balansi.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6E"/>
                </a:solidFill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70432" y="34747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Tarkibiy bo‘linma boshqa korxonaga berilganda ham bo‘lish (berish) balansi tuziladi.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19751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7C43"/>
                </a:solidFill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02552" y="197510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Bir necha turistik korxona bitta subyektga qo‘shilganda tuziladi.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7249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7C43"/>
                </a:solidFill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702552" y="272491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Mablag‘lar va manbalar yangi tuzilma bo‘yicha umumlashtiriladi.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3474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7C43"/>
                </a:solidFill>
              </a:rPr>
              <a:t>•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02552" y="34747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Qayta tashkil etish jarayonida nazorat vositasi bo‘lib xizmat qiladi.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Axborot hajmiga ko‘ra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Bir martalik (yakka) balans — faqat bitta turistik firma bo‘yicha joriy hisob ma’lumotlari asosida tuziladi.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Yig‘ma balans — bir nechta yakka balanslar ma’lumotlarini umumlashtiradi.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Yig‘ma balans kompaniya, birlashma yoki boshqa yirik tuzilma miqyosidagi holatni ko‘rsatishi mumkin.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Mulkchilik shakliga ko‘ra balanslar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Davlat korxonalari balansi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Korporativ korxonalar balansi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Xususiy korxonalar balansi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Aralash va qo‘shma korxonalar balansi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58368" y="458114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57200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24128" y="455371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Jamoat tashkilotlari balansi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Aks ettirish obyektiga ko‘ra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394960" cy="4526280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B8D1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72200" y="1234440"/>
            <a:ext cx="5394960" cy="4526280"/>
          </a:xfrm>
          <a:prstGeom prst="roundRect">
            <a:avLst/>
          </a:prstGeom>
          <a:solidFill>
            <a:srgbClr val="F7FBF3"/>
          </a:solidFill>
          <a:ln w="12700">
            <a:solidFill>
              <a:srgbClr val="C8D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81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Mustaqil balans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46520" y="1481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Alohida balans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751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6E"/>
                </a:solidFill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70432" y="197510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Huquqiy shaxs maqomiga ega korxona tuzadi.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7249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6E"/>
                </a:solidFill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70432" y="272491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Butun korxonaning mablag‘lari va manbalarini qamrab oladi.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9751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7C43"/>
                </a:solidFill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02552" y="197510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Korxonaning tarkibiy bo‘linmalari tuzishi mumkin.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7249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7C43"/>
                </a:solidFill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02552" y="272491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Filial, bo‘lim va boshqa segmentlar faoliyatini alohida aks ettiradi.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Tozalash usuliga ko‘ra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394960" cy="4526280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B8D1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72200" y="1234440"/>
            <a:ext cx="5394960" cy="4526280"/>
          </a:xfrm>
          <a:prstGeom prst="roundRect">
            <a:avLst/>
          </a:prstGeom>
          <a:solidFill>
            <a:srgbClr val="F7FBF3"/>
          </a:solidFill>
          <a:ln w="12700">
            <a:solidFill>
              <a:srgbClr val="C8D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81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Balans-brutto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46520" y="1481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Balans-netto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751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6E"/>
                </a:solidFill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70432" y="197510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Tartibga soluvchi moddalar umumiy yakun tarkibida aks etadi.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7249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6E"/>
                </a:solidFill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70432" y="272491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Masalan, dastlabki qiymat va eskirish alohida ko‘rsatiladi.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6E"/>
                </a:solidFill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70432" y="34747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Tarixiy hisob amaliyotida keng qo‘llangan.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19751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7C43"/>
                </a:solidFill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02552" y="197510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Tartibga soluvchi moddalardan “tozalangan” ko‘rinish.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7249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7C43"/>
                </a:solidFill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702552" y="272491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Aktivlar ko‘proq qoldiq yoki sof qiymatda aks ettiriladi.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3474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7C43"/>
                </a:solidFill>
              </a:rPr>
              <a:t>•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02552" y="34747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Tahlil uchun aniqroq va ixcham ko‘rinish beradi.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Buxgalteriya balansiga qo‘yiladigan asosiy talablar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To‘g‘rilik — har bir modda hujjatlar va hisob yozuvlari bilan tasdiqlangan bo‘lishi kerak.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Reallik — baholar va qoldiqlar amaldagi iqtisodiy holatni aks ettirishi zarur.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Yaxlitlik — bir xil hisob tamoyillari va yagona yondashuv qo‘llanadi.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Davomiylik — keyingi davr boshlang‘ich ma’lumotlari oldingi davr yakunidan kelib chiqadi.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58368" y="458114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57200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24128" y="455371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Tushunarlilik — balans foydalanuvchi uchun aniq va o‘qish qulay bo‘lishi lozim.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“To‘g‘rilik” va “reallik” bir xil emas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394960" cy="4526280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B8D1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72200" y="1234440"/>
            <a:ext cx="5394960" cy="4526280"/>
          </a:xfrm>
          <a:prstGeom prst="roundRect">
            <a:avLst/>
          </a:prstGeom>
          <a:solidFill>
            <a:srgbClr val="F7FBF3"/>
          </a:solidFill>
          <a:ln w="12700">
            <a:solidFill>
              <a:srgbClr val="C8D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81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To‘g‘rilik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46520" y="1481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Reallik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751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6E"/>
                </a:solidFill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70432" y="197510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Ma’lumotlar hujjatlar va buxgalteriya yozuvlariga mos.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7249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6E"/>
                </a:solidFill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70432" y="272491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Hisob-kitoblar texnik jihatdan xatosiz.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6E"/>
                </a:solidFill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70432" y="34747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Barcha operatsiyalar o‘z vaqtida rasmiylashtirilgan.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19751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7C43"/>
                </a:solidFill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02552" y="197510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Balansdagi baho iqtisodiy haqiqatga mos.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7249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7C43"/>
                </a:solidFill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702552" y="272491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Ma’naviy eskirgan aktivlar va undirilmaydigan debitor qarzlar real holatni buzmasligi kerak.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3474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7C43"/>
                </a:solidFill>
              </a:rPr>
              <a:t>•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02552" y="34747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To‘g‘ri balans ayrim hollarda nereal baholangan bo‘lishi mumkin.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Balansning davomiyligi va tushunarliligi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Hisobot yilining yil boshidagi qoldiqlari oldingi yil yakuniy qoldiqlariga mos keladi.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Bu tamoyil davrlararo solishtirish imkonini yaratadi.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Balans shakli foydalanuvchi uchun ixcham, tizimli va tushunarli bo‘lishi kerak.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Rahbar balansni tuzish texnikasini bilmasa ham, uning iqtisodiy mazmunini o‘qiy olishi zarur.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Balansning uch asosiy elementi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965960" y="1417320"/>
            <a:ext cx="8275320" cy="1051560"/>
          </a:xfrm>
          <a:prstGeom prst="roundRect">
            <a:avLst/>
          </a:prstGeom>
          <a:solidFill>
            <a:srgbClr val="E9F3F8"/>
          </a:solidFill>
          <a:ln w="15240">
            <a:solidFill>
              <a:srgbClr val="8BB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48840" y="1700784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4C6E"/>
                </a:solidFill>
              </a:rPr>
              <a:t>AKTIVLAR = XUSUSIY KAPITAL + MAJBURIYATLAR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60120" y="2980944"/>
            <a:ext cx="164592" cy="164592"/>
          </a:xfrm>
          <a:prstGeom prst="ellipse">
            <a:avLst/>
          </a:prstGeom>
          <a:solidFill>
            <a:srgbClr val="0F4C6E"/>
          </a:solidFill>
          <a:ln w="12700">
            <a:solidFill>
              <a:srgbClr val="0F4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907792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Aktivlar — korxona egalik qiladigan yoki nazorat qiladigan iqtisodiy resurslar.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3785616"/>
            <a:ext cx="164592" cy="164592"/>
          </a:xfrm>
          <a:prstGeom prst="ellipse">
            <a:avLst/>
          </a:prstGeom>
          <a:solidFill>
            <a:srgbClr val="7AA35A"/>
          </a:solidFill>
          <a:ln w="12700">
            <a:solidFill>
              <a:srgbClr val="7AA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3712464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Xususiy kapital — korxona egalariga tegishli mablag‘lar manbai.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4590288"/>
            <a:ext cx="164592" cy="164592"/>
          </a:xfrm>
          <a:prstGeom prst="ellipse">
            <a:avLst/>
          </a:prstGeom>
          <a:solidFill>
            <a:srgbClr val="0F4C6E"/>
          </a:solidFill>
          <a:ln w="12700">
            <a:solidFill>
              <a:srgbClr val="0F4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4517136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Majburiyatlar — kelajakda qaytarilishi yoki bajarilishi lozim bo‘lgan qarz va majburiyatlar.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Balansning ikki tomoni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394960" cy="4526280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B8D1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72200" y="1234440"/>
            <a:ext cx="5394960" cy="4526280"/>
          </a:xfrm>
          <a:prstGeom prst="roundRect">
            <a:avLst/>
          </a:prstGeom>
          <a:solidFill>
            <a:srgbClr val="F7FBF3"/>
          </a:solidFill>
          <a:ln w="12700">
            <a:solidFill>
              <a:srgbClr val="C8D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81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AKTIV — mablag‘lar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46520" y="1481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PASSIV — manbalar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751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6E"/>
                </a:solidFill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70432" y="197510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Uzoq muddatli aktivlar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7249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6E"/>
                </a:solidFill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70432" y="272491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Joriy aktivlar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6E"/>
                </a:solidFill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70432" y="34747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Korxona mablag‘larining qayerga joylashtirilganini ko‘rsatadi.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19751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7C43"/>
                </a:solidFill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02552" y="197510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Xususiy kapital / o‘z mablag‘lari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7249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7C43"/>
                </a:solidFill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702552" y="272491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Uzoq va qisqa muddatli majburiyatlar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3474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7C43"/>
                </a:solidFill>
              </a:rPr>
              <a:t>•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02552" y="34747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03A"/>
                </a:solidFill>
              </a:rPr>
              <a:t>Mablag‘lar qaysi manbadan kelganini ko‘rsatadi.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Uzoq muddatli aktivlar tarkibi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Asosiy vositalar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Nomoddiy aktivlar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Uzoq muddatli investitsiyalar va boshqa uzoq muddatli qo‘yilmalar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Ular korxonaning uzoq muddatli faoliyat salohiyatini shakllantiradi.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Joriy aktivlar tarkibi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Pul mablag‘lari va ularning ekvivalentlari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Tovar-moddiy zaxiralar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Debitorlik qarzlari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Hisobot davri ichida pulga aylanishi yoki foydalanilishi kutiladigan boshqa aktivlar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 aktivini o‘qib nimani bilamiz?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Balans sanasida korxona ixtiyorida qanday vositalar mavjudligini.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Mablag‘lar qayerga joylashtirilganini: asosiy vositalar, zaxiralar, debitor qarzlar, pul mablag‘lari va boshqalar.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Mablag‘larning iqtisodiy rolini: uzoq muddatli yoki joriy aktiv ekanligini.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Aktivlar tuzilmasi korxonaning faoliyat modelini va likvidlik imkoniyatini ko‘rsatadi.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 passivini o‘qib nimani bilamiz?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Mablag‘lar qaysi manbadan shakllanganini.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Mablag‘lar korxonaning o‘ziga tegishlimi yoki jalb qilinganmi.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Qarz mablag‘larining uzoq yoki qisqa muddatli ekanligini.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Korxonaning moliyaviy mustaqilligi va qarzga bog‘liqligini dastlabki baholash mumkin.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Kitobdagi balans tuzilmasining soddalashtirilgan ko‘rinishi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783"/>
                </a:solidFill>
              </a:rPr>
              <a:t>Xoliqulov, 4.1-jadval mazmuni asosida.</a:t>
            </a:r>
            <a:endParaRPr lang="en-US" sz="10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25880"/>
          <a:ext cx="11064240" cy="4937760"/>
        </p:xfrm>
        <a:graphic>
          <a:graphicData uri="http://schemas.openxmlformats.org/drawingml/2006/table">
            <a:tbl>
              <a:tblPr/>
              <a:tblGrid>
                <a:gridCol w="2148840"/>
                <a:gridCol w="3383280"/>
                <a:gridCol w="2148840"/>
                <a:gridCol w="3383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AKTIV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Asosiy tarkib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PASSIV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Asosiy tarkib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I. Uzoq muddatli aktivlar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Asosiy vositalar, nomoddiy aktivlar, uzoq muddatli investitsiyalar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I. O‘z mablag‘lari manbalari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Ustav kapitali, rezerv, taqsimlanmagan foyda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II. Joriy aktivlar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Zaxiralar, debitorlar, pul mablag‘lari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II. Majburiyatlar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Uzoq muddatli va joriy majburiyatlar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7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1325880"/>
            <a:ext cx="11064240" cy="411480"/>
          </a:xfrm>
          <a:prstGeom prst="rect">
            <a:avLst/>
          </a:prstGeom>
          <a:solidFill>
            <a:srgbClr val="0F4C6E"/>
          </a:solidFill>
          <a:ln w="12700">
            <a:solidFill>
              <a:srgbClr val="0F4C6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399032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AKTIV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743200" y="139903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Asosiy tarkib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126480" y="1399032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PASSIV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75320" y="139903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Asosiy tarkib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“Shahruh” turistik firmasi misoli — balans yakuni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13232" y="1298448"/>
            <a:ext cx="10789920" cy="100584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A6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7276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6E"/>
                </a:solidFill>
              </a:rPr>
              <a:t>Hisobot yilida balans jami 27 147 ming so‘mdan 29 537 ming so‘mga oshgan.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87552" y="278892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3312" y="2788920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Yil oxirida uzoq muddatli aktivlar — 12 971 ming so‘m.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359359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53312" y="3593592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Joriy aktivlar — 16 566 ming so‘m.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439826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3312" y="4398264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O‘z mablag‘lari — 21 703 ming so‘m.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520293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53312" y="5202936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Majburiyatlar — 7 834 ming so‘m.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59893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7783"/>
                </a:solidFill>
              </a:rPr>
              <a:t>Manba: Xoliqulov, 4.2-jadval.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Misoldagi mablag‘lar manbasi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783"/>
                </a:solidFill>
              </a:rPr>
              <a:t>Xoliqulov, “Shahruh” turistik firmasi misoli.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965960" y="1417320"/>
            <a:ext cx="8275320" cy="1051560"/>
          </a:xfrm>
          <a:prstGeom prst="roundRect">
            <a:avLst/>
          </a:prstGeom>
          <a:solidFill>
            <a:srgbClr val="E9F3F8"/>
          </a:solidFill>
          <a:ln w="15240">
            <a:solidFill>
              <a:srgbClr val="8BB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48840" y="1700784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4C6E"/>
                </a:solidFill>
              </a:rPr>
              <a:t>29 537 = 21 703 + 7 834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60120" y="2980944"/>
            <a:ext cx="164592" cy="164592"/>
          </a:xfrm>
          <a:prstGeom prst="ellipse">
            <a:avLst/>
          </a:prstGeom>
          <a:solidFill>
            <a:srgbClr val="0F4C6E"/>
          </a:solidFill>
          <a:ln w="12700">
            <a:solidFill>
              <a:srgbClr val="0F4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907792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Balans tengligi amalda ham saqlanadi.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3785616"/>
            <a:ext cx="164592" cy="164592"/>
          </a:xfrm>
          <a:prstGeom prst="ellipse">
            <a:avLst/>
          </a:prstGeom>
          <a:solidFill>
            <a:srgbClr val="7AA35A"/>
          </a:solidFill>
          <a:ln w="12700">
            <a:solidFill>
              <a:srgbClr val="7AA3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3712464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O‘z mablag‘lari uzoq muddatli aktivlarni to‘liq qoplaydi.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" y="4590288"/>
            <a:ext cx="164592" cy="164592"/>
          </a:xfrm>
          <a:prstGeom prst="ellipse">
            <a:avLst/>
          </a:prstGeom>
          <a:solidFill>
            <a:srgbClr val="0F4C6E"/>
          </a:solidFill>
          <a:ln w="12700">
            <a:solidFill>
              <a:srgbClr val="0F4C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4517136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O‘z mablag‘larining qolgan qismi joriy aktivlarni moliyalashtirishda ishtirok etadi.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Balansning umumiy ichki bog‘liqligi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965960" y="1417320"/>
            <a:ext cx="8275320" cy="1051560"/>
          </a:xfrm>
          <a:prstGeom prst="roundRect">
            <a:avLst/>
          </a:prstGeom>
          <a:solidFill>
            <a:srgbClr val="E9F3F8"/>
          </a:solidFill>
          <a:ln w="15240">
            <a:solidFill>
              <a:srgbClr val="8BB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48840" y="1700784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4C6E"/>
                </a:solidFill>
              </a:rPr>
              <a:t>R1A + R2A = R1P + R2P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60120" y="2980944"/>
            <a:ext cx="164592" cy="164592"/>
          </a:xfrm>
          <a:prstGeom prst="ellipse">
            <a:avLst/>
          </a:prstGeom>
          <a:solidFill>
            <a:srgbClr val="0F4C6E"/>
          </a:solidFill>
          <a:ln w="12700">
            <a:solidFill>
              <a:srgbClr val="0F4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907792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Aktiv bo‘limlari yig‘indisi passiv bo‘limlari yig‘indisiga teng bo‘lishi shart.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3785616"/>
            <a:ext cx="164592" cy="164592"/>
          </a:xfrm>
          <a:prstGeom prst="ellipse">
            <a:avLst/>
          </a:prstGeom>
          <a:solidFill>
            <a:srgbClr val="7AA35A"/>
          </a:solidFill>
          <a:ln w="12700">
            <a:solidFill>
              <a:srgbClr val="7AA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3712464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Bir xil mablag‘lar aktivda — tarkibi va joylashuvi, passivda — manbalari bo‘yicha ko‘rsatiladi.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4590288"/>
            <a:ext cx="164592" cy="164592"/>
          </a:xfrm>
          <a:prstGeom prst="ellipse">
            <a:avLst/>
          </a:prstGeom>
          <a:solidFill>
            <a:srgbClr val="0F4C6E"/>
          </a:solidFill>
          <a:ln w="12700">
            <a:solidFill>
              <a:srgbClr val="0F4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4517136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Tenglikning buzilishi balans tuzilishida xato borligini bildiradi.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Moliyaviy barqarorlikning muhim nisbati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965960" y="1417320"/>
            <a:ext cx="8275320" cy="1051560"/>
          </a:xfrm>
          <a:prstGeom prst="roundRect">
            <a:avLst/>
          </a:prstGeom>
          <a:solidFill>
            <a:srgbClr val="E9F3F8"/>
          </a:solidFill>
          <a:ln w="15240">
            <a:solidFill>
              <a:srgbClr val="8BB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48840" y="1700784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4C6E"/>
                </a:solidFill>
              </a:rPr>
              <a:t>R1P &gt; R1A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60120" y="2980944"/>
            <a:ext cx="164592" cy="164592"/>
          </a:xfrm>
          <a:prstGeom prst="ellipse">
            <a:avLst/>
          </a:prstGeom>
          <a:solidFill>
            <a:srgbClr val="0F4C6E"/>
          </a:solidFill>
          <a:ln w="12700">
            <a:solidFill>
              <a:srgbClr val="0F4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907792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O‘z mablag‘lari manbalari odatda uzoq muddatli aktivlardan katta bo‘lishi kerak.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3785616"/>
            <a:ext cx="164592" cy="164592"/>
          </a:xfrm>
          <a:prstGeom prst="ellipse">
            <a:avLst/>
          </a:prstGeom>
          <a:solidFill>
            <a:srgbClr val="7AA35A"/>
          </a:solidFill>
          <a:ln w="12700">
            <a:solidFill>
              <a:srgbClr val="7AA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3712464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Farq korxonaning o‘z aylanma mablag‘larini shakllantiradi.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4590288"/>
            <a:ext cx="164592" cy="164592"/>
          </a:xfrm>
          <a:prstGeom prst="ellipse">
            <a:avLst/>
          </a:prstGeom>
          <a:solidFill>
            <a:srgbClr val="0F4C6E"/>
          </a:solidFill>
          <a:ln w="12700">
            <a:solidFill>
              <a:srgbClr val="0F4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4517136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Agar o‘z mablag‘lari uzoq muddatli aktivlarni ham qoplamasa, korxona qarz mablag‘lariga kuchli bog‘lanadi.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Joriy aktivlar va majburiyatlar nisbati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965960" y="1417320"/>
            <a:ext cx="8275320" cy="1051560"/>
          </a:xfrm>
          <a:prstGeom prst="roundRect">
            <a:avLst/>
          </a:prstGeom>
          <a:solidFill>
            <a:srgbClr val="E9F3F8"/>
          </a:solidFill>
          <a:ln w="15240">
            <a:solidFill>
              <a:srgbClr val="8BB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48840" y="1700784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4C6E"/>
                </a:solidFill>
              </a:rPr>
              <a:t>R2A &gt; R2P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60120" y="2980944"/>
            <a:ext cx="164592" cy="164592"/>
          </a:xfrm>
          <a:prstGeom prst="ellipse">
            <a:avLst/>
          </a:prstGeom>
          <a:solidFill>
            <a:srgbClr val="0F4C6E"/>
          </a:solidFill>
          <a:ln w="12700">
            <a:solidFill>
              <a:srgbClr val="0F4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907792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Joriy aktivlar majburiyatlardan ortiq bo‘lishi korxonaning to‘lov qobiliyati uchun muhim.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3785616"/>
            <a:ext cx="164592" cy="164592"/>
          </a:xfrm>
          <a:prstGeom prst="ellipse">
            <a:avLst/>
          </a:prstGeom>
          <a:solidFill>
            <a:srgbClr val="7AA35A"/>
          </a:solidFill>
          <a:ln w="12700">
            <a:solidFill>
              <a:srgbClr val="7AA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3712464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Majburiyatlar joriy aktivlardan ko‘p bo‘lsa, aylanma mablag‘larning katta qismi qarz hisobidan shakllanadi.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4590288"/>
            <a:ext cx="164592" cy="164592"/>
          </a:xfrm>
          <a:prstGeom prst="ellipse">
            <a:avLst/>
          </a:prstGeom>
          <a:solidFill>
            <a:srgbClr val="0F4C6E"/>
          </a:solidFill>
          <a:ln w="12700">
            <a:solidFill>
              <a:srgbClr val="0F4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4517136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Bu nisbat keyingi likvidlik tahliliga tayanch bo‘ladi.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Uzoq muddatli majburiyatlar va o‘z aylanma mablag‘lari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965960" y="1417320"/>
            <a:ext cx="8275320" cy="1051560"/>
          </a:xfrm>
          <a:prstGeom prst="roundRect">
            <a:avLst/>
          </a:prstGeom>
          <a:solidFill>
            <a:srgbClr val="E9F3F8"/>
          </a:solidFill>
          <a:ln w="15240">
            <a:solidFill>
              <a:srgbClr val="8BB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48840" y="1700784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4C6E"/>
                </a:solidFill>
              </a:rPr>
              <a:t>UMM &lt; R1A    |    O‘AM &lt; R1P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60120" y="2980944"/>
            <a:ext cx="164592" cy="164592"/>
          </a:xfrm>
          <a:prstGeom prst="ellipse">
            <a:avLst/>
          </a:prstGeom>
          <a:solidFill>
            <a:srgbClr val="0F4C6E"/>
          </a:solidFill>
          <a:ln w="12700">
            <a:solidFill>
              <a:srgbClr val="0F4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907792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Uzoq muddatli qarzlar uzoq muddatli aktivlarning iqtisodiy bazasidan oshib ketmasligi maqsadga muvofiq.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3785616"/>
            <a:ext cx="164592" cy="164592"/>
          </a:xfrm>
          <a:prstGeom prst="ellipse">
            <a:avLst/>
          </a:prstGeom>
          <a:solidFill>
            <a:srgbClr val="7AA35A"/>
          </a:solidFill>
          <a:ln w="12700">
            <a:solidFill>
              <a:srgbClr val="7AA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3712464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O‘z aylanma mablag‘lari — o‘z mablag‘larining bir qismi.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4590288"/>
            <a:ext cx="164592" cy="164592"/>
          </a:xfrm>
          <a:prstGeom prst="ellipse">
            <a:avLst/>
          </a:prstGeom>
          <a:solidFill>
            <a:srgbClr val="0F4C6E"/>
          </a:solidFill>
          <a:ln w="12700">
            <a:solidFill>
              <a:srgbClr val="0F4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4517136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Balans bo‘limlarining o‘zaro nisbatlari moliyaviy barqarorlik haqida dastlabki xulosa beradi.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Balansdagi xo‘jalik operatsiyalarining 4 turi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2286000"/>
            <a:ext cx="2596896" cy="14173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7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2414016"/>
            <a:ext cx="384048" cy="384048"/>
          </a:xfrm>
          <a:prstGeom prst="rect">
            <a:avLst/>
          </a:prstGeom>
          <a:solidFill>
            <a:srgbClr val="0F4C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852928"/>
            <a:ext cx="22677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A"/>
                </a:solidFill>
              </a:rPr>
              <a:t>Faqat aktiv ichida o‘zgarish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64408" y="276148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4C6E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419856" y="2286000"/>
            <a:ext cx="2596896" cy="1417320"/>
          </a:xfrm>
          <a:prstGeom prst="roundRect">
            <a:avLst/>
          </a:prstGeom>
          <a:solidFill>
            <a:srgbClr val="EEF5FA"/>
          </a:solidFill>
          <a:ln w="12700">
            <a:solidFill>
              <a:srgbClr val="AFC7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9584" y="2414016"/>
            <a:ext cx="384048" cy="384048"/>
          </a:xfrm>
          <a:prstGeom prst="rect">
            <a:avLst/>
          </a:prstGeom>
          <a:solidFill>
            <a:srgbClr val="0F4C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84448" y="2852928"/>
            <a:ext cx="22677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A"/>
                </a:solidFill>
              </a:rPr>
              <a:t>Faqat passiv ichida o‘zgarish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25896" y="276148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4C6E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81344" y="2286000"/>
            <a:ext cx="2596896" cy="14173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7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2414016"/>
            <a:ext cx="384048" cy="384048"/>
          </a:xfrm>
          <a:prstGeom prst="rect">
            <a:avLst/>
          </a:prstGeom>
          <a:solidFill>
            <a:srgbClr val="0F4C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45936" y="2852928"/>
            <a:ext cx="22677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A"/>
                </a:solidFill>
              </a:rPr>
              <a:t>Aktiv va passiv bir xil ko‘payadi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87384" y="276148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4C6E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942832" y="2286000"/>
            <a:ext cx="2596896" cy="1417320"/>
          </a:xfrm>
          <a:prstGeom prst="roundRect">
            <a:avLst/>
          </a:prstGeom>
          <a:solidFill>
            <a:srgbClr val="EEF5FA"/>
          </a:solidFill>
          <a:ln w="12700">
            <a:solidFill>
              <a:srgbClr val="AFC7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2414016"/>
            <a:ext cx="384048" cy="384048"/>
          </a:xfrm>
          <a:prstGeom prst="rect">
            <a:avLst/>
          </a:prstGeom>
          <a:solidFill>
            <a:srgbClr val="0F4C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07424" y="2852928"/>
            <a:ext cx="22677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A"/>
                </a:solidFill>
              </a:rPr>
              <a:t>Aktiv va passiv bir xil kamayadi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1-tur: faqat aktiv ichida o‘zgarish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13232" y="1298448"/>
            <a:ext cx="10789920" cy="100584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A6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7276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6E"/>
                </a:solidFill>
              </a:rPr>
              <a:t>Balans jami o‘zgarmaydi.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87552" y="278892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3312" y="2788920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Masalan: hisob-kitob schyotidan kassaga pul olindi.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359359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53312" y="3593592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Bankdagi pul kamayadi, kassadagi pul xuddi shu summaga ko‘payadi.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439826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3312" y="4398264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Aktiv tarkibi o‘zgaradi, lekin aktivning umumiy summasi saqlanadi.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2-tur: faqat passiv ichida o‘zgarish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13232" y="1298448"/>
            <a:ext cx="10789920" cy="100584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A6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7276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6E"/>
                </a:solidFill>
              </a:rPr>
              <a:t>Balans jami o‘zgarmaydi.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87552" y="278892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3312" y="2788920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Masalan: foydaning bir qismi rezerv fondiga yo‘naltirildi.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359359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53312" y="3593592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Taqsimlanmagan foyda kamayadi, rezerv kapitali ko‘payadi.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439826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3312" y="4398264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Mablag‘ manbalari tarkibi o‘zgaradi, lekin umumiy passiv o‘zgarmaydi.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3-tur: aktiv va passiv bir xil ko‘payadi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13232" y="1298448"/>
            <a:ext cx="10789920" cy="100584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A6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7276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6E"/>
                </a:solidFill>
              </a:rPr>
              <a:t>Balans jami bir xil summaga oshadi.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87552" y="278892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3312" y="2788920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Masalan: yetkazib beruvchidan materiallar keyinchalik to‘lash sharti bilan olindi.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359359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53312" y="3593592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Aktivda zaxiralar ko‘payadi.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439826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3312" y="4398264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Passivda yetkazib beruvchiga kreditorlik qarzi xuddi shu summaga ko‘payadi.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4-tur: aktiv va passiv bir xil kamayadi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13232" y="1298448"/>
            <a:ext cx="10789920" cy="100584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A6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7276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6E"/>
                </a:solidFill>
              </a:rPr>
              <a:t>Balans jami bir xil summaga kamayadi.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87552" y="278892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3312" y="2788920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Masalan: yetkazib beruvchiga bank hisobidan qarz to‘landi.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359359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53312" y="3593592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Aktivda pul mablag‘i kamayadi.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439826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3312" y="4398264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Passivda kreditorlik qarzi xuddi shu summaga kamayadi.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 va boshqa moliyaviy hisobotlar bog‘liqligi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783"/>
                </a:solidFill>
              </a:rPr>
              <a:t>Hisobotlar bir-birini to‘ldiradi va nazorat qiladi.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2286000"/>
            <a:ext cx="2044598" cy="14173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7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414016"/>
            <a:ext cx="384048" cy="384048"/>
          </a:xfrm>
          <a:prstGeom prst="rect">
            <a:avLst/>
          </a:prstGeom>
          <a:solidFill>
            <a:srgbClr val="0F4C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852928"/>
            <a:ext cx="171541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A"/>
                </a:solidFill>
              </a:rPr>
              <a:t>Moliyaviy natijalar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12110" y="276148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4C6E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67558" y="2286000"/>
            <a:ext cx="2044598" cy="1417320"/>
          </a:xfrm>
          <a:prstGeom prst="roundRect">
            <a:avLst/>
          </a:prstGeom>
          <a:solidFill>
            <a:srgbClr val="EEF5FA"/>
          </a:solidFill>
          <a:ln w="12700">
            <a:solidFill>
              <a:srgbClr val="AFC7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7286" y="2414016"/>
            <a:ext cx="384048" cy="384048"/>
          </a:xfrm>
          <a:prstGeom prst="rect">
            <a:avLst/>
          </a:prstGeom>
          <a:solidFill>
            <a:srgbClr val="0F4C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32150" y="2852928"/>
            <a:ext cx="171541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A"/>
                </a:solidFill>
              </a:rPr>
              <a:t>Debitor/kreditor qarzlar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21301" y="276148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4C6E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076749" y="2286000"/>
            <a:ext cx="2044598" cy="14173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7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6477" y="2414016"/>
            <a:ext cx="384048" cy="384048"/>
          </a:xfrm>
          <a:prstGeom prst="rect">
            <a:avLst/>
          </a:prstGeom>
          <a:solidFill>
            <a:srgbClr val="0F4C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41341" y="2852928"/>
            <a:ext cx="171541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A"/>
                </a:solidFill>
              </a:rPr>
              <a:t>Asosiy vositalar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0491" y="276148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4C6E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285939" y="2286000"/>
            <a:ext cx="2044598" cy="1417320"/>
          </a:xfrm>
          <a:prstGeom prst="roundRect">
            <a:avLst/>
          </a:prstGeom>
          <a:solidFill>
            <a:srgbClr val="EEF5FA"/>
          </a:solidFill>
          <a:ln w="12700">
            <a:solidFill>
              <a:srgbClr val="AFC7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95667" y="2414016"/>
            <a:ext cx="384048" cy="384048"/>
          </a:xfrm>
          <a:prstGeom prst="rect">
            <a:avLst/>
          </a:prstGeom>
          <a:solidFill>
            <a:srgbClr val="0F4C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50531" y="2852928"/>
            <a:ext cx="171541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A"/>
                </a:solidFill>
              </a:rPr>
              <a:t>Pul oqimlari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39682" y="276148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4C6E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495130" y="2286000"/>
            <a:ext cx="2044598" cy="14173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7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4858" y="2414016"/>
            <a:ext cx="384048" cy="384048"/>
          </a:xfrm>
          <a:prstGeom prst="rect">
            <a:avLst/>
          </a:prstGeom>
          <a:solidFill>
            <a:srgbClr val="0F4C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59722" y="2852928"/>
            <a:ext cx="171541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A"/>
                </a:solidFill>
              </a:rPr>
              <a:t>Xususiy kapital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 ↔ moliyaviy natijalar to‘g‘risidagi hisobot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Moliyaviy natijalar hisobotida davr davomida daromad, xarajat va foyda shakllanishi ochib beriladi.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Balans passivida taqsimlanmagan foydaning davr oxiridagi qoldig‘i aks etadi.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Demak, foyda oqim ko‘rsatkichi sifatida moliyaviy natijalar hisobotida, qoldiq sifatida esa balansda namoyon bo‘ladi.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Tahlilda ikki hisobot ma’lumotlarini birgalikda ko‘rish zarur.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 ↔ debitorlik va kreditorlik qarzlari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Balansda debitor va kreditor qarzlar umumlashtirilgan qoldiq ko‘rinishida aks etadi.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Kitobda ularning kelib chiqishi va muddatlari bo‘yicha maxsus ma’lumotnoma bilan bog‘liqligi ko‘rsatiladi.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Muddati o‘tgan qarzlar mablag‘larning aylanishdan chiqib qolishiga sabab bo‘lishi mumkin.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Qarzlarning tarkibi va sifati korxonaning to‘lov intizomini baholashda muhim.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 ↔ asosiy vositalar haqidagi ma’lumotlar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Balansda asosiy vositalarning umumlashtirilgan qiymati ko‘rsatiladi.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Ularning harakati, kirimi, chiqimi va eskirishi tafsilotlari alohida hisob registrlari va izohlarda ochib beriladi.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Kitobdagi 3-shaklga oid izoh tarixiy hisobot shakllariga tegishli.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Tahlilda balansdagi qoldiq va asosiy vositalar harakati haqidagi tafsilotlar o‘zaro tekshiriladi.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 ↔ pul oqimlari to‘g‘risidagi hisobot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Balans pul mablag‘larining muayyan sanadagi qoldig‘ini beradi.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Pul oqimlari hisoboti esa davr davomida pulning qayerdan kelib, qayerga sarflanganini ko‘rsatadi.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Operatsion, investitsion va moliyaviy oqimlar pul qoldig‘ining o‘zgarishini tushuntiradi.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Davr oxiridagi pul qoldig‘i balansdagi tegishli qoldiq bilan muvofiq bo‘lishi kerak.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 ↔ xususiy kapital to‘g‘risidagi hisobot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Balansda ustav kapitali, rezervlar va taqsimlanmagan foydaning yakuniy qoldig‘i aks etadi.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Xususiy kapital hisoboti esa davr davomida bu tarkibiy qismlar qanday o‘zgarganini ochib beradi.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Kapitalning o‘sishi yoki kamayishi mulkdorlar va investorlar uchun muhim signal hisoblanadi.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Ikki hisobot o‘zaro tekshiruv va omilli tahlil uchun birgalikda qo‘llanadi.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Amaldagi tartib: 2025-yildan moliyaviy hisobot tarkibi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13232" y="1298448"/>
            <a:ext cx="10789920" cy="100584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A6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7276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6E"/>
                </a:solidFill>
              </a:rPr>
              <a:t>BHMS bo‘yicha yillik moliyaviy hisobot 4 asosiy shakl va izohlardan iborat.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87552" y="278892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3312" y="2788920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Buxgalteriya balansi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359359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53312" y="3593592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Moliyaviy natijalar to‘g‘risidagi hisobot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439826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3312" y="4398264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Xususiy kapital to‘g‘risidagi hisobot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520293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53312" y="5202936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Pul oqimlari to‘g‘risidagi hisobot va moliyaviy hisobotga izohlar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59893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7783"/>
                </a:solidFill>
              </a:rPr>
              <a:t>Yangilanish manbasi: O‘zbekiston Respublikasi Iqtisodiyot va moliya vazirining 3567-son Nizomi, 01.01.2025 dan.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Kitobdagi eski shakl raqamlari va amaldagi tartib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13232" y="1298448"/>
            <a:ext cx="10789920" cy="100584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A6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7276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6E"/>
                </a:solidFill>
              </a:rPr>
              <a:t>Nazariy bog‘liqlik saqlanadi, ammo normativ shakllar yangilangan.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87552" y="278892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3312" y="2788920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Xoliqulov kitobida 2003-yildagi tartibga oid ayrim “1-, 2-, 3-, 4-, 5-shakl” raqamlari uchraydi.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359359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53312" y="3593592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3567-son Nizom 2025-yildan yangi moliyaviy hisobot shakllari va tarkibini belgilaydi.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439826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3312" y="4398264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Shuning uchun darsda kitobdagi iqtisodiy mantiq asos sifatida, amaldagi huquqiy shakllar esa yangilangan ma’lumot sifatida qo‘llanadi.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59893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7783"/>
                </a:solidFill>
              </a:rPr>
              <a:t>Manba: Xoliqulov, 81–99-betlar; Lex.uz, 3567-son Nizom.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Balansni tahlilga tayyorlash algoritmi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2286000"/>
            <a:ext cx="2044598" cy="14173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7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2414016"/>
            <a:ext cx="384048" cy="384048"/>
          </a:xfrm>
          <a:prstGeom prst="rect">
            <a:avLst/>
          </a:prstGeom>
          <a:solidFill>
            <a:srgbClr val="0F4C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852928"/>
            <a:ext cx="171541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A"/>
                </a:solidFill>
              </a:rPr>
              <a:t>Tuzilish to‘g‘riligini tekshirish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12110" y="276148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4C6E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867558" y="2286000"/>
            <a:ext cx="2044598" cy="1417320"/>
          </a:xfrm>
          <a:prstGeom prst="roundRect">
            <a:avLst/>
          </a:prstGeom>
          <a:solidFill>
            <a:srgbClr val="EEF5FA"/>
          </a:solidFill>
          <a:ln w="12700">
            <a:solidFill>
              <a:srgbClr val="AFC7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7286" y="2414016"/>
            <a:ext cx="384048" cy="384048"/>
          </a:xfrm>
          <a:prstGeom prst="rect">
            <a:avLst/>
          </a:prstGeom>
          <a:solidFill>
            <a:srgbClr val="0F4C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32150" y="2852928"/>
            <a:ext cx="171541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A"/>
                </a:solidFill>
              </a:rPr>
              <a:t>Arifmetik tekshiruv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21301" y="276148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4C6E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076749" y="2286000"/>
            <a:ext cx="2044598" cy="14173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7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86477" y="2414016"/>
            <a:ext cx="384048" cy="384048"/>
          </a:xfrm>
          <a:prstGeom prst="rect">
            <a:avLst/>
          </a:prstGeom>
          <a:solidFill>
            <a:srgbClr val="0F4C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41341" y="2852928"/>
            <a:ext cx="171541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A"/>
                </a:solidFill>
              </a:rPr>
              <a:t>Moddiy tekshiruv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0491" y="276148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4C6E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285939" y="2286000"/>
            <a:ext cx="2044598" cy="1417320"/>
          </a:xfrm>
          <a:prstGeom prst="roundRect">
            <a:avLst/>
          </a:prstGeom>
          <a:solidFill>
            <a:srgbClr val="EEF5FA"/>
          </a:solidFill>
          <a:ln w="12700">
            <a:solidFill>
              <a:srgbClr val="AFC7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95667" y="2414016"/>
            <a:ext cx="384048" cy="384048"/>
          </a:xfrm>
          <a:prstGeom prst="rect">
            <a:avLst/>
          </a:prstGeom>
          <a:solidFill>
            <a:srgbClr val="0F4C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50531" y="2852928"/>
            <a:ext cx="171541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A"/>
                </a:solidFill>
              </a:rPr>
              <a:t>Hisobotlararo bog‘lanishni tekshirish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39682" y="276148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4C6E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495130" y="2286000"/>
            <a:ext cx="2044598" cy="14173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AFC7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4858" y="2414016"/>
            <a:ext cx="384048" cy="384048"/>
          </a:xfrm>
          <a:prstGeom prst="rect">
            <a:avLst/>
          </a:prstGeom>
          <a:solidFill>
            <a:srgbClr val="0F4C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59722" y="2852928"/>
            <a:ext cx="171541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A"/>
                </a:solidFill>
              </a:rPr>
              <a:t>Analitik balans tuzish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Arifmetik tekshiruv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Balansdagi summalar aylanma qaydnoma va Bosh daftar ma’lumotlari bilan solishtiriladi.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Bo‘limlar va guruhlar yig‘indisi qayta hisoblanadi.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Aktiv va passiv yakunlarining tengligi tekshiriladi.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Raqamli xatolar, noto‘g‘ri ko‘chirish va yig‘indi xatolari aniqlanadi.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Moddiy tekshiruv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Moddiy boyliklar va pul mablag‘larining haqiqiy mavjudligi hisob ma’lumotlari bilan qiyoslanadi.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Asosiy vositalar, zaxiralar va pul qoldiqlari inventarizatsiya ma’lumotlari bilan tekshiriladi.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Haqiqiy mavjudlik va balansdagi qoldiq o‘rtasidagi tafovutlar aniqlanadi.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Bu nazorat mulkdor va investor uchun hisobotga bo‘lgan ishonchni oshiradi.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Balansning realligini tekshirish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Har bir modda iqtisodiy mazmuniga mos baholangan bo‘lishi kerak.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Noto‘g‘ri baholash korxonaning haqiqiy moliyaviy natijasini buzadi.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Debitorlik qarzlari undirilish ehtimoli, aktivlarning qiymati va majburiyatlar to‘liqligi e’tiborga olinadi.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Noto‘g‘ri ma’lumot noto‘g‘ri boshqaruv qaroriga olib keladi.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Hisobotlararo nazorat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Balansdagi asosiy vositalar qoldig‘i tegishli izoh va registrlar bilan mos bo‘lishi kerak.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Pul mablag‘lari qoldig‘i pul oqimlari hisobotining yakuniy qoldig‘i bilan bog‘lanadi.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Xususiy kapital qoldiqlari xususiy kapitaldagi o‘zgarishlar bilan izohlanadi.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Debitor va kreditor qarzlar tarkibi tegishli hisob registrlari va izohlar bilan tekshiriladi.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Analitik balans tuzish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13232" y="1298448"/>
            <a:ext cx="10789920" cy="100584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A6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7276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6E"/>
                </a:solidFill>
              </a:rPr>
              <a:t>Tahlil uchun balansni ixcham va iqtisodiy jihatdan qulay ko‘rinishga keltirish mumkin.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87552" y="278892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3312" y="2788920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Tarkibi o‘xshash moddalar yirik guruhlarga birlashtiriladi.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359359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53312" y="3593592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Faoliyat uchun ahamiyatsiz yoki nol qoldiqli moddalar alohida ajratiladi.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439826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3312" y="4398264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Raqamlar tahlil maqsadiga qarab ming yoki million so‘mda yaxlitlanishi mumkin.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520293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53312" y="5202936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Natijada vertikal, gorizontal va koeffitsiyent tahlili uchun qulay bazaga ega bo‘linadi.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Amaliy vazifa — balansni tekshiring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783"/>
                </a:solidFill>
              </a:rPr>
              <a:t>Eslatma: bu raqamlar o‘quv mashqi uchun tuzilgan, kitob statistikasi emas.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Turistik korxonada: uzoq muddatli aktivlar — 4 800 mln so‘m; joriy aktivlar — 3 700 mln so‘m.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O‘z mablag‘lari — 5 600 mln so‘m; majburiyatlar — 2 900 mln so‘m.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1) Aktiv va passiv tengligini tekshiring.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2) R1P &gt; R1A hamda R2A &gt; R2P nisbatlarini baholang.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58368" y="458114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57200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5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24128" y="455371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3) O‘z aylanma mablag‘lari miqdorini aniqlang va qisqa xulosa yozing.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Tayanch tushunchalar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Buxgalteriya balansi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Aktiv va passiv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Uzoq muddatli va joriy aktivlar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Xususiy kapital va majburiyatlar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58368" y="458114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57200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24128" y="455371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Balans-brutto va balans-netto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58368" y="54041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53949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4128" y="53766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Arifmetik va moddiy tekshiruv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658368" y="62270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62179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7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24128" y="61996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Analitik balans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Nazorat savollari — 1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Balans deganda nimani tushunasiz?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Buxgalteriya balansi qaysi ikki asosiy qismdan iborat?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Balans aktivida nimalar aks ettiriladi?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Balans passivida nimalar aks ettiriladi?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Nazorat savollari — 2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Balans turlari qanday belgilar bo‘yicha tasniflanadi?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R1P &gt; R1A va R2A &gt; R2P nisbatlari nimani anglatadi?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Balansdagi xo‘jalik operatsiyalarining to‘rtta o‘zgarish turini misollar bilan tushuntiring.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7581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4904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73075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Balansning boshqa moliyaviy hisobotlar bilan qanday aloqasi bor?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58368" y="458114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57200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24128" y="455371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Balansni tahlilga tayyorlashda qanday tekshiruvlar amalga oshiriladi?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Mavzuning asosiy xulosasi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13232" y="1298448"/>
            <a:ext cx="10789920" cy="100584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A6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7276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6E"/>
                </a:solidFill>
              </a:rPr>
              <a:t>Balans — faqat hisobot shakli emas, balki boshqaruv va tahlilning markaziy axborot vositasidir.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87552" y="278892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3312" y="2788920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Aktiv va passiv bir xil xo‘jalik mablag‘larini ikki xil iqtisodiy nuqtai nazardan ko‘rsatadi.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359359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53312" y="3593592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Balans bo‘limlari o‘rtasidagi nisbatlar korxonaning moliyaviy barqarorligini dastlabki baholashga yordam beradi.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439826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6E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3312" y="4398264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Boshqa moliyaviy hisobotlar balansdagi qoldiqlar harakatini va shakllanish sabablarini ochib beradi.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520293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C43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53312" y="5202936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</a:rPr>
              <a:t>Ishonchli tahlil uchun balans avval arifmetik, moddiy va mantiqiy nazoratdan o‘tkazilishi kerak.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Foydalanilgan asosiy manbalar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" y="126187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Xoliqulov A.N. Turistik korxonalar faoliyati tahlili. O‘quv qo‘llanma. Samarqand: “STEP-SEL” MChJ, 2024. 81–99-betlar.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0F5F8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O‘zbekiston Respublikasi Iqtisodiyot va moliya vazirining 2024-yil 4-noyabrdagi 3567-son “Moliyaviy hisobotlarni taqdim etish muddatlari hamda ularning tarkibi va mazmuni to‘g‘risidagi nizomni tasdiqlash haqida”gi hujjati. 2025-yil 1-yanvardan amal qiladi.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7F1F6"/>
          </a:solidFill>
          <a:ln w="10160">
            <a:solidFill>
              <a:srgbClr val="B8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6E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907792"/>
            <a:ext cx="10378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303A"/>
                </a:solidFill>
              </a:rPr>
              <a:t>Taqdimotdagi amaliy mashq raqamlari didaktik maqsadda alohida tuzilgan.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Turistik firma va kompaniyalar buxgalteriya balansi va boshqa hisobotlar bilan bog‘liqligi</dc:title>
  <dc:subject>Turistik korxonalar faoliyati tahlili — 4-mavzu</dc:subject>
  <dc:creator>OpenAI</dc:creator>
  <cp:lastModifiedBy>OpenAI</cp:lastModifiedBy>
  <cp:revision>1</cp:revision>
  <dcterms:created xsi:type="dcterms:W3CDTF">2026-09-15T03:27:53Z</dcterms:created>
  <dcterms:modified xsi:type="dcterms:W3CDTF">2026-09-15T03:27:53Z</dcterms:modified>
</cp:coreProperties>
</file>