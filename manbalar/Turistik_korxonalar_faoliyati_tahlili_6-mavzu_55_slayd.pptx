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TURISTIK KORXONALAR FAOLIYATI TAHLILI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201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6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6-MAVZU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7B8794"/>
                </a:solidFill>
              </a:rPr>
              <a:t>Asosiy manba: A.N. Xoliqulov, “Turistik korxonalar faoliyati tahlili”, 2024, VI bob, 112–129-b.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58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80" kern="0" dirty="0">
                <a:solidFill>
                  <a:srgbClr val="E9C46A"/>
                </a:solidFill>
              </a:rPr>
              <a:t>6-MAVZU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1207008"/>
            <a:ext cx="102870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Turistik korxonalarning asosiy vositalari va boshqa oborotdan tashqari aktivlari tahlili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907792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</a:rPr>
              <a:t>Asosiy vositalarning holati • ta’minlanganlik • samaradorlik • asbob-uskunalar quvvati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3794760"/>
            <a:ext cx="4160520" cy="822960"/>
          </a:xfrm>
          <a:prstGeom prst="roundRect">
            <a:avLst/>
          </a:prstGeom>
          <a:solidFill>
            <a:srgbClr val="1E4669">
              <a:alpha val="92000"/>
            </a:srgbClr>
          </a:solidFill>
          <a:ln w="12700">
            <a:solidFill>
              <a:srgbClr val="4E75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Asosiy manba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A.N. Xoliqulov, 2024 — VI bob, 112–129-betlar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6016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Dars taqdimoti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o‘quv maqsadlari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Dars yakunida talaba asosiy vositalar tahlilining mantiqiy zanjirini amalda qo‘llay olishi kerak.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73152" cy="114300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4767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Tasniflash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340864"/>
            <a:ext cx="29535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Asosiy vositalarning aktiv va passiv qismlarini ajratish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78308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783080"/>
            <a:ext cx="73152" cy="114300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4767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Baholash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9432" y="2340864"/>
            <a:ext cx="29535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Holat, harakat va ta’minlanganlik ko‘rsatkichlarini hisoblash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55864" y="178308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55864" y="1783080"/>
            <a:ext cx="73152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94767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Samaradorlik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84464" y="2340864"/>
            <a:ext cx="29535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Rentabellik, mahsuldorlik va daromadlilikni tahlil qilish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22783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27832"/>
            <a:ext cx="73152" cy="1143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92424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Omilli tahlil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3785616"/>
            <a:ext cx="29535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Rentabellik o‘zgarishini omillar bo‘yicha ajratish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70832" y="322783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70832" y="3227832"/>
            <a:ext cx="73152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392424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Quvvat tahlili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9432" y="3785616"/>
            <a:ext cx="29535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Asbob-uskunalardan intensiv va ekstensiv foydalanishni baholash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rejasi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Xoliqulov o‘quv qo‘llanmasidagi 6.1–6.4 paragraflar ketma-ketligida.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75564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819656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6.1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83080" y="170992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Asosiy vositalar bilan ta’minlanganlik: ahamiyati, vazifalari va axborot manbalari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816352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8803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6.2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2770632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</a:rPr>
              <a:t>Asosiy vositalar holatini ifodalovchi ko‘rsatkichlar va ularning tahlili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877056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394106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6.3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383133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</a:rPr>
              <a:t>Asosiy vositalar samaradorligi tahlili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937760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5001768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6.4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48920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</a:rPr>
              <a:t>Asbob-uskunalardan foydalanish va xizmat ko‘rsatish quvvatini tahlil qilish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6E69"/>
                </a:solidFill>
              </a:rPr>
              <a:t>6.1</a:t>
            </a:r>
            <a:endParaRPr lang="en-US" sz="6200" dirty="0"/>
          </a:p>
        </p:txBody>
      </p:sp>
      <p:sp>
        <p:nvSpPr>
          <p:cNvPr id="3" name="Text 1"/>
          <p:cNvSpPr/>
          <p:nvPr/>
        </p:nvSpPr>
        <p:spPr>
          <a:xfrm>
            <a:off x="2148840" y="148132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324F"/>
                </a:solidFill>
              </a:rPr>
              <a:t>Asosiy vositalar bilan ta’minlanganlik tahlili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176272" y="2331720"/>
            <a:ext cx="8458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</a:rPr>
              <a:t>Asosiy vositalarning tarkibi, faoliyatdagi roli, tahlil vazifalari va axborot manbalari.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76272" y="3703320"/>
            <a:ext cx="80467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Asosiy vositalar nima?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Kitobda asosiy vositalar korxona faoliyatining moddiy-texnik bazasi sifatida qaraladi.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45720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40030" indent="-24003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Binolar va inshootlar</a:t>
            </a:r>
            <a:endParaRPr lang="en-US" sz="1800" dirty="0"/>
          </a:p>
          <a:p>
            <a:pPr marL="240030" indent="-24003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Jihozlar, qurilmalar va uskunalar</a:t>
            </a:r>
            <a:endParaRPr lang="en-US" sz="1800" dirty="0"/>
          </a:p>
          <a:p>
            <a:pPr marL="240030" indent="-24003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Transport vositalari va avtomobillar</a:t>
            </a:r>
            <a:endParaRPr lang="en-US" sz="1800" dirty="0"/>
          </a:p>
          <a:p>
            <a:pPr marL="240030" indent="-24003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Ko‘p yillik mevali daraxtlar</a:t>
            </a:r>
            <a:endParaRPr lang="en-US" sz="1800" dirty="0"/>
          </a:p>
          <a:p>
            <a:pPr marL="240030" indent="-24003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Ishchi hayvonlar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897880" y="187452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0F7F6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97880" y="1874520"/>
            <a:ext cx="73152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2039112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Turistik korxonada misollar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126480" y="2432304"/>
            <a:ext cx="464515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Mehmonxona binosi, restoran jihozlari, transport, konditsioner tizimi, kompyuter va ofis texnikasi, turistik inventar kabi moddiy aktivlar.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 va passiv asosiy vositalar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Asosiy vositalar ishlab chiqarish/xizmat ko‘rsatish jarayonidagi ishtirokiga ko‘ra ikki guruhga ajratiladi.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73152" cy="214884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4767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AKTIV QISM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2340864"/>
            <a:ext cx="4599432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Xizmat yaratishda bevosita qatnashadi: uskunalar, jihozlar, transport, texnologik vositalar.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73152" cy="21488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4767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PASSIV QISM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29400" y="2340864"/>
            <a:ext cx="4599432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Xizmat jarayoni uchun sharoit yaratadi: binolar, inshootlar va boshqa yordamchi obyektlar.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40680" y="4389120"/>
            <a:ext cx="1280160" cy="731520"/>
          </a:xfrm>
          <a:prstGeom prst="chevron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440740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Bozor sharoitida aktiv qism ulushini oqilona oshirish — samaradorlik manbai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Nega asosiy vositalar tahlil qilinadi?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79222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166420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Korxonaning moddiy-texnik bazasiga xolis baho berish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532888"/>
            <a:ext cx="420624" cy="42062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6334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2505456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Asosiy vositalarning tarkibi va dinamikasini aniqlash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374136"/>
            <a:ext cx="420624" cy="42062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47472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3346704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Texnik holat va harakatni baholash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4215384"/>
            <a:ext cx="420624" cy="42062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315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4187952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Xodimlarning fond bilan qurollanganligini o‘rganish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5056632"/>
            <a:ext cx="420624" cy="42062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515721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502920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Foydalanish samaradorligini oshirish rezervlarini topish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Tahlilning asosiy vazifalari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Kitobdagi vazifalar tizimi.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700784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00784"/>
            <a:ext cx="73152" cy="141732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6537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Ko‘rsatkichlar tizimi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Asosiy vositalarni ifodalovchi ko‘rsatkichlarni shakllantirish.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16552" y="1700784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16552" y="1700784"/>
            <a:ext cx="73152" cy="1417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6537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Holat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45152" y="2258568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Eskirish, yaroqlilik, yangilanish va chiqarilish holatini baholash.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700784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7304" y="1700784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86537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Ta’minlanganlik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75904" y="2258568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Fond sig‘imi, fond bilan qurollanganlik va o‘z mablag‘lari ta’minotini aniqlash.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529584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529584"/>
            <a:ext cx="73152" cy="1417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9417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Samaradorlik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4087368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Rentabellik, mahsuldorlik va daromadlilikni baholash.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16552" y="3529584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16552" y="3529584"/>
            <a:ext cx="73152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369417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Omillar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45152" y="4087368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Rentabellik o‘zgarishiga ta’sir qilgan omillarni hisoblash.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47304" y="3529584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47304" y="3529584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75904" y="369417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Rezervlar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75904" y="4087368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Asosiy vositalardan samarali foydalanish imkoniyatlarini aniqlash.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Tahlilning axborot manbalari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Xoliqulov kitobida keltirilgan manbalar.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73152" cy="114300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9339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Moliyaviy hisobot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2386584"/>
            <a:ext cx="4462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1-shakl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828800"/>
            <a:ext cx="73152" cy="114300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9339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Statistik hisobot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3680" y="2386584"/>
            <a:ext cx="4462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2-KB shakli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383280"/>
            <a:ext cx="73152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4787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Statistik hisobot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7280" y="3941064"/>
            <a:ext cx="4462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2-moliya shakli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38328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383280"/>
            <a:ext cx="73152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54787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Buxgalteriya hisobi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83680" y="3941064"/>
            <a:ext cx="4462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Hisobvaraqlar (schyotlar) ma’lumotlari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Asosiy vositalar tahlilining yo‘nalishlari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6.1-rasm mazmuni asosida.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691640"/>
            <a:ext cx="51389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91640"/>
            <a:ext cx="73152" cy="123444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56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Ta’minlanganlik holati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2249424"/>
            <a:ext cx="4754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Asosiy vositalar miqdori va resurslar bilan nisbat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1389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6792" y="1691640"/>
            <a:ext cx="73152" cy="12344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856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Texnik holat va harakat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65392" y="2249424"/>
            <a:ext cx="4754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Eskirish, yaroqlilik, yangilanish, chiqish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3291840"/>
            <a:ext cx="51389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291840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456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Foydalanish samaradorligi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41832" y="3849624"/>
            <a:ext cx="4754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Rentabellik, mahsuldorlik, daromadlilik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36792" y="3291840"/>
            <a:ext cx="51389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36792" y="3291840"/>
            <a:ext cx="73152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456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Quvvatdan foydalanish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65392" y="3849624"/>
            <a:ext cx="4754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Asbob-uskunalar va xizmat ko‘rsatish quvvati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05272" y="4727448"/>
            <a:ext cx="914400" cy="658368"/>
          </a:xfrm>
          <a:prstGeom prst="downArrow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35838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Asosiy vositalar samaradorligini oshirish yo‘llarini aniqlash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6E69"/>
                </a:solidFill>
              </a:rPr>
              <a:t>6.2</a:t>
            </a:r>
            <a:endParaRPr lang="en-US" sz="6200" dirty="0"/>
          </a:p>
        </p:txBody>
      </p:sp>
      <p:sp>
        <p:nvSpPr>
          <p:cNvPr id="3" name="Text 1"/>
          <p:cNvSpPr/>
          <p:nvPr/>
        </p:nvSpPr>
        <p:spPr>
          <a:xfrm>
            <a:off x="2148840" y="148132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324F"/>
                </a:solidFill>
              </a:rPr>
              <a:t>Asosiy vositalar holatini ifodalovchi ko‘rsatkichlar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176272" y="2331720"/>
            <a:ext cx="8458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</a:rPr>
              <a:t>Holat, harakat va ta’minlanganlikni ifodalovchi ko‘rsatkichlar tizimi va kitobdagi hisob-kitoblar.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76272" y="3703320"/>
            <a:ext cx="80467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Ko‘rsatkichlar tasnifi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Asosiy vositalar tahlili ikki yirik blokda olib boriladi.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498348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73152" cy="388620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HOLAT KO‘RSATKICHLARI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2203704"/>
            <a:ext cx="4599432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AVning jami aktivlardagi ulushi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Faol qism ulushi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Eskirish koeffitsienti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Yangilanish koeffitsienti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Yaroqlilik koeffitsienti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Chiqarilish koeffitsienti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498348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645920"/>
            <a:ext cx="73152" cy="388620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1051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TA’MINLANGANLIK KO‘RSATKICHLARI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29400" y="2203704"/>
            <a:ext cx="4599432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Fond bilan qurollanganlik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Natijaning fond sig‘imi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O‘z mablag‘larining AV bilan ta’minlanganligi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AVning umumiy aktivlardagi ulushi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4389120" cy="100584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0B6E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3852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9"/>
                </a:solidFill>
              </a:rPr>
              <a:t>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176272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AV ulushi = AV / B × 100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73736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97880" y="1737360"/>
            <a:ext cx="73152" cy="1508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90195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Mazmuni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6480" y="2295144"/>
            <a:ext cx="45537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Korxona jami aktivlarining necha foizi asosiy vositalarga joylashtirilganini ko‘rsatadi.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337560"/>
            <a:ext cx="9875520" cy="1417320"/>
          </a:xfrm>
          <a:prstGeom prst="roundRect">
            <a:avLst>
              <a:gd name="adj" fmla="val 5161"/>
            </a:avLst>
          </a:prstGeom>
          <a:solidFill>
            <a:srgbClr val="F5F9FD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337560"/>
            <a:ext cx="73152" cy="1417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502152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88720" y="3895344"/>
            <a:ext cx="94914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boshida: 4995 / 9345 × 100 = 53,45%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oxirida: 5300 / 9700 × 100 = 54,64%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AV faol qismining umumiy AVdagi hissasi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4389120" cy="100584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3E7C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3852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7CB1"/>
                </a:solidFill>
              </a:rPr>
              <a:t>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176272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Faollik koeff. = AVf / AV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73736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97880" y="1737360"/>
            <a:ext cx="73152" cy="150876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90195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Mazmuni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6480" y="2295144"/>
            <a:ext cx="45537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Asosiy vositalarning bevosita xizmat ko‘rsatish jarayonida qatnashadigan qismining ulushini ifodalaydi.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337560"/>
            <a:ext cx="9875520" cy="1417320"/>
          </a:xfrm>
          <a:prstGeom prst="roundRect">
            <a:avLst>
              <a:gd name="adj" fmla="val 5161"/>
            </a:avLst>
          </a:prstGeom>
          <a:solidFill>
            <a:srgbClr val="F0F7F6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337560"/>
            <a:ext cx="73152" cy="141732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502152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88720" y="3895344"/>
            <a:ext cx="94914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boshida: 3726 / 4995 = 0,746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oxirida: 4150 / 5300 = 0,783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O‘sish: +0,037 punkt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Eskirish koeffitsienti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4389120" cy="100584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3852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176272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Kesk = AVesk / AV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69164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97880" y="1691640"/>
            <a:ext cx="73152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85623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Mazmuni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6480" y="2249424"/>
            <a:ext cx="45537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Asosiy vositalar qiymatining qanchasi amortizatsiya orqali yangi mahsulot/xizmat tannarxiga o‘tkazilganini ko‘rsatadi.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520440"/>
            <a:ext cx="9875520" cy="1325880"/>
          </a:xfrm>
          <a:prstGeom prst="roundRect">
            <a:avLst>
              <a:gd name="adj" fmla="val 5517"/>
            </a:avLst>
          </a:prstGeom>
          <a:solidFill>
            <a:srgbClr val="FFF7F4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520440"/>
            <a:ext cx="73152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685032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88720" y="4078224"/>
            <a:ext cx="9491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1500 / 4995 = 0,30 → yil boshida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1800 / 5300 = 0,34 → yil oxirida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Eskirish 0,04 punktga oshgan.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Yaroqlilik koeffitsienti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4389120" cy="100584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3852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</a:rPr>
              <a:t>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176272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Kyar = AV qoldiq qiymati / AV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69164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97880" y="1691640"/>
            <a:ext cx="73152" cy="1645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85623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Mazmuni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6480" y="2249424"/>
            <a:ext cx="45537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Asosiy vositalarning foydalanishga yaroqli qiymat ulushini ifodalaydi. Amaliy jihatdan 1 − eskirish koeffitsientiga yaqin.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520440"/>
            <a:ext cx="9875520" cy="1325880"/>
          </a:xfrm>
          <a:prstGeom prst="roundRect">
            <a:avLst>
              <a:gd name="adj" fmla="val 5517"/>
            </a:avLst>
          </a:prstGeom>
          <a:solidFill>
            <a:srgbClr val="F5F9FD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520440"/>
            <a:ext cx="73152" cy="132588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685032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88720" y="4078224"/>
            <a:ext cx="9491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3495 / 4995 = 0,70 → yil boshida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3500 / 5300 = 0,66 → yil oxirida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Yaroqlilik 0,04 punktga kamaygan.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Yangilanish koeffitsienti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4846320" cy="100584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38528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Mazmuniy 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176272"/>
            <a:ext cx="4517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Kyang = ishga tushirilgan AV / davr oxiridagi AV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7373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1737360"/>
            <a:ext cx="73152" cy="1508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01952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Kitobdagi hisob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0" y="2295144"/>
            <a:ext cx="42793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800 / 5300 = 0,151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Demak, davr oxiridagi AVning 15,1% qismi yil davomida ishga tushirilgan.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Yangilanishning yuqori darajasi o‘z-o‘zidan yetarli emas: yangi aktivlarning unumdorligi va daromad yaratish qobiliyati ham baholanadi.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Chiqarilish koeffitsienti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4846320" cy="100584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38528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</a:rPr>
              <a:t>Kitobdagi yondashuv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176272"/>
            <a:ext cx="4517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Kchiq = hisobdan chiqarilgan AV / AV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7373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1737360"/>
            <a:ext cx="73152" cy="1508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01952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Kitobdagi natija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0" y="2295144"/>
            <a:ext cx="42793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648 / 5300 ≈ 0,122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Asosiy vositalarning ma’lum qismi hisobdan chiqarilgan.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Tahlilda yangilanish va chiqarilish koeffitsientlari birgalikda ko‘riladi: bu AV parkining yangilanish tezligini tushunishga yordam beradi.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 misoli: AV holatini hisoblash uchun boshlang‘ich ma’lumotlar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6.3-jadvalning absolyut ko‘rsatkichlari.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664208"/>
          <a:ext cx="10424160" cy="4343400"/>
        </p:xfrm>
        <a:graphic>
          <a:graphicData uri="http://schemas.openxmlformats.org/drawingml/2006/table">
            <a:tbl>
              <a:tblPr/>
              <a:tblGrid>
                <a:gridCol w="4114800"/>
                <a:gridCol w="192024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Ko‘rsatkich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Yil boshida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Yil oxirida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Farqi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AV qiymati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4995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5300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+305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Barcha aktivlar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9345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9700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+355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AV faol qismi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3726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4150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+424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Eskirish qiymati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1500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1800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+300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Qoldiq qiymat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3495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3500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+5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Ishga tushirilgan AV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800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+800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Hisobdan chiqarilgan AV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648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+648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6163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7B8794"/>
                </a:solidFill>
              </a:rPr>
              <a:t>Kitob: 6.3-jadval, 116-b.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 misoli: AV holati koeffitsientlari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6.3-jadvalning nisbiy ko‘rsatkichlari.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691640"/>
          <a:ext cx="10424160" cy="4069080"/>
        </p:xfrm>
        <a:graphic>
          <a:graphicData uri="http://schemas.openxmlformats.org/drawingml/2006/table">
            <a:tbl>
              <a:tblPr/>
              <a:tblGrid>
                <a:gridCol w="448056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Ko‘rsatkich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Yil boshida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Yil oxirida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O‘zgarish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AVning aktivlardagi ulushi, %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53,45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54,64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+1,19 p.p.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Faol qism hissasi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0,746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0,783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+0,037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Eskirish koeff.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0,30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0,34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+0,04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Yangilanish koeff.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–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0,151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+0,151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Yaroqlilik koeff.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0,70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0,66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−0,04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Chiqarilish koeff.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–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0,122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43B53"/>
                          </a:solidFill>
                        </a:rPr>
                        <a:t>+0,122</a:t>
                      </a:r>
                      <a:endParaRPr lang="en-US" sz="112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6.3-jadvaldan qanday xulosa chiqariladi?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562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Ijobiy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5840" y="2249424"/>
            <a:ext cx="4736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AV hajmi +6,1%, faol qism +11,4% — faol aktivlar tezroq o‘sgan.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0" y="1691640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8562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Ogohlantiruvchi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29400" y="2249424"/>
            <a:ext cx="4736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Eskirish 0,30 dan 0,34 gacha oshgan; yaroqlilik 0,70 dan 0,66 gacha pasaygan.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91840"/>
            <a:ext cx="73152" cy="123444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564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Yangilanish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3849624"/>
            <a:ext cx="4736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davomida AVning 15,1% miqdorida yangi aktiv ishga tushirilgan.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2918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3291840"/>
            <a:ext cx="73152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4564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Harakat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29400" y="3849624"/>
            <a:ext cx="4736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Chiqarilish koeffitsienti 12,2% — park tarkibida sezilarli almashinuv bor.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Asosiy vositalar bilan ta’minlanganlik ko‘rsatkichlari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6.4-rasm mazmuni asosida.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73152" cy="192024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9339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Fond sig‘imi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2386584"/>
            <a:ext cx="304495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Natijaning 1 so‘miga qancha asosiy vosita to‘g‘ri kelishini ko‘rsatadi.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828800"/>
            <a:ext cx="73152" cy="19202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9339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Fond bilan qurollanganlik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17720" y="2386584"/>
            <a:ext cx="304495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 xodimga to‘g‘ri keladigan faol asosiy vositalar qiymatini ifodalaydi.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828800"/>
            <a:ext cx="73152" cy="1920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99339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O‘z mablag‘lari ta’minoti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75320" y="2386584"/>
            <a:ext cx="304495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 so‘m o‘z mablag‘iga qancha AV to‘g‘ri kelishini ko‘rsatadi.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 sig‘imi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4389120" cy="100584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0B6E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3852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9"/>
                </a:solidFill>
              </a:rPr>
              <a:t>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176272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Fs = AV / Q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73736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0" y="1737360"/>
            <a:ext cx="73152" cy="155448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90195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Mazmuni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80760" y="2295144"/>
            <a:ext cx="45537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Sotilgan mahsulot (yoki xizmatlar)ning 1 so‘miga to‘g‘ri keladigan asosiy vositalar qiymati.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520440"/>
            <a:ext cx="9829800" cy="1417320"/>
          </a:xfrm>
          <a:prstGeom prst="roundRect">
            <a:avLst>
              <a:gd name="adj" fmla="val 5161"/>
            </a:avLst>
          </a:prstGeom>
          <a:solidFill>
            <a:srgbClr val="F2FAF2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520440"/>
            <a:ext cx="73152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685032"/>
            <a:ext cx="9445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88720" y="4078224"/>
            <a:ext cx="944575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boshida: 4995 / 4583,3 = 1,090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oxirida: 5300 / 5694,5 = 0,931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Kamayish: −0,159 → fond sig‘imi yaxshilangan.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 bilan qurollanganlik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1828800"/>
            <a:ext cx="4800600" cy="100584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3E7C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1938528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7CB1"/>
                </a:solidFill>
              </a:rPr>
              <a:t>Kitobdagi 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33272" y="2176272"/>
            <a:ext cx="4471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Fq = AV faol qismi / Xodimlar soni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89320" y="1737360"/>
            <a:ext cx="4709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89320" y="1737360"/>
            <a:ext cx="73152" cy="155448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901952"/>
            <a:ext cx="4325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Mazmuni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17920" y="2295144"/>
            <a:ext cx="43251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Har bir xodimga to‘g‘ri keladigan faol asosiy vositalar qiymati.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520440"/>
            <a:ext cx="9829800" cy="1417320"/>
          </a:xfrm>
          <a:prstGeom prst="roundRect">
            <a:avLst>
              <a:gd name="adj" fmla="val 5161"/>
            </a:avLst>
          </a:prstGeom>
          <a:solidFill>
            <a:srgbClr val="F0F7F6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20440"/>
            <a:ext cx="73152" cy="141732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85032"/>
            <a:ext cx="9445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97280" y="4078224"/>
            <a:ext cx="944575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boshida: 3726 / 112 = 33,3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oxirida: 4150 / 121 = 34,3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O‘sish: +1,0 yoki 3%.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O‘z mablag‘larining AV bilan ta’minlanganligi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572000" cy="100584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938528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" y="2176272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O‘zt = AV / O‘z mablag‘lari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0" y="1691640"/>
            <a:ext cx="73152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85623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talqini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80760" y="2249424"/>
            <a:ext cx="455371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Ko‘rsatkich 1 dan kam bo‘lsa ijobiyroq deb baholanadi; 1 dan yuqori bo‘lishi moliyaviy xavfni kuchaytirishi mumkin.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9875520" cy="1325880"/>
          </a:xfrm>
          <a:prstGeom prst="roundRect">
            <a:avLst>
              <a:gd name="adj" fmla="val 5517"/>
            </a:avLst>
          </a:prstGeom>
          <a:solidFill>
            <a:srgbClr val="FFF7F4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657600"/>
            <a:ext cx="73152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822192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43000" y="4215384"/>
            <a:ext cx="9491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boshida: 4995 / 4115 = 1,214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Yil oxirida: 5300 / 4500 = 1,178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O‘zgarish: −0,036.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0" y="6163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7B8794"/>
                </a:solidFill>
              </a:rPr>
              <a:t>Eslatma: kitob jadvalidagi “+0,036” belgisi arifmetik jihatdan “−0,036” bo‘lishi kerak.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 misoli: AV bilan ta’minlanganlik tahlili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6.2-jadval mazmuni.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0972800" cy="4663440"/>
        </p:xfrm>
        <a:graphic>
          <a:graphicData uri="http://schemas.openxmlformats.org/drawingml/2006/table">
            <a:tbl>
              <a:tblPr/>
              <a:tblGrid>
                <a:gridCol w="3886200"/>
                <a:gridCol w="1645920"/>
                <a:gridCol w="1645920"/>
                <a:gridCol w="1645920"/>
                <a:gridCol w="1645920"/>
              </a:tblGrid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Ko‘rsatkich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Yil boshi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Yil oxiri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Farqi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O‘sish, %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AV o‘rtacha qiymati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4995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5300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+305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106,1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Sotilgan mahsulot Q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4583,3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5694,5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+1111,2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124,3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AV faol qismi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3726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4150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+424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111,4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O‘z mablag‘lari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4115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4500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+385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109,4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Xodimlar soni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112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121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+9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108,0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Fond sig‘imi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1,090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0,931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−0,159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85,4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Fond bilan qurollanganlik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33,3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34,3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+1,0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103,0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O‘z mablag‘lari ta’minoti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1,214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1,178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−0,036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43B53"/>
                          </a:solidFill>
                        </a:rPr>
                        <a:t>97,0</a:t>
                      </a:r>
                      <a:endParaRPr lang="en-US" sz="9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Ta’minlanganlik tahlilidan boshqaruv xulosasi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73736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73152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0195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Mahsulot tezroq o‘sgan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5840" y="2295144"/>
            <a:ext cx="4736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Q +24,3% bo‘lsa, AV +6,1% ga oshgan. Bu aktivlardan foydalanish jadallashganini ko‘rsatadi.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1737360"/>
            <a:ext cx="73152" cy="146304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0195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Fond sig‘imi kamaygan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92240" y="2295144"/>
            <a:ext cx="4736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1,090 dan 0,931 gacha. Bir birlik natijaga kamroq AV talab qilinmoqda.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520440"/>
            <a:ext cx="73152" cy="14630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850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Qurollanganlik oshgan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4078224"/>
            <a:ext cx="4736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 xodimga faol AV qiymati 33,3 dan 34,3 gacha oshgan.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5204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3520440"/>
            <a:ext cx="73152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6850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Moliyaviy jihat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92240" y="4078224"/>
            <a:ext cx="4736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AV/o‘z mablag‘i nisbati biroz pasaygan, lekin 1 dan yuqori qolmoqda.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6E69"/>
                </a:solidFill>
              </a:rPr>
              <a:t>6.3</a:t>
            </a:r>
            <a:endParaRPr lang="en-US" sz="6200" dirty="0"/>
          </a:p>
        </p:txBody>
      </p:sp>
      <p:sp>
        <p:nvSpPr>
          <p:cNvPr id="3" name="Text 1"/>
          <p:cNvSpPr/>
          <p:nvPr/>
        </p:nvSpPr>
        <p:spPr>
          <a:xfrm>
            <a:off x="2148840" y="148132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324F"/>
                </a:solidFill>
              </a:rPr>
              <a:t>Asosiy vositalar samaradorligi tahlili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176272" y="2331720"/>
            <a:ext cx="8458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</a:rPr>
              <a:t>Rentabellik, mahsuldorlik, daromadlilik va ularning omilli tahlili.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76272" y="3703320"/>
            <a:ext cx="80467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Samaradorlik ko‘rsatkichlarining uchligi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6.4-rasm mazmuni.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933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AV RENTABELLIGI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2386584"/>
            <a:ext cx="309067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 so‘m AVga qancha sof foyda to‘g‘ri keladi.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828800"/>
            <a:ext cx="73152" cy="182880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933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AV MAHSULDORLIGI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9432" y="2386584"/>
            <a:ext cx="309067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 so‘m AVga qancha sotilgan mahsulot/xizmat to‘g‘ri keladi.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28432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28432" y="1828800"/>
            <a:ext cx="73152" cy="182880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9933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AV DAROMADLILIGI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57032" y="2386584"/>
            <a:ext cx="309067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1 so‘m AVga qancha yalpi daromad to‘g‘ri keladi.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 rentabelligi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74520"/>
            <a:ext cx="4572000" cy="105156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84248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</a:rPr>
              <a:t>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221992"/>
            <a:ext cx="42428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AVR = Sof foyda / AV × 100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783080"/>
            <a:ext cx="4892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97880" y="1783080"/>
            <a:ext cx="73152" cy="1600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947672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6480" y="2340864"/>
            <a:ext cx="45079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368 / 4747,5 × 100 = 7,75%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496,2 / 5147,5 × 100 = 9,64%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O‘sish: +1,89 foiz punkt.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Mazmuni: asosiy vositalarga kiritilgan kapitalning foyda yaratish darajasini ko‘rsatadi.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 mahsuldorligi (fond qaytimi)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74520"/>
            <a:ext cx="4572000" cy="105156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0B6E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84248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9"/>
                </a:solidFill>
              </a:rPr>
              <a:t>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221992"/>
            <a:ext cx="42428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MAV = Q / AV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783080"/>
            <a:ext cx="4892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97880" y="1783080"/>
            <a:ext cx="73152" cy="160020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947672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6480" y="2340864"/>
            <a:ext cx="45079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4583,3 / 4747,5 = 0,97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5694,5 / 5147,5 = 1,11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O‘sish: +0,14 so‘m yoki 14,4%.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Mazmuni: 1 so‘m asosiy vosita qancha mahsulot/xizmat natijasini yaratganini ko‘rsatadi.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 daromadliligi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874520"/>
            <a:ext cx="4572000" cy="105156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3E7C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984248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7CB1"/>
                </a:solidFill>
              </a:rPr>
              <a:t>Formula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" y="2221992"/>
            <a:ext cx="42428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AVD = Yalpi daromad / AV × 100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783080"/>
            <a:ext cx="4892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97880" y="1783080"/>
            <a:ext cx="73152" cy="160020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947672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Kitob misoli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6480" y="2340864"/>
            <a:ext cx="45079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511 / 4747,5 × 100 = 10,76%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711,7 / 5147,5 × 100 = 13,83%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O‘sish: +3,07 foiz punkt.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Mazmuni: asosiy vositalarning daromad yaratish imkoniyatini ifodalaydi.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 misoli: AV samaradorligi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6.3-jadval, 120-bet.</a:t>
            </a:r>
            <a:endParaRPr lang="en-US" sz="12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600200"/>
          <a:ext cx="10927080" cy="4526280"/>
        </p:xfrm>
        <a:graphic>
          <a:graphicData uri="http://schemas.openxmlformats.org/drawingml/2006/table">
            <a:tbl>
              <a:tblPr/>
              <a:tblGrid>
                <a:gridCol w="3977640"/>
                <a:gridCol w="1691640"/>
                <a:gridCol w="1691640"/>
                <a:gridCol w="1645920"/>
                <a:gridCol w="169164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Ko‘rsatkich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Yil boshi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Yil oxiri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Farqi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O‘sish, %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Sof foyda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368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496.2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+128,2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134,8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Sotilgan mahsulot Q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4583,3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5694,5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+1111,2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124,3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Yalpi daromad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511,0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711,7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+200,7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139,3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AV o‘rtacha yillik qiymati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4747,5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5147,5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+400,0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108,4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AV rentabelligi, %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7,75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9,64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+1,89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124,4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AV mahsuldorligi, so‘m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0,97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1,11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+0,14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114,4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AV daromadliligi, %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10,76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13,83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+3,07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43B53"/>
                          </a:solidFill>
                        </a:rPr>
                        <a:t>128,5</a:t>
                      </a:r>
                      <a:endParaRPr lang="en-US" sz="98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Samaradorlik dinamikasini talqin qilish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73152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562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Foyda +34,8%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5840" y="2249424"/>
            <a:ext cx="4736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AV rentabelligi 7,75% dan 9,64% gacha oshgan.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0" y="1691640"/>
            <a:ext cx="73152" cy="123444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8562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Mahsulot +24,3%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29400" y="2249424"/>
            <a:ext cx="4736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AV mahsuldorligi 0,97 dan 1,11 so‘mga oshgan.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91840"/>
            <a:ext cx="73152" cy="12344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564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Daromad +39,3%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3849624"/>
            <a:ext cx="4736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AV daromadliligi 10,76% dan 13,83% gacha oshgan.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2918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329184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4564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AV +8,4%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29400" y="3849624"/>
            <a:ext cx="4736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Natijaviy ko‘rsatkichlar AVdan tezroq o‘sgan — bu samaradorlikning yaxshilanganini ko‘rsatadi.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 rentabelligining omilli modeli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Xoliqulov kitobidagi multiplikativ bog‘lanish.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058400" cy="109728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938528"/>
            <a:ext cx="9729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9"/>
                </a:solidFill>
              </a:rPr>
              <a:t>Multiplikativ model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78992" y="2176272"/>
            <a:ext cx="9729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AVR = (F / D) × (D / Q) × (Q / AV) × 100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429000"/>
            <a:ext cx="73152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593592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F/D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43000" y="3986784"/>
            <a:ext cx="2862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Foydaning daromaddagi ulushi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34290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3429000"/>
            <a:ext cx="73152" cy="12344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593592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D/Q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800600" y="3986784"/>
            <a:ext cx="2862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Daromadning sotilgan mahsulotdagi hissasi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34290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3429000"/>
            <a:ext cx="73152" cy="123444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593592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Q/AV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58200" y="3986784"/>
            <a:ext cx="2862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AV mahsuldorligi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Zanjirli almashtirish mantiqi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Omillar ketma-ket almashtirilib, har birining rentabellik o‘zgarishiga hissasi ajratiladi.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965960"/>
            <a:ext cx="73152" cy="132588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3055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R₀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2523744"/>
            <a:ext cx="21305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x₁₀ × x₂₀ × x₃₀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52928" y="2322576"/>
            <a:ext cx="438912" cy="457200"/>
          </a:xfrm>
          <a:prstGeom prst="chevron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9659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965960"/>
            <a:ext cx="73152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13055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R₁*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749040" y="2523744"/>
            <a:ext cx="21305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x₁₁ × x₂₀ × x₃₀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15000" y="2322576"/>
            <a:ext cx="438912" cy="457200"/>
          </a:xfrm>
          <a:prstGeom prst="chevron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19659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1965960"/>
            <a:ext cx="73152" cy="132588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213055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R₂*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11112" y="2523744"/>
            <a:ext cx="21305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x₁₁ × x₂₁ × x₃₀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77072" y="2322576"/>
            <a:ext cx="438912" cy="457200"/>
          </a:xfrm>
          <a:prstGeom prst="chevron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44584" y="19659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44584" y="1965960"/>
            <a:ext cx="73152" cy="132588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213055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R₁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473184" y="2523744"/>
            <a:ext cx="21305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x₁₁ × x₂₁ × x₃₁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4251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Ta’sirlar: ΔR(x₁)=R₁*−R₀;  ΔR(x₂)=R₂*−R₁*;  ΔR(x₃)=R₁−R₂*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Omilli tahlil uchun boshlang‘ich ko‘rsatkichlar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Kitobdagi 123-bet jadvali.</a:t>
            </a:r>
            <a:endParaRPr lang="en-US" sz="12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10149840" cy="3200400"/>
        </p:xfrm>
        <a:graphic>
          <a:graphicData uri="http://schemas.openxmlformats.org/drawingml/2006/table">
            <a:tbl>
              <a:tblPr/>
              <a:tblGrid>
                <a:gridCol w="4663440"/>
                <a:gridCol w="1828800"/>
                <a:gridCol w="1828800"/>
                <a:gridCol w="18288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Ko‘rsatkich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O‘tgan yil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Hisobot yili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Farqi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Foyda / daromad, %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72,02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69,72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−2,30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Daromad / mahsulot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0,111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0,125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+0,014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AV mahsuldorligi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0,97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1,106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+0,136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AV rentabelligi, %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7,75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9,64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43B53"/>
                          </a:solidFill>
                        </a:rPr>
                        <a:t>+1,89</a:t>
                      </a:r>
                      <a:endParaRPr lang="en-US" sz="114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 rentabelligi o‘sishining omillar bo‘yicha taqsimoti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9808" y="18288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828800"/>
            <a:ext cx="73152" cy="2011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99339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Foyda ulushi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78408" y="2386584"/>
            <a:ext cx="304495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−0,24 p.p.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69,72% gacha pasayish rentabellikni kamaytirgan.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44568" y="18288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44568" y="1828800"/>
            <a:ext cx="73152" cy="201168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99339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Daromad ulushi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73168" y="2386584"/>
            <a:ext cx="304495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+0,94 p.p.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D/Q 0,111 dan 0,125 gacha oshgan.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39328" y="18288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39328" y="1828800"/>
            <a:ext cx="73152" cy="201168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7928" y="199339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AV mahsuldorligi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567928" y="2386584"/>
            <a:ext cx="304495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+1,19 p.p.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Q/AV 0,97 dan 1,106 gacha oshgan.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" y="438912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Tekshiruv: −0,24 + 0,94 + 1,19 = +1,89 foiz punkt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0" y="6163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7B8794"/>
                </a:solidFill>
              </a:rPr>
              <a:t>Kitob matnidagi “0,94% ga kamaytirish” iborasi arifmetik natijaga ko‘ra “oshirish” deb talqin qilindi.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Omilli tahlildan boshqaruv qaroriga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1498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6695" indent="-226695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</a:rPr>
              <a:t>Foydaning daromaddagi ulushi pasaygan — xarajatlar tarkibini chuqur tahlil qilish kerak.</a:t>
            </a:r>
            <a:endParaRPr lang="en-US" sz="1700" dirty="0"/>
          </a:p>
          <a:p>
            <a:pPr marL="226695" indent="-226695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</a:rPr>
              <a:t>Daromadning mahsulotdagi ulushi oshgan — xizmat marjasi yaxshilangan.</a:t>
            </a:r>
            <a:endParaRPr lang="en-US" sz="1700" dirty="0"/>
          </a:p>
          <a:p>
            <a:pPr marL="226695" indent="-226695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</a:rPr>
              <a:t>AV mahsuldorligi eng katta ijobiy omil — asosiy vositalardan foydalanish jadallashgan.</a:t>
            </a:r>
            <a:endParaRPr lang="en-US" sz="1700" dirty="0"/>
          </a:p>
          <a:p>
            <a:pPr marL="226695" indent="-226695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</a:rPr>
              <a:t>Keyingi rezerv: faol AV ulushini va uskunalar yuklanishini oshirish.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F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6E69"/>
                </a:solidFill>
              </a:rPr>
              <a:t>6.4</a:t>
            </a:r>
            <a:endParaRPr lang="en-US" sz="6200" dirty="0"/>
          </a:p>
        </p:txBody>
      </p:sp>
      <p:sp>
        <p:nvSpPr>
          <p:cNvPr id="3" name="Text 1"/>
          <p:cNvSpPr/>
          <p:nvPr/>
        </p:nvSpPr>
        <p:spPr>
          <a:xfrm>
            <a:off x="2148840" y="148132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324F"/>
                </a:solidFill>
              </a:rPr>
              <a:t>Asbob-uskunalardan foydalanish tahlili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176272" y="2331720"/>
            <a:ext cx="8458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</a:rPr>
              <a:t>Uskunalarni o‘rnatish, ishga tushirish, xizmat ko‘rsatish quvvati hamda intensiv va ekstensiv foydalanish ko‘rsatkichlari.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76272" y="3703320"/>
            <a:ext cx="80467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Asbob-uskunalar — AV faol qismining yuragi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Ularning foydalanish darajasi xizmat ko‘rsatish quvvati va samaradorlikka bevosita ta’sir qiladi.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920240"/>
            <a:ext cx="73152" cy="141732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848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Mavjud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478024"/>
            <a:ext cx="21031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Korxonada mavjud uskunalar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52928" y="2368296"/>
            <a:ext cx="320040" cy="384048"/>
          </a:xfrm>
          <a:prstGeom prst="chevron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92024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920240"/>
            <a:ext cx="73152" cy="1417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848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O‘rnatilgan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57600" y="2478024"/>
            <a:ext cx="21031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Ish joyiga o‘rnatilgan uskunalar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87568" y="2368296"/>
            <a:ext cx="320040" cy="384048"/>
          </a:xfrm>
          <a:prstGeom prst="chevron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92024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920240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848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Foydalanishga qabul qilingan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92240" y="2478024"/>
            <a:ext cx="21031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Ishga tayyor holatga keltirilgan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22208" y="2368296"/>
            <a:ext cx="320040" cy="384048"/>
          </a:xfrm>
          <a:prstGeom prst="chevron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192024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1920240"/>
            <a:ext cx="73152" cy="141732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20848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Amalda ishlayotgan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326880" y="2478024"/>
            <a:ext cx="21031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Haqiqiy xizmat jarayonida qatnashayotgan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Asbob-uskunalardan foydalanishni baholovchi koeffitsientlar</a:t>
            </a:r>
            <a:endParaRPr lang="en-US" sz="2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10607040" cy="3383280"/>
        </p:xfrm>
        <a:graphic>
          <a:graphicData uri="http://schemas.openxmlformats.org/drawingml/2006/table">
            <a:tbl>
              <a:tblPr/>
              <a:tblGrid>
                <a:gridCol w="3931920"/>
                <a:gridCol w="6492240"/>
              </a:tblGrid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43B53"/>
                          </a:solidFill>
                        </a:rPr>
                        <a:t>Ko‘rsatkich</a:t>
                      </a:r>
                      <a:endParaRPr lang="en-US" sz="113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43B53"/>
                          </a:solidFill>
                        </a:rPr>
                        <a:t>Mazmuni</a:t>
                      </a:r>
                      <a:endParaRPr lang="en-US" sz="113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43B53"/>
                          </a:solidFill>
                        </a:rPr>
                        <a:t>Umumiy quvvat koeffitsienti</a:t>
                      </a:r>
                      <a:endParaRPr lang="en-US" sz="113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43B53"/>
                          </a:solidFill>
                        </a:rPr>
                        <a:t>Mavjud asbob-uskunalarning qanchasi o‘rnatilganini ifodalaydi.</a:t>
                      </a:r>
                      <a:endParaRPr lang="en-US" sz="113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43B53"/>
                          </a:solidFill>
                        </a:rPr>
                        <a:t>Foydalanishga topshirilish koeffitsienti</a:t>
                      </a:r>
                      <a:endParaRPr lang="en-US" sz="113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43B53"/>
                          </a:solidFill>
                        </a:rPr>
                        <a:t>O‘rnatilgan uskunalarning qancha qismi foydalanish uchun qabul qilinganini ko‘rsatadi.</a:t>
                      </a:r>
                      <a:endParaRPr lang="en-US" sz="113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43B53"/>
                          </a:solidFill>
                        </a:rPr>
                        <a:t>Ishga tushirilgan uskunalardan foydalanish koeffitsienti</a:t>
                      </a:r>
                      <a:endParaRPr lang="en-US" sz="113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43B53"/>
                          </a:solidFill>
                        </a:rPr>
                        <a:t>Qabul qilingan uskunalarning qanchasi amalda xizmat ko‘rsatishda qatnashayotganini ko‘rsatadi.</a:t>
                      </a:r>
                      <a:endParaRPr lang="en-US" sz="113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Xizmat ko‘rsatish quvvati tushunchasi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783080"/>
            <a:ext cx="10195560" cy="1371600"/>
          </a:xfrm>
          <a:prstGeom prst="roundRect">
            <a:avLst/>
          </a:prstGeom>
          <a:solidFill>
            <a:srgbClr val="EEF7F6"/>
          </a:solidFill>
          <a:ln w="17780">
            <a:solidFill>
              <a:srgbClr val="0B6E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093976"/>
            <a:ext cx="9555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Korxonaning mavjud bino-inshootlari, asbob-uskunalari va texnologiyalaridan foydalanib ma’lum davrda qancha ish va xizmat bajarish imkoniyatlari yig‘indisi.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3657600"/>
            <a:ext cx="8503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3657600"/>
            <a:ext cx="73152" cy="1417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3822192"/>
            <a:ext cx="8119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Nima uchun muhim?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057400" y="4215384"/>
            <a:ext cx="81198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Quvvatning o‘zi yetarli emas. Tahlil haqiqiy yuklanish, vaqt bo‘yicha foydalanish va bir vaqt birligidagi unumdorlikni ajratib ko‘rsatadi.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Xizmat ko‘rsatish quvvatidan foydalanish ko‘rsatkichlari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28800"/>
            <a:ext cx="73152" cy="182880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933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UMUMIY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5840" y="2386584"/>
            <a:ext cx="295351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Reja yoki haqiqiy xizmat hajmining mavjud quvvatga nisbati.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1828800"/>
            <a:ext cx="73152" cy="1828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933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INTENSIV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63440" y="2386584"/>
            <a:ext cx="295351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Bir kun / bir soat ichidagi unumdorlik yoki quvvat yuklanishi.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1828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92440" y="1828800"/>
            <a:ext cx="73152" cy="182880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9933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EKSTENSIV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21040" y="2386584"/>
            <a:ext cx="295351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Mavjud quvvatdan belgilangan ish vaqtida foydalanish darajasi.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" y="4251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Umumiy foydalanish natijasi vaqt omili va unumdorlik omilining birgalikdagi ta’siri bilan shakllanadi.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Intensiv va ekstensiv foydalanish farqi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" cy="292608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01952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EKSTENSIV — “qancha vaqt?”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51560" y="2295144"/>
            <a:ext cx="450799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Uskuna qancha vaqt ishladi?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ish kunlari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smenalar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ish soatlari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bekor turishlar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737360"/>
            <a:ext cx="73152" cy="2926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01952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INTENSIV — “qanchalik unumli?”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37960" y="2295144"/>
            <a:ext cx="450799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Uskuna ishlagan vaqtida qancha xizmat/mahsulot yaratdi?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1 mashina-soatdagi hajm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• haqiqiy va potensial unumdorlik nisbati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Asbob-uskunalar ish vaqti balansi</a:t>
            </a:r>
            <a:endParaRPr lang="en-US" sz="26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664208"/>
          <a:ext cx="10698480" cy="374904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Fond turi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Mazmuni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Kalendar fondi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Kalendar kunlari × 24 soat × o‘rnatilgan uskunalar soni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Rejadagi fond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Rejadagi ish kunlari × ish vaqti × reja smena koeff. × uskunalar soni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Haqiqiy fond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Haqiqiy ish kunlari × ish vaqti × haqiqiy smena koeff. × uskunalar soni (bo‘sh turishlarni hisobga olib)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Ish rejimi fondi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B53"/>
                          </a:solidFill>
                        </a:rPr>
                        <a:t>Korxonada belgilangan ish rejimiga mos vaqt fondi</a:t>
                      </a:r>
                      <a:endParaRPr lang="en-US" sz="11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Ish vaqti fondlari: kitobdagi formulalar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474720" cy="105156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5260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84708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606D"/>
                </a:solidFill>
              </a:rPr>
              <a:t>Kalendar fondi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96112" y="2084832"/>
            <a:ext cx="31455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IVFₖ = IKₖ × 24 × 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70832" y="1737360"/>
            <a:ext cx="3474720" cy="105156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3E7C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424" y="184708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7CB1"/>
                </a:solidFill>
              </a:rPr>
              <a:t>Reja fondi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35424" y="2084832"/>
            <a:ext cx="31455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IVFᵣ = IKᵣ × IV × Ks₀ × 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28432" y="1737360"/>
            <a:ext cx="3474720" cy="105156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3024" y="184708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9"/>
                </a:solidFill>
              </a:rPr>
              <a:t>Haqiqiy fond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93024" y="2084832"/>
            <a:ext cx="31455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IVFₕ = IKₕ × IV × Ks₁ × N − 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102412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43B53"/>
                </a:solidFill>
              </a:rPr>
              <a:t>IK — ish kunlari; IV — ish vaqti; Ks — smena koeffitsienti; N — o‘rnatilgan uskunalar soni; P — haqiqiy bo‘sh qolish vaqti.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Uskunalardan foydalanishning umumiy darajasi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965960" y="1828800"/>
            <a:ext cx="8229600" cy="1188720"/>
          </a:xfrm>
          <a:prstGeom prst="roundRect">
            <a:avLst/>
          </a:prstGeom>
          <a:solidFill>
            <a:srgbClr val="F0F7F6"/>
          </a:solidFill>
          <a:ln w="16510">
            <a:solidFill>
              <a:srgbClr val="0B6E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30552" y="1938528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9"/>
                </a:solidFill>
              </a:rPr>
              <a:t>Mantiqiy bog‘lanish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130552" y="2176272"/>
            <a:ext cx="7900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Kintegral ≈ Kekstensiv × Kintensiv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365760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657600"/>
            <a:ext cx="73152" cy="137160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2219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Ekstensiv rezerv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88720" y="4215384"/>
            <a:ext cx="44622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Bekor turishlarni qisqartirish, smena koeffitsientini yaxshilash, reja vaqtiga yaqinlashish.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365760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3657600"/>
            <a:ext cx="73152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82219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Intensiv rezerv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83680" y="4215384"/>
            <a:ext cx="44622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Bir mashina-soatdagi xizmat hajmini oshirish, texnologiya va malakani yaxshilash.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Yangilangan normativ izoh: 5-son BHMS “Asosiy vositalar”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Kitobdagi nazariy tahlilga zamonaviy hisob siyosati kontekstini qo‘shish uchun.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73152" cy="150876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Amaldagi standart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2203704"/>
            <a:ext cx="482803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5-son BHMS 2024-yil 9-avgustda 3546-son bilan ro‘yxatdan o‘tgan va 2025-yil 1-yanvardan kuchga kirgan.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45920"/>
            <a:ext cx="73152" cy="150876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2026 holati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0" y="2203704"/>
            <a:ext cx="482803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Lex.uzdagi amaldagi versiyada hujjat 2026-yil 5-avgustgacha bo‘lgan o‘zgartirishlarni aks ettiradi.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520440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85032"/>
            <a:ext cx="1022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Asosiy vosita ta’rifi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05840" y="4078224"/>
            <a:ext cx="102229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Bir yildan ortiq foydalaniladigan, xizmat ko‘rsatish/ish bajarish yoki ma’muriy vazifalarda qo‘llaniladigan moddiy aktiv.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Manba: O‘zbekiston Respublikasi 5-son BHMS “Asosiy vositalar”, Lex.uz (amaldagi tahrir).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Amortizatsiya usullari: amaldagi 5-son BHMS bo‘yicha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Kitobdagi 12–13-savollarni hozirgi normativ talab bilan bog‘lash.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166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6479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To‘g‘ri chiziqli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2157984"/>
            <a:ext cx="47823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Qiymat foydali xizmat muddati davomida teng ulushlarda taqsimlanadi.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166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600200"/>
            <a:ext cx="73152" cy="128016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76479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Ishlab chiqarish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3680" y="2157984"/>
            <a:ext cx="47823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Amortizatsiya xizmat/ish hajmiga mutanosib hisoblanadi.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166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46120"/>
            <a:ext cx="73152" cy="1280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1071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Qoldiqni kamaytirish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60120" y="3803904"/>
            <a:ext cx="47823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Ikki baravar amortizatsiya me’yori bilan jadallashtirilgan usul.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246120"/>
            <a:ext cx="5166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246120"/>
            <a:ext cx="73152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41071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Yillar yig‘indisi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83680" y="3803904"/>
            <a:ext cx="47823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Kumulyativ usul — dastlabki yillarda ko‘proq amortizatsiya.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49834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Qo‘llaniladigan usul hisob siyosatida aks ettiriladi; bir turdagi obyektlarga bitta usul qo‘llaniladi.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mini-keys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Quyidagi raqamlar o‘quv mashqi uchun shartli tuzilgan.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73152" cy="150876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56232"/>
            <a:ext cx="1022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Shart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2249424"/>
            <a:ext cx="102229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Turistik kompaniyada: AV = 8 400 mln so‘m; faol AV = 6 300 mln; eskirish = 2 520 mln; qoldiq qiymat = 5 880 mln; sof foyda = 840 mln; xizmatlar hajmi = 10 500 mln.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Topshiriq: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99669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6693" indent="-206693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Faol qism ulushini hisoblang.</a:t>
            </a:r>
            <a:endParaRPr lang="en-US" sz="1550" dirty="0"/>
          </a:p>
          <a:p>
            <a:pPr marL="206693" indent="-206693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Eskirish va yaroqlilik koeffitsientlarini aniqlang.</a:t>
            </a:r>
            <a:endParaRPr lang="en-US" sz="1550" dirty="0"/>
          </a:p>
          <a:p>
            <a:pPr marL="206693" indent="-206693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AV rentabelligini hisoblang.</a:t>
            </a:r>
            <a:endParaRPr lang="en-US" sz="1550" dirty="0"/>
          </a:p>
          <a:p>
            <a:pPr marL="206693" indent="-206693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AV mahsuldorligini hisoblang va natijalarni qisqa izohlang.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Mini-keys yechimi</a:t>
            </a:r>
            <a:endParaRPr lang="en-US" sz="26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7360"/>
          <a:ext cx="10149840" cy="3520440"/>
        </p:xfrm>
        <a:graphic>
          <a:graphicData uri="http://schemas.openxmlformats.org/drawingml/2006/table">
            <a:tbl>
              <a:tblPr/>
              <a:tblGrid>
                <a:gridCol w="3840480"/>
                <a:gridCol w="3657600"/>
                <a:gridCol w="237744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Ko‘rsatkich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Hisob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Natija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Faol qism ulushi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6300 / 8400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0,75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Eskirish koeff.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2520 / 8400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0,30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Yaroqlilik koeff.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5880 / 8400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0,70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AV rentabelligi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840 / 8400 × 100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10,0%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AV mahsuldorligi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10500 / 8400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</a:rPr>
                        <a:t>1,25 so‘m</a:t>
                      </a:r>
                      <a:endParaRPr lang="en-US" sz="12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54406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Qisqa xulosa: AVning 75% faol qism; har 1 so‘m AV 1,25 so‘mlik xizmat hajmini yaratmoqda; rentabellik 10%.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197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Kitobdagi savollar asosida qisqartirilgan blok.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3784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92024" indent="-192024">
              <a:buSzPct val="100000"/>
              <a:buChar char="•"/>
            </a:pPr>
            <a:r>
              <a:rPr lang="en-US" sz="1440" dirty="0">
                <a:solidFill>
                  <a:srgbClr val="243B53"/>
                </a:solidFill>
              </a:rPr>
              <a:t>Asosiy vositalar tarkibi, tuzilishi va dinamikasi qanday tahlil qilinadi?</a:t>
            </a:r>
            <a:endParaRPr lang="en-US" sz="1440" dirty="0"/>
          </a:p>
          <a:p>
            <a:pPr marL="192024" indent="-192024">
              <a:buSzPct val="100000"/>
              <a:buChar char="•"/>
            </a:pPr>
            <a:r>
              <a:rPr lang="en-US" sz="1440" dirty="0">
                <a:solidFill>
                  <a:srgbClr val="243B53"/>
                </a:solidFill>
              </a:rPr>
              <a:t>AVning texnik holatini qaysi ko‘rsatkichlar ifodalaydi?</a:t>
            </a:r>
            <a:endParaRPr lang="en-US" sz="1440" dirty="0"/>
          </a:p>
          <a:p>
            <a:pPr marL="192024" indent="-192024">
              <a:buSzPct val="100000"/>
              <a:buChar char="•"/>
            </a:pPr>
            <a:r>
              <a:rPr lang="en-US" sz="1440" dirty="0">
                <a:solidFill>
                  <a:srgbClr val="243B53"/>
                </a:solidFill>
              </a:rPr>
              <a:t>Yangilanish va chiqarilish koeffitsientlari qanday aniqlanadi?</a:t>
            </a:r>
            <a:endParaRPr lang="en-US" sz="1440" dirty="0"/>
          </a:p>
          <a:p>
            <a:pPr marL="192024" indent="-192024">
              <a:buSzPct val="100000"/>
              <a:buChar char="•"/>
            </a:pPr>
            <a:r>
              <a:rPr lang="en-US" sz="1440" dirty="0">
                <a:solidFill>
                  <a:srgbClr val="243B53"/>
                </a:solidFill>
              </a:rPr>
              <a:t>Fond bilan qurollanganlik va fond sig‘imi qanday hisoblanadi?</a:t>
            </a:r>
            <a:endParaRPr lang="en-US" sz="1440" dirty="0"/>
          </a:p>
          <a:p>
            <a:pPr marL="192024" indent="-192024">
              <a:buSzPct val="100000"/>
              <a:buChar char="•"/>
            </a:pPr>
            <a:r>
              <a:rPr lang="en-US" sz="1440" dirty="0">
                <a:solidFill>
                  <a:srgbClr val="243B53"/>
                </a:solidFill>
              </a:rPr>
              <a:t>AV samaradorligi qaysi ko‘rsatkichlar orqali baholanadi?</a:t>
            </a:r>
            <a:endParaRPr lang="en-US" sz="1440" dirty="0"/>
          </a:p>
          <a:p>
            <a:pPr marL="192024" indent="-192024">
              <a:buSzPct val="100000"/>
              <a:buChar char="•"/>
            </a:pPr>
            <a:r>
              <a:rPr lang="en-US" sz="1440" dirty="0">
                <a:solidFill>
                  <a:srgbClr val="243B53"/>
                </a:solidFill>
              </a:rPr>
              <a:t>Uskunalardan intensiv va ekstensiv foydalanish o‘rtasidagi farq nima?</a:t>
            </a:r>
            <a:endParaRPr lang="en-US" sz="1440" dirty="0"/>
          </a:p>
          <a:p>
            <a:pPr marL="192024" indent="-192024">
              <a:buSzPct val="100000"/>
              <a:buChar char="•"/>
            </a:pPr>
            <a:r>
              <a:rPr lang="en-US" sz="1440" dirty="0">
                <a:solidFill>
                  <a:srgbClr val="243B53"/>
                </a:solidFill>
              </a:rPr>
              <a:t>Amortizatsiya usuli korxona xarajatlari va foydasiga qanday ta’sir qiladi?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eng muhim xulosalari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475488" cy="329184"/>
          </a:xfrm>
          <a:prstGeom prst="roundRect">
            <a:avLst>
              <a:gd name="adj" fmla="val 22222"/>
            </a:avLst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6642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572768"/>
            <a:ext cx="9784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Asosiy vositalar miqdori emas, ularning tarkibi va faol qismi ham muhim.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96312"/>
            <a:ext cx="475488" cy="329184"/>
          </a:xfrm>
          <a:prstGeom prst="roundRect">
            <a:avLst>
              <a:gd name="adj" fmla="val 22222"/>
            </a:avLst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560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9784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Eskirish va yaroqlilik texnik holatni; yangilanish va chiqarilish esa harakatni ko‘rsatadi.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392424"/>
            <a:ext cx="475488" cy="329184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4564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3364992"/>
            <a:ext cx="9784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Fond sig‘imi pasayishi va mahsuldorlik oshishi — samaradorlikning ijobiy belgisi.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88536"/>
            <a:ext cx="475488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352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4261104"/>
            <a:ext cx="9784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AV rentabelligini omilli tahlil qilish boshqaruv rezervlarini aniq ko‘rsatadi.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475488" cy="329184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52486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5157216"/>
            <a:ext cx="9784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</a:rPr>
              <a:t>Uskunalardan foydalanish vaqt (ekstensiv) va unumdorlik (intensiv) omillari orqali baholanadi.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Foydalanilgan manbalar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73152" cy="1508760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10512"/>
            <a:ext cx="1013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Asosiy manba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51560" y="2203704"/>
            <a:ext cx="1013155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A.N. Xoliqulov. “Turistik korxonalar faoliyati tahlili”. O‘quv qo‘llanma. Samarqand: STEP-SEL, 2024. VI bob, 112–129-betlar.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474720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5ED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474720"/>
            <a:ext cx="73152" cy="150876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639312"/>
            <a:ext cx="1013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Normativ yangilanish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51560" y="4032504"/>
            <a:ext cx="1013155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</a:rPr>
              <a:t>O‘zbekiston Respublikasi buxgalteriya hisobining milliy standarti (5-son BHMS) “Asosiy vositalar”. Ro‘yxat №3546. Amaldagi tahrirda 2026-yil 5-avgustgacha bo‘lgan o‘zgartirishlar aks etgan.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5257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Taqdimotning asosiy mazmuni Xoliqulov kitobidan olindi; faqat normativ-amortizatsiya bo‘yicha yangilangan izoh amaldagi BHMS bilan boyitildi.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O‘quv taqdimoti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6-mavzu. Turistik korxonalarning asosiy vositalari va boshqa oborotdan tashqari aktivlari tahlili</dc:title>
  <dc:subject>Turistik korxonalar faoliyati tahlili — 6-mavzu</dc:subject>
  <dc:creator>OpenAI</dc:creator>
  <cp:lastModifiedBy>OpenAI</cp:lastModifiedBy>
  <cp:revision>1</cp:revision>
  <dcterms:created xsi:type="dcterms:W3CDTF">2026-09-15T03:54:25Z</dcterms:created>
  <dcterms:modified xsi:type="dcterms:W3CDTF">2026-09-15T03:54:25Z</dcterms:modified>
</cp:coreProperties>
</file>