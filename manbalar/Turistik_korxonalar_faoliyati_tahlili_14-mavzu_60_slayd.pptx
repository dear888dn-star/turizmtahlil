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14.2-jadval bo‘yicha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Ta’sir, mln so‘m</c:v>
                </c:pt>
              </c:strCache>
            </c:strRef>
          </c:tx>
          <c:spPr>
            <a:solidFill>
              <a:srgbClr val="187A80"/>
            </a:solidFill>
          </c:spPr>
          <c:cat>
            <c:strRef>
              <c:f>Sheet1!$A$2:$A$5</c:f>
              <c:strCache>
                <c:ptCount val="4"/>
                <c:pt idx="0">
                  <c:v>Guruhlar soni</c:v>
                </c:pt>
                <c:pt idx="1">
                  <c:v>1 guruh turistlari</c:v>
                </c:pt>
                <c:pt idx="2">
                  <c:v>Xorijiylar ulushi</c:v>
                </c:pt>
                <c:pt idx="3">
                  <c:v>1 turistdan tushum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39.0</c:v>
                </c:pt>
                <c:pt idx="1">
                  <c:v>12.5</c:v>
                </c:pt>
                <c:pt idx="2">
                  <c:v>10.4</c:v>
                </c:pt>
                <c:pt idx="3">
                  <c:v>51.0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822960"/>
            <a:ext cx="1060704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DA7AD"/>
                </a:solidFill>
              </a:defRPr>
            </a:pPr>
            <a:r>
              <a:t>14-MAVZU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</a:defRPr>
            </a:pPr>
            <a:r>
              <a:t>Turistik korxonalarda foyda ko‘rsatkichlari tahlili</a:t>
            </a:r>
          </a:p>
          <a:p>
            <a:pPr>
              <a:spcBef>
                <a:spcPts val="1800"/>
              </a:spcBef>
              <a:defRPr sz="1600">
                <a:solidFill>
                  <a:srgbClr val="DBE8EA"/>
                </a:solidFill>
              </a:defRPr>
            </a:pPr>
            <a:r>
              <a:t>A.N. Xoliqulov, “Turistik korxonalar faoliyati tahlili”, XIV bob, 239–254-betlar asosida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Mavzuning maqsadi va o‘quv natijalari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Maqsad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Foyda kategoriyasining iqtisodiy mazmunini tushuntirish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Yalpi va sof foydani aniqlash yo‘llarini ko‘rsatish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Birlamchi va ikkilamchi omillar ta’sirini hisoblash metodikasini o‘rganish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O‘quv natijalari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Foyda ko‘rsatkichlarini hisoblay oladi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Foydaning asosiy funksiyalarini izohlay oladi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14.1 va 14.2-jadvallar asosida omilli tahlil o‘tkaza oladi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Mavzu rejasi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Kirish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70">
                <a:solidFill>
                  <a:srgbClr val="25313A"/>
                </a:solidFill>
              </a:defRPr>
            </a:pPr>
            <a:r>
              <a:t>14.1. Turfirmalarda foyda ko‘rsatkichlari va ularni aniqlash yo‘llari</a:t>
            </a:r>
          </a:p>
          <a:p>
            <a:pPr>
              <a:spcAft>
                <a:spcPts val="600"/>
              </a:spcAft>
              <a:defRPr sz="1770">
                <a:solidFill>
                  <a:srgbClr val="25313A"/>
                </a:solidFill>
              </a:defRPr>
            </a:pPr>
            <a:r>
              <a:t>Yalpi mahsulot, yalpi daromad, sof daromad va foyda o‘rtasidagi bog‘liqlik</a:t>
            </a:r>
          </a:p>
          <a:p>
            <a:pPr>
              <a:spcAft>
                <a:spcPts val="600"/>
              </a:spcAft>
              <a:defRPr sz="1770">
                <a:solidFill>
                  <a:srgbClr val="25313A"/>
                </a:solidFill>
              </a:defRPr>
            </a:pPr>
            <a:r>
              <a:t>Foydaning funksiyalari</a:t>
            </a:r>
          </a:p>
          <a:p>
            <a:pPr>
              <a:spcAft>
                <a:spcPts val="600"/>
              </a:spcAft>
              <a:defRPr sz="1770">
                <a:solidFill>
                  <a:srgbClr val="25313A"/>
                </a:solidFill>
              </a:defRPr>
            </a:pPr>
            <a:r>
              <a:t>14.2. Turfirmalarda foyda ko‘rsatkichlarining omilli tahlili</a:t>
            </a:r>
          </a:p>
          <a:p>
            <a:pPr>
              <a:spcAft>
                <a:spcPts val="600"/>
              </a:spcAft>
              <a:defRPr sz="1770">
                <a:solidFill>
                  <a:srgbClr val="25313A"/>
                </a:solidFill>
              </a:defRPr>
            </a:pPr>
            <a:r>
              <a:t>Birlamchi va ikkilamchi omillar</a:t>
            </a:r>
          </a:p>
          <a:p>
            <a:pPr>
              <a:spcAft>
                <a:spcPts val="600"/>
              </a:spcAft>
              <a:defRPr sz="1770">
                <a:solidFill>
                  <a:srgbClr val="25313A"/>
                </a:solidFill>
              </a:defRPr>
            </a:pPr>
            <a:r>
              <a:t>Doimiylik koeffitsiyenti yordamida omillar ta’sirini hisoblash</a:t>
            </a:r>
          </a:p>
          <a:p>
            <a:pPr>
              <a:spcAft>
                <a:spcPts val="600"/>
              </a:spcAft>
              <a:defRPr sz="1770">
                <a:solidFill>
                  <a:srgbClr val="25313A"/>
                </a:solidFill>
              </a:defRPr>
            </a:pPr>
            <a:r>
              <a:t>“Shohrux” turistik firmasi misoli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 — yakuniy moliyaviy natijaning markaziy ko‘rsatkichi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Moliyaviy natijalar tahlilida korxonaning oxirgi natijasi — foyda va rentabellik o‘rganiladi.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Bozor sharoitida foyda ko‘plab manbalar va omillar ta’sirida shakllanadi.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Shuning uchun foyda tahlili sotish, tannarx, xarajat, daromad va rentabellik bilan uzviy bog‘liq.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 qanday shakllanadi?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31720"/>
            <a:ext cx="1874519" cy="1051560"/>
          </a:xfrm>
          <a:prstGeom prst="round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Sotish tushumi</a:t>
            </a:r>
          </a:p>
        </p:txBody>
      </p:sp>
      <p:sp>
        <p:nvSpPr>
          <p:cNvPr id="9" name="Chevron 8"/>
          <p:cNvSpPr/>
          <p:nvPr/>
        </p:nvSpPr>
        <p:spPr>
          <a:xfrm>
            <a:off x="2377440" y="2596896"/>
            <a:ext cx="320040" cy="50292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788920" y="2331720"/>
            <a:ext cx="1874519" cy="1051560"/>
          </a:xfrm>
          <a:prstGeom prst="round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2615184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Sof tushum</a:t>
            </a:r>
          </a:p>
        </p:txBody>
      </p:sp>
      <p:sp>
        <p:nvSpPr>
          <p:cNvPr id="12" name="Chevron 11"/>
          <p:cNvSpPr/>
          <p:nvPr/>
        </p:nvSpPr>
        <p:spPr>
          <a:xfrm>
            <a:off x="4709160" y="2596896"/>
            <a:ext cx="320040" cy="50292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2331720"/>
            <a:ext cx="1874519" cy="1051560"/>
          </a:xfrm>
          <a:prstGeom prst="roundRect">
            <a:avLst/>
          </a:prstGeom>
          <a:solidFill>
            <a:srgbClr val="C39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9" y="2615184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Yalpi foyda</a:t>
            </a:r>
          </a:p>
        </p:txBody>
      </p:sp>
      <p:sp>
        <p:nvSpPr>
          <p:cNvPr id="15" name="Chevron 14"/>
          <p:cNvSpPr/>
          <p:nvPr/>
        </p:nvSpPr>
        <p:spPr>
          <a:xfrm>
            <a:off x="7040879" y="2596896"/>
            <a:ext cx="320040" cy="50292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52359" y="2331720"/>
            <a:ext cx="1874519" cy="1051560"/>
          </a:xfrm>
          <a:prstGeom prst="roundRect">
            <a:avLst/>
          </a:prstGeom>
          <a:solidFill>
            <a:srgbClr val="B2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43799" y="2615184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Soliqlar</a:t>
            </a:r>
          </a:p>
        </p:txBody>
      </p:sp>
      <p:sp>
        <p:nvSpPr>
          <p:cNvPr id="18" name="Chevron 17"/>
          <p:cNvSpPr/>
          <p:nvPr/>
        </p:nvSpPr>
        <p:spPr>
          <a:xfrm>
            <a:off x="9372599" y="2596896"/>
            <a:ext cx="320040" cy="502920"/>
          </a:xfrm>
          <a:prstGeom prst="chevron">
            <a:avLst/>
          </a:prstGeom>
          <a:solidFill>
            <a:srgbClr val="5F6C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784080" y="2331720"/>
            <a:ext cx="1874519" cy="1051560"/>
          </a:xfrm>
          <a:prstGeom prst="roundRect">
            <a:avLst/>
          </a:prstGeom>
          <a:solidFill>
            <a:srgbClr val="3184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19" y="2615184"/>
            <a:ext cx="1691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50" b="1">
                <a:solidFill>
                  <a:srgbClr val="FFFFFF"/>
                </a:solidFill>
              </a:defRPr>
            </a:pPr>
            <a:r>
              <a:t>Sof foyda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Moliyaviy natijalarning asosiy manbasi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Sotishdan tushum → Sof tushum → Yalpi foyda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Asosiy mantiq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Mahsulot yoki xizmat sotilmasdan foyda amalda namoyon bo‘lmaydi; xarajatlar qoplangandan keyingi ortiqcha qiymat foydani shakllantiradi.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 kategoriyasining mazmuni nega o‘zgardi?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Ko‘p mulkchilik sharoitida foyda endi faqat davlat va mehnat jamoasi manfaatini emas, mulkdor, investor, aksiyador va xodimlar manfaatini ham ifodalaydi.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Foyda faqat moddiy ishlab chiqarishda emas, xizmat, tijorat va moliyaviy faoliyatda ham yaratiladi.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Foyda shakllari ko‘paygan: asosiy faoliyat, umumxo‘jalik, moliyaviy faoliyat, favqulodda va sof foyda.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Yalpi mahsulot tushunchasi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M = c + v +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M — yalpi mahsulot; c — sarflangan ishlab chiqarish vositalari qiymati; v+m — yangidan yaratilgan qiymat.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Yalpi daromad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YD = M − c = v + 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Yalpi daromad yalpi mahsulotdan sarflangan ishlab chiqarish vositalari qiymati ayrilgandan keyingi yangidan yaratilgan qiymatdir.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Yalpi daromadning 3 turi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Yaratilgan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YDyar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Korxona xodimlari jonli mehnati bilan yangidan yaratilgan qiymat.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Sotilgan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YDsot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Sotish orqali korxona tasarrufiga tushgan yalpi daromad.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Foydalanilgan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YDfoy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Soliqlardan keyin korxona ehtiyojlari uchun qolgan yalpi daromad.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Sotishdan yalpi daromad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YDs = (v + m) − YDd − YDbk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Yaratilgan yalpi daromaddan davlatga o‘tadigan va narx mexanizmi orqali boshqa korxonalarga o‘tadigan qismlar ayriladi.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Foydalanilgan yalpi daromad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YDf = YDs − 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Ss — soliq summasi. Soliqdan keyin korxonada qoladigan qism faoliyatni kengaytirish va ichki ehtiyojlarni qoplashga xizmat qiladi.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Yalpi daromadning iqtisodiy tarkibi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Iqtisodiy mohiyatiga ko‘ra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Zaruriy mahsulot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Qo‘shimcha mahsulot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Foydalanishiga ko‘ra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Iste’mol fondi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Jamg‘arma fondi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Iste’mol fondi tarkibi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Ish haqi fondini shakllantirish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Ijtimoiy sug‘urta va pensiya jamg‘armalariga ajratmalar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Madaniy-ma’muriy tadbirlarga ajratmalar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Moddiy rag‘batlantirish va moddiy yordam jamg‘armalari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Jamg‘arma fondi tarkibi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25313A"/>
                </a:solidFill>
              </a:defRPr>
            </a:pPr>
            <a:r>
              <a:t>Asosiy vositalarni ko‘paytirish</a:t>
            </a:r>
          </a:p>
          <a:p>
            <a:pPr>
              <a:spcAft>
                <a:spcPts val="600"/>
              </a:spcAft>
              <a:defRPr sz="2000">
                <a:solidFill>
                  <a:srgbClr val="25313A"/>
                </a:solidFill>
              </a:defRPr>
            </a:pPr>
            <a:r>
              <a:t>Aylanma mablag‘larni ko‘paytirish</a:t>
            </a:r>
          </a:p>
          <a:p>
            <a:pPr>
              <a:spcAft>
                <a:spcPts val="600"/>
              </a:spcAft>
              <a:defRPr sz="2000">
                <a:solidFill>
                  <a:srgbClr val="25313A"/>
                </a:solidFill>
              </a:defRPr>
            </a:pPr>
            <a:r>
              <a:t>Zaxira va sug‘urta fondlariga ajratmalar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Sof daromad tushunchasi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Sof daromad = Yalpi daromad − Ish haqi jamg‘armasi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Mantiq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Sof daromadning bir qismi davlat budjetiga, ikkinchi qismi esa korxonada qolib, uning va xodimlarning ehtiyojlarini qondirishga xizmat qiladi.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Foyda: nazariy va amaliy yondashuv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Nazariy yondashuv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Yalpi foyda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Sof foyda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Iqtisodiy mazmun va funksiyalar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Amaliy yondashuv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Buxgalteriya hisobotidagi turli foyda ko‘rsatkichlari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Asosiy, moliyaviy va boshqa faoliyat natijalari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Hisobotlar asosida hisoblanadi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Yalpi foyda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YF = Sof tushum − Tannarx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Muallif yalpi foydani sof foydaning asosiy manbai sifatida ko‘rsatadi.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Sof foyda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SF = YF − Soliqlar va ajratmalar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Formula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Sof foyda korxona ixtiyorida qoladigan va uning ichki ehtiyojlari uchun ishlatiladigan yakuniy natijadir.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 qachon namoyon bo‘ladi?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Foyda ishlab chiqarish yoki xizmat ko‘rsatish jarayonida yaratiladi.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Ammo u mahsulot yoki xizmat sotilib, pul tushgandan keyin amalda namoyon bo‘ladi.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Tushum xarajatlarni qoplab, undan ortiqcha mablag‘ qolsa — foyda yuzaga keladi.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Foydaga ta’sir qiluvchi asosiy omillar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Narxning o‘zgarishi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Inflyatsiya darajasi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Sof daromadning korxona va davlat o‘rtasida taqsimlanish nisbati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Mehnat unumdorligi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Mahsulot hajmi, assortimenti va tarkibiy tuzilishi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Asosiy va aylanma mablag‘lar samaradorligi hamda aylanish tezligi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Ichki omillarni ishga solish nega muhim?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Ichki omillarning bir qismi katta qo‘shimcha mablag‘ talab qilmasdan natijani yaxshilashi mumkin.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Mehnat unumdorligi, aktivlar samaradorligi, xizmat tarkibi va narx siyosatini yaxshilash foydani oshiradi.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Shuning uchun foyda tahlili boshqaruv qarorlarini ishlab chiqish uchun zarur.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Foydaning 4 funksiyasi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Baholash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Natijani baholaydi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24140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Korxona faoliyati samaradorligini ko‘rsatadi.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570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Taqsimlash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0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Qiymatni taqsimlaydi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4160520"/>
            <a:ext cx="24140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Korxona, davlat, mulkdor va xodimlar o‘rtasida taqsimlashga xizmat qiladi.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04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Nazorat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Manfaatlarni nazorat qiladi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4160520"/>
            <a:ext cx="24140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Manfaatdor tomonlarga faoliyat ustidan nazorat imkonini beradi.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33688" y="1783080"/>
            <a:ext cx="25603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1993392"/>
            <a:ext cx="23408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Rag‘batlantirish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3416" y="2670048"/>
            <a:ext cx="23408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O‘sishga undaydi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4160520"/>
            <a:ext cx="24140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Ko‘proq foyda olishga iqtisodiy rag‘bat yaratadi.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Baholash funksiyasi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funksiyalari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Korxonaning ishlab chiqarish va tijorat faoliyati natijasini baholaydi.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Foyda o‘tgan davr, reja va boshqa bazalar bilan solishtiriladi.</a:t>
            </a:r>
          </a:p>
          <a:p>
            <a:pPr>
              <a:spcAft>
                <a:spcPts val="600"/>
              </a:spcAft>
              <a:defRPr sz="1900">
                <a:solidFill>
                  <a:srgbClr val="25313A"/>
                </a:solidFill>
              </a:defRPr>
            </a:pPr>
            <a:r>
              <a:t>Foydaning tannarx, mahsulot, aktiv va iqtisodiy salohiyatga nisbati samaradorlikni ko‘rsatadi.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Taqsimlash funksiyasi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funksiyalari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50">
                <a:solidFill>
                  <a:srgbClr val="25313A"/>
                </a:solidFill>
              </a:defRPr>
            </a:pPr>
            <a:r>
              <a:t>Qo‘shimcha qiymatni korxona va davlat o‘rtasida taqsimlash</a:t>
            </a:r>
          </a:p>
          <a:p>
            <a:pPr>
              <a:spcAft>
                <a:spcPts val="600"/>
              </a:spcAft>
              <a:defRPr sz="1950">
                <a:solidFill>
                  <a:srgbClr val="25313A"/>
                </a:solidFill>
              </a:defRPr>
            </a:pPr>
            <a:r>
              <a:t>Mulkdorlar va xodimlar manfaatlarini muvofiqlashtirish</a:t>
            </a:r>
          </a:p>
          <a:p>
            <a:pPr>
              <a:spcAft>
                <a:spcPts val="600"/>
              </a:spcAft>
              <a:defRPr sz="1950">
                <a:solidFill>
                  <a:srgbClr val="25313A"/>
                </a:solidFill>
              </a:defRPr>
            </a:pPr>
            <a:r>
              <a:t>Tarmoq, birlashmalar va boshqa subyektlar o‘rtasida qayta taqsimlash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Nazorat funksiyasi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funksiyalari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Foyda ko‘payishi, saqlanishi va to‘g‘ri taqsimlanishi turli manfaatdor tomonlar uchun nazorat obyektidir.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Mulkdor, xodim, davlat va boshqa subyektlar foyda orqali bir-birini iqtisodiy jihatdan nazorat qiladi.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Foyda korxona faoliyatidagi muammolarni tez ko‘rsatib beruvchi signal vazifasini bajaradi.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Rag‘batlantirish funksiyasi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funksiyalari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Foyda ko‘paysa mulkdorning mulki ortadi.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Xodimlar mukofoti va moddiy rag‘batlantirish imkoniyati kengayadi.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Korxona faoliyatini kengaytirish uchun resurs paydo bo‘ladi.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Davlat budjetiga soliq tushumlari ortadi.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Xorijiy yondashuvlar haqida muallif fikri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14.1. Foyda ko‘rsatkichlari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Xorijiy talqinlarda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Kapitaldan foiz tarzidagi daromad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Tadbirkorlik tavakkali uchun to‘lov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Innovatsiya evaziga olinadigan daromad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Ba’zan barcha daromadlar foyda sifatida keng talqin qilinadi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22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Muallif yondashuvi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Barcha tushum foyda emas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Daromadga erishish uchun qilingan xarajatlar chegirilgandan keyingina foyda hosil bo‘ladi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Foyda real iqtisodiy ortiqcha natijani ifodalaydi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14.2. Omilli tahlilga kirish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Turistik firma foydasi birlamchi va ikkilamchi omillar ta’sirida o‘zgaradi.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Birlamchi omillar natijaga bevosita ta’sir qiladi.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Ikkilamchi omillar esa birlamchi omillar orqali natijaga bilvosita ta’sir ko‘rsatadi.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Muallif ikkilamchi omillar ta’sirini ham umumiy natijaga taqsimlash usulini tavsiya etadi.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Foydaning birlamchi omilli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30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SF = M × 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Model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SF — sof foyda; M — xorijiy turistlardan olinadigan sof tushum; R — rentabellik darajasi.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Sof tushumning foydaga ta’siri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31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ΔSFm = (ΔM × 100) / ΔSF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Nisbiy ko‘rsatkichli usul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Sof tushumning o‘sish sur’ati foyda o‘sish sur’atiga taqqoslanib, foyda o‘zgarishidagi ulushi aniqlanadi.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Rentabellikning foydaga ta’siri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32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ΔSFr = 100 − ΔSFm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Nisbiy ko‘rsatkichli usul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Ikki omilning ulushi jami 100 foizni tashkil qilishi kerak.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Sof tushumning ikkilamchi omilli modeli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M = a × b × c × 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Model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a — turistik guruhlar soni; b — bir guruhga to‘g‘ri keladigan turistlar soni; c — xorijiy turistlar ulushi; d — bitta xorijiy turistdan o‘rtacha sof tushum.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Ikkilamchi omillarni foydaga bog‘lash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Avval a, b, c va d omillarning sof tushumga ta’siri zanjirli almashtirish usulida aniqlanadi.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Keyin sof tushumning foydaga umumiy ta’siri ikkilamchi omillar o‘rtasida taqsimlanadi.</a:t>
            </a:r>
          </a:p>
          <a:p>
            <a:pPr>
              <a:spcAft>
                <a:spcPts val="600"/>
              </a:spcAft>
              <a:defRPr sz="1850">
                <a:solidFill>
                  <a:srgbClr val="25313A"/>
                </a:solidFill>
              </a:defRPr>
            </a:pPr>
            <a:r>
              <a:t>Buning uchun doimiylik koeffitsiyenti hisoblanadi.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Doimiylik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35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Kd = ΔSFm / (ΔMa + ΔMb + ΔMc + ΔMd)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Kitobdagi amaliy ko‘rinish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Kitob matnidagi formulada belgilash notekis berilgan; amaliy misolda maxrajda omillar ta’sirining yig‘indisi ishlatilgan.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Har bir ikkilamchi omilning foydaga ta’siri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Omilli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>
                <a:solidFill>
                  <a:srgbClr val="25313A"/>
                </a:solidFill>
              </a:defRPr>
            </a:pPr>
            <a:r>
              <a:t>ΔSFa = Kd × ΔMa</a:t>
            </a:r>
          </a:p>
          <a:p>
            <a:pPr>
              <a:spcAft>
                <a:spcPts val="600"/>
              </a:spcAft>
              <a:defRPr sz="2200">
                <a:solidFill>
                  <a:srgbClr val="25313A"/>
                </a:solidFill>
              </a:defRPr>
            </a:pPr>
            <a:r>
              <a:t>ΔSFb = Kd × ΔMb</a:t>
            </a:r>
          </a:p>
          <a:p>
            <a:pPr>
              <a:spcAft>
                <a:spcPts val="600"/>
              </a:spcAft>
              <a:defRPr sz="2200">
                <a:solidFill>
                  <a:srgbClr val="25313A"/>
                </a:solidFill>
              </a:defRPr>
            </a:pPr>
            <a:r>
              <a:t>ΔSFc = Kd × ΔMc</a:t>
            </a:r>
          </a:p>
          <a:p>
            <a:pPr>
              <a:spcAft>
                <a:spcPts val="600"/>
              </a:spcAft>
              <a:defRPr sz="2200">
                <a:solidFill>
                  <a:srgbClr val="25313A"/>
                </a:solidFill>
              </a:defRPr>
            </a:pPr>
            <a:r>
              <a:t>ΔSFd = Kd × ΔMd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14.1-jadval: “Shohrux” turistik firmasi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37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00200"/>
          <a:ext cx="109728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845820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</a:defRPr>
                      </a:pPr>
                      <a:r>
                        <a:t>Reja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</a:defRPr>
                      </a:pPr>
                      <a:r>
                        <a:t>Haqiqat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</a:defRPr>
                      </a:pPr>
                      <a:r>
                        <a:t>O‘zgarish sur’ati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Sof tushum, mln so‘m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311,1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424,7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+112,9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136,21%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Rentabellik darajasi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5,88%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6,02%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+0,14 p.p.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102,38%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845820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Foyda, mln so‘m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18,3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25,6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+7,3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139,89%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14.1-jadval: umumiy natija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38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Sof tushum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136,21%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Sof tushum sezilarli oshgan.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Rentabellik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102,38%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Rentabellik oz miqdorda yaxshilangan.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Foyda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139,89%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Foyda 39,89% ga oshgan.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 o‘sishida sof tushum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39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36,21 / 39,89 × 100 ≈ 90,77%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Qayta hisoblash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Kitobda 90,88% deb berilgan. Aniq arifmetik hisob bo‘yicha natija taxminan 90,77% chiqadi.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 o‘sishida rentabellik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40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100 − 90,77 ≈ 9,23%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Qayta hisoblash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Kitob matnida 9,12% hamda “100−99,88” shaklidagi texnik nomuvofiqlik mavjud. Slaydda matematik jihatdan mos natija ko‘rsatildi.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14.2-jadval: ikkilamchi omillar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41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37160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Ko‘rsatkich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Reja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Haqiqat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1">
                          <a:solidFill>
                            <a:srgbClr val="FFFFFF"/>
                          </a:solidFill>
                        </a:defRPr>
                      </a:pPr>
                      <a:r>
                        <a:t>Farq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Turistik guruhlar soni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+1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 guruhga turistlar soni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1472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1541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+69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Xorijiy turistlar ulushi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62,3%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63,4%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+1,1 p.p.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1 xorijiy turistdan sof tushum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42,5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48,3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+5,8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Sof tushum, mln so‘m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311,8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424,7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80" b="0">
                          <a:solidFill>
                            <a:srgbClr val="25313A"/>
                          </a:solidFill>
                        </a:defRPr>
                      </a:pPr>
                      <a:r>
                        <a:t>+112,9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Sof tushumdagi 1-omil: guruhlar soni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42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350,8 − 311,8 = +39,0 mln so‘m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Hisob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Turistik guruhlar sonining 8 tadan 9 taga oshishi sof tushumni 39,0 mln so‘mga ko‘paytirgan.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Sof tushumdagi 2-omil: bir guruhdagi turistlar soni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363,3 − 350,8 = +12,5 mln so‘m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Hisob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Bir guruhga to‘g‘ri keladigan turistlar sonining 69 kishiga oshishi sof tushumni 12,5 mln so‘mga ko‘paytirgan.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Sof tushumdagi 3-omil: xorijiy turistlar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44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373,7 − 363,3 ≈ +10,4 mln so‘m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Hisob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Xorijiy turistlar ulushining 1,1 foiz punktga oshishi sof tushumni taxminan 10,4 mln so‘mga oshirgan.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Sof tushumdagi 4-omil: 1 turistdan tushum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45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424,7 − 373,7 = +51,0 mln so‘m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Hisob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Bitta xorijiy turistdan olinadigan o‘rtacha sof tushumning 5,8 ming so‘mga oshishi eng katta — 51,0 mln so‘mlik ta’sir ko‘rsatgan.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To‘rt omil ta’siri jami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46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39,0 + 12,5 + 10,4 + 51,0 = 112,9 mln so‘m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Nazorat tengligi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Omillar ta’siri sof tushumning umumiy o‘zgarishiga teng bo‘ladi.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Sof tushum o‘zgarishining tarkibi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47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822960" y="1417320"/>
          <a:ext cx="1051560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Kitobdagi doimiylik koeffitsiyenti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Kd = 90,88 / 112,9 ≈ 0,805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Kitob misoli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Muallif 90,88% ta’sirni 112,9 mln so‘mlik sof tushum omillari yig‘indisiga taqsimlaydi.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Foydaga ta’sir: turist guruhlari soni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49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39,0 × 0,805 ≈ 31,39%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Kitobdagi hisob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Turistik guruhlar sonining o‘sishi foyda o‘sishining qariyb uchdan birini ta’minlagan.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Foydaga ta’sir: 1 guruhdagi turistlar soni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12,5 × 0,805 ≈ 10,06%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Kitobdagi hisob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Bir guruhdagi turistlar sonining ko‘payishi foyda o‘sishiga qariyb 10% hissa qo‘shgan.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Foydaga ta’sir: xorijiy turistlar ulushi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10,4 × 0,805 ≈ 8,37%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Kitobdagi hisob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Xorijiy turistlar ulushining ortishi foyda o‘sishining 8,37 foizini shakllantirgan.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Foydaga ta’sir: 1 turistdan sof tushum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508760"/>
            <a:ext cx="10424160" cy="19202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856231"/>
            <a:ext cx="9966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solidFill>
                  <a:srgbClr val="122A42"/>
                </a:solidFill>
              </a:defRPr>
            </a:pPr>
            <a:r>
              <a:t>51,0 × 0,805 ≈ 41,06%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84048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87A80"/>
                </a:solidFill>
              </a:defRPr>
            </a:pPr>
            <a:r>
              <a:t>Kitobdagi hisob</a:t>
            </a:r>
          </a:p>
          <a:p>
            <a:pPr>
              <a:defRPr sz="1700">
                <a:solidFill>
                  <a:srgbClr val="25313A"/>
                </a:solidFill>
              </a:defRPr>
            </a:pPr>
            <a:r>
              <a:t>Eng katta hissa bitta xorijiy turistdan olinadigan o‘rtacha sof tushum o‘sishiga to‘g‘ri kelgan.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Foyda o‘sishi omillari: yakuniy tarkib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53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54480" y="1325880"/>
          <a:ext cx="9052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26280"/>
                <a:gridCol w="4526280"/>
              </a:tblGrid>
              <a:tr h="679268"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</a:defRPr>
                      </a:pPr>
                      <a:r>
                        <a:t>Omil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1">
                          <a:solidFill>
                            <a:srgbClr val="FFFFFF"/>
                          </a:solidFill>
                        </a:defRPr>
                      </a:pPr>
                      <a:r>
                        <a:t>Foyda o‘sishidagi ulush</a:t>
                      </a:r>
                    </a:p>
                  </a:txBody>
                  <a:tcPr anchor="ctr" marL="27432" marR="27432" marT="18288" marB="18288">
                    <a:solidFill>
                      <a:srgbClr val="122A42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Turistik guruhlar soni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31,39%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1 guruhdagi turistlar soni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10,06%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Xorijiy turistlar ulushi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8,37%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1 xorijiy turistdan sof tushum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41,06%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  <a:tr h="679268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Rentabellik darajasi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9,12%</a:t>
                      </a:r>
                    </a:p>
                  </a:txBody>
                  <a:tcPr anchor="ctr" marL="27432" marR="27432" marT="18288" marB="18288">
                    <a:solidFill>
                      <a:srgbClr val="F2F7F8"/>
                    </a:solidFill>
                  </a:tcPr>
                </a:tc>
              </a:tr>
              <a:tr h="679272"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Jami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20" b="0">
                          <a:solidFill>
                            <a:srgbClr val="25313A"/>
                          </a:solidFill>
                        </a:defRPr>
                      </a:pPr>
                      <a:r>
                        <a:t>100,00%</a:t>
                      </a:r>
                    </a:p>
                  </a:txBody>
                  <a:tcPr anchor="ctr"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Eng kuchli omillar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14.2. Amaliy tahlil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1 turistdan tushum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41,06%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Foyda o‘sishiga eng katta ta’sir.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Guruhlar soni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31,39%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Ikkinchi eng katta omil.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9288" y="1783080"/>
            <a:ext cx="3474720" cy="214884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29015" y="1993392"/>
            <a:ext cx="3255264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20" b="1">
                <a:solidFill>
                  <a:srgbClr val="5F6C75"/>
                </a:solidFill>
              </a:defRPr>
            </a:pPr>
            <a:r>
              <a:t>Rentabellik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29015" y="2670048"/>
            <a:ext cx="3255264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22A42"/>
                </a:solidFill>
              </a:defRPr>
            </a:pPr>
            <a:r>
              <a:t>9,12%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160520"/>
            <a:ext cx="3328416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40">
                <a:solidFill>
                  <a:srgbClr val="25313A"/>
                </a:solidFill>
              </a:defRPr>
            </a:pPr>
            <a:r>
              <a:t>Nisbatan kichik, ammo ijobiy hissa.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14.1 va 14.2-jadvallardagi nomuvofiqlik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Metodik izoh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5257800" cy="566928"/>
          </a:xfrm>
          <a:prstGeom prst="rect">
            <a:avLst/>
          </a:prstGeom>
          <a:solidFill>
            <a:srgbClr val="C39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Kitobdagi raqamlar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14.1-jadvalda reja sof tushumi — 311,1 mln so‘m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14.2-jadvalda esa — 311,8 mln so‘m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Farq ikkala joyda ham +112,9 deb berilgan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5257800" cy="4526280"/>
          </a:xfrm>
          <a:prstGeom prst="roundRect">
            <a:avLst/>
          </a:prstGeom>
          <a:solidFill>
            <a:srgbClr val="F2F7F8"/>
          </a:solidFill>
          <a:ln>
            <a:solidFill>
              <a:srgbClr val="DBE8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417320"/>
            <a:ext cx="5257800" cy="566928"/>
          </a:xfrm>
          <a:prstGeom prst="rect">
            <a:avLst/>
          </a:prstGeom>
          <a:solidFill>
            <a:srgbClr val="187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3952" y="1536192"/>
            <a:ext cx="4800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Taqdimotdagi yondashuv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3096" y="2121408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Har bir jadval o‘z matniga muvofiq alohida saqlandi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Omilli hisob-kitoblarda 14.2-jadvalning 311,8 qiymati ishlatildi</a:t>
            </a:r>
          </a:p>
          <a:p>
            <a:pPr>
              <a:spcAft>
                <a:spcPts val="600"/>
              </a:spcAft>
              <a:defRPr sz="1660">
                <a:solidFill>
                  <a:srgbClr val="25313A"/>
                </a:solidFill>
              </a:defRPr>
            </a:pPr>
            <a:r>
              <a:t>Talabalar uchun nomuvofiqlik alohida ko‘rsatildi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Boshqaruv xulosasi: foydani oshirish yo‘llari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Amaliy tavsiyalar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Turistik guruhlar sonini oshirish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Har bir guruhdagi turistlar sonini ko‘paytirish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Xorijiy turistlar ulushini oshirish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Bir turistdan olinadigan o‘rtacha sof tushumni ko‘paytirish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Xarajatlarni maqbullashtirish orqali rentabellik darajasini oshirish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Narx va xizmat paketlarini bozor talabiga moslashtirish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Amaliy mini-keys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Mustahkamlash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57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Turistik firma foydasi 40 mln so‘mdan 54 mln so‘mga oshdi.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Sof tushum o‘sish sur’ati 28%, foyda o‘sish sur’ati 35%.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Nisbiy ko‘rsatkichli usulda sof tushum va rentabellikning foyda o‘sishidagi ulushini aniqlang.</a:t>
            </a:r>
          </a:p>
          <a:p>
            <a:pPr>
              <a:spcAft>
                <a:spcPts val="600"/>
              </a:spcAft>
              <a:defRPr sz="1800">
                <a:solidFill>
                  <a:srgbClr val="25313A"/>
                </a:solidFill>
              </a:defRPr>
            </a:pPr>
            <a:r>
              <a:t>Qaysi omil ustun ekanini izohlang.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66360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50" b="1">
                <a:solidFill>
                  <a:srgbClr val="187A80"/>
                </a:solidFill>
              </a:defRPr>
            </a:pPr>
            <a:r>
              <a:t>Nazorat: sof tushum ulushi = 28/35×100 = 80%; rentabellik ulushi = 20%.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Tayanch iboralar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Yalpi mahsulot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Yalpi daromad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Sof daromad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Yalpi foyda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Sof foyda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Baholash funksiyasi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Taqsimlash funksiyasi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Nazorat funksiyasi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Rag‘batlantirish funksiyasi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Birlamchi omil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Ikkilamchi omil</a:t>
            </a:r>
          </a:p>
          <a:p>
            <a:pPr>
              <a:spcAft>
                <a:spcPts val="600"/>
              </a:spcAft>
              <a:defRPr sz="1580">
                <a:solidFill>
                  <a:srgbClr val="25313A"/>
                </a:solidFill>
              </a:defRPr>
            </a:pPr>
            <a:r>
              <a:t>Doimiylik koeffitsiyenti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Nazorat savollari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Korxonaning yaratilgan yalpi daromadi deganda nimani tushunasiz?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Sof daromad deganda nimani tushunasiz?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Foydaning baholash funksiyasi qanday mazmunga ega?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Foydaning taqsimlash funksiyasining ahamiyati nimada?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Foydaning nazorat funksiyasi qanday ishlaydi?</a:t>
            </a:r>
          </a:p>
          <a:p>
            <a:pPr>
              <a:spcAft>
                <a:spcPts val="600"/>
              </a:spcAft>
              <a:defRPr sz="1720">
                <a:solidFill>
                  <a:srgbClr val="25313A"/>
                </a:solidFill>
              </a:defRPr>
            </a:pPr>
            <a:r>
              <a:t>Foydaning rag‘batlantirish funksiyasi nimani anglatadi?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1018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22A42"/>
                </a:solidFill>
              </a:defRPr>
            </a:pPr>
            <a:r>
              <a:t>Yakuniy 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2DA7AD"/>
                </a:solidFill>
              </a:defRPr>
            </a:pPr>
            <a:r>
              <a:t>Yakun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455664"/>
            <a:ext cx="11064240" cy="18288"/>
          </a:xfrm>
          <a:prstGeom prst="rect">
            <a:avLst/>
          </a:prstGeom>
          <a:solidFill>
            <a:srgbClr val="DBE8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6492240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19">
                <a:solidFill>
                  <a:srgbClr val="5F6C75"/>
                </a:solidFill>
              </a:defRPr>
            </a:pPr>
            <a:r>
              <a:t>A.N. Xoliqulov — “Turistik korxonalar faoliyati tahlili” | 14-mavzu | 60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10698480" cy="4800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Foyda — turistik korxona moliyaviy-xo‘jalik faoliyatining yakuniy iqtisodiy natijasidir.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Foyda hajmiga sotish, tannarx, narx, mehnat unumdorligi, aktivlar samaradorligi va rentabellik kabi ko‘plab omillar ta’sir qiladi.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Xoliqulovning omilli tahlil metodikasida birlamchi omillar bilan birga ikkilamchi omillarning foyda o‘sishidagi ulushi ham ajratib ko‘rsatiladi.</a:t>
            </a:r>
          </a:p>
          <a:p>
            <a:pPr>
              <a:spcAft>
                <a:spcPts val="600"/>
              </a:spcAft>
              <a:defRPr sz="1750">
                <a:solidFill>
                  <a:srgbClr val="25313A"/>
                </a:solidFill>
              </a:defRPr>
            </a:pPr>
            <a:r>
              <a:t>“Shohrux” firmasi misolida eng katta ta’sir bitta xorijiy turistdan olinadigan o‘rtacha sof tushum va turist guruhlari sonining o‘sishiga to‘g‘ri keladi.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