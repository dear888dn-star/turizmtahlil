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Yil boshida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Nomoddiy aktivlar</c:v>
                  </c:pt>
                  <c:pt idx="1">
                    <c:v>Eskirish</c:v>
                  </c:pt>
                  <c:pt idx="2">
                    <c:v>Qoldiq qiymat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215</c:v>
                </c:pt>
                <c:pt idx="1">
                  <c:v>25</c:v>
                </c:pt>
                <c:pt idx="2">
                  <c:v>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Yil oxirida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Nomoddiy aktivlar</c:v>
                  </c:pt>
                  <c:pt idx="1">
                    <c:v>Eskirish</c:v>
                  </c:pt>
                  <c:pt idx="2">
                    <c:v>Qoldiq qiymat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230</c:v>
                </c:pt>
                <c:pt idx="1">
                  <c:v>30</c:v>
                </c:pt>
                <c:pt idx="2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O‘tgan yil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Sotuv hajmi</c:v>
                  </c:pt>
                  <c:pt idx="1">
                    <c:v>Daromad</c:v>
                  </c:pt>
                  <c:pt idx="2">
                    <c:v>Foyda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4583.3</c:v>
                </c:pt>
                <c:pt idx="1">
                  <c:v>511</c:v>
                </c:pt>
                <c:pt idx="2">
                  <c:v>368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Hisobot yili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Sotuv hajmi</c:v>
                  </c:pt>
                  <c:pt idx="1">
                    <c:v>Daromad</c:v>
                  </c:pt>
                  <c:pt idx="2">
                    <c:v>Foyda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5694.5</c:v>
                </c:pt>
                <c:pt idx="1">
                  <c:v>711.7</c:v>
                </c:pt>
                <c:pt idx="2">
                  <c:v>492.2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O‘tgan yil</c:v>
                </c:pt>
              </c:strCache>
            </c:strRef>
          </c:tx>
          <c:spPr>
            <a:solidFill>
              <a:srgbClr val="B779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Aylanuvchanlik</c:v>
                  </c:pt>
                  <c:pt idx="1">
                    <c:v>Daromadlilik</c:v>
                  </c:pt>
                  <c:pt idx="2">
                    <c:v>Foydalilik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21.6</c:v>
                </c:pt>
                <c:pt idx="1">
                  <c:v>2.4</c:v>
                </c:pt>
                <c:pt idx="2">
                  <c:v>1.73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Hisobot yili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Aylanuvchanlik</c:v>
                  </c:pt>
                  <c:pt idx="1">
                    <c:v>Daromadlilik</c:v>
                  </c:pt>
                  <c:pt idx="2">
                    <c:v>Foydalilik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25.6</c:v>
                </c:pt>
                <c:pt idx="1">
                  <c:v>3.2</c:v>
                </c:pt>
                <c:pt idx="2">
                  <c:v>2.23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2700">
            <a:solidFill>
              <a:srgbClr val="D7E0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A.N. Xoliqulov, “Turistik korxonalar faoliyati tahlili”, VII bob, 130–136-betlar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61320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7-MAVZU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1280160"/>
            <a:ext cx="4754880" cy="4754880"/>
          </a:xfrm>
          <a:prstGeom prst="arc">
            <a:avLst/>
          </a:prstGeom>
          <a:solidFill>
            <a:srgbClr val="0F766E">
              <a:alpha val="88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7132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</a:rPr>
              <a:t>7-MAVZU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9808" y="1325880"/>
            <a:ext cx="9966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TURISTIK KORXONALARNING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NOMODDIY AKTIVLARINI TAHLIL QILISH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86384" y="2971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5F1"/>
                </a:solidFill>
              </a:rPr>
              <a:t>Nomoddiy aktivlarni tasniflash, holati va samaradorligi ko‘rsatkichlari, omilli tahlil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6384" y="4005072"/>
            <a:ext cx="36576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43159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FD1E0"/>
                </a:solidFill>
              </a:rPr>
              <a:t>Asosiy manba: A.N. Xoliqulov. “Turistik korxonalar faoliyati tahlili”. Samarqand, 2024. VII bob, 130–136-betlar.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o‘quv maqsadi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VII bobdagi nazariya va amaliy hisob-kitoblarni tizimli o‘zlashtirish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73152" cy="3429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0876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1. Tushunish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901952"/>
            <a:ext cx="3127248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Nomoddiy aktivlarning iqtisodiy mazmuni va tasniflash belgilarini tushuntirish.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70832" y="137160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71600"/>
            <a:ext cx="73152" cy="34290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0876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2. Hisoblash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1901952"/>
            <a:ext cx="3127248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Holat va samaradorlik ko‘rsatkichlarini formulalar asosida hisoblash.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10144" y="137160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0144" y="1371600"/>
            <a:ext cx="73152" cy="34290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150876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3. Tahlil qilish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11312" y="1901952"/>
            <a:ext cx="3127248" cy="2770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Rentabellikka ta’sir etuvchi omillarni zanjirli almashtirish usulida baholash.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rejasi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1024128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7.1. Turistik korxonalarda nomoddiy aktivlarni tasniflash belgilari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7.2. Nomoddiy aktivlarni ifodalovchi ko‘rsatkichlar tahlili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7.3. Nomoddiy aktivlar samaradorligiga ta’sir etuvchi omillar va ularning tahlili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Amaldagi 7-son BHMS bilan qisqa normativ yangilanish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Nazorat savollari va amaliy topshiriq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Nomoddiy aktivlar nega tahlil obyekti?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DFF7F4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17320"/>
            <a:ext cx="73152" cy="3566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55448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Qiymatga ega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8408" y="1947672"/>
            <a:ext cx="3081528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Moddiy shaklga ega bo‘lmasa-da, korxona faoliyatiga iqtisodiy naf keltirish uchun mablag‘ sarflanadi.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8F1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55448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Natija berishi kerak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90288" y="1947672"/>
            <a:ext cx="3081528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Nomoddiy aktivga yo‘naltirilgan mablag‘ daromad, foyda yoki xizmat hajmiga ta’sir ko‘rsatishi kutiladi.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5D6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1417320"/>
            <a:ext cx="73152" cy="35661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155448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Tahlil talab etadi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02168" y="1947672"/>
            <a:ext cx="3081528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Shuning uchun ularning hajmi, eskirishi, ulushi, aylanuvchanligi va rentabelligi baholanadi.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4B8A6"/>
                </a:solidFill>
              </a:rPr>
              <a:t>7.1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Nomoddiy aktivlarni tasniflash belgilari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33375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</a:rPr>
              <a:t>Xoliqulov nomoddiy aktivlarni 5 asosiy mezon bo‘yicha guruhlashni taklif etadi.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4800600"/>
            <a:ext cx="38404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1-mezon: kelib tushish manbalari bo‘yicha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1024128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Ta’sischilar tomonidan qo‘yilgan nomoddiy aktivlar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Sotib olingan yoki boshqa mulkka almashtirilgan aktivlar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Boshqa yuridik yoki jismoniy shaxslardan qaytarib olmaslik sharti bilan olingan aktivlar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Davlat organlari tomonidan berilgan subsidiyalar (yordamlar) hisobidan olingan aktivlar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Kelib tushish manbai tahlil uchun nimani beradi?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73152" cy="3474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50876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Moliyalashtirish manbasi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1901952"/>
            <a:ext cx="3035808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Aktiv qaysi manba hisobidan shakllanganini ko‘rsatadi.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07408" y="137160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07408" y="1371600"/>
            <a:ext cx="73152" cy="3474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50876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Baholash masalasi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08576" y="1901952"/>
            <a:ext cx="3035808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Sotib olish, ulush sifatida kiritish yoki tekin olishda boshlang‘ich baholash yondashuvi farqlanadi.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91856" y="137160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91856" y="1371600"/>
            <a:ext cx="73152" cy="34747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50876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Boshqaruv qarori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93024" y="1901952"/>
            <a:ext cx="3035808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Manbalar tarkibi investitsiya siyosati va tashqi moliyalashtirishga bog‘liqlikni ko‘rsatadi.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2-mezon: huquqiy kafolati bo‘yicha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73152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50876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Patentlar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190195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Ixtiro uchun olingan huquq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371600"/>
            <a:ext cx="73152" cy="17830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50876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Ruxsatnomalar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81728" y="190195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Qayd qilingan ruxsat hujjatlari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75320" y="13716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371600"/>
            <a:ext cx="73152" cy="17830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6488" y="150876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Sanoat namunasi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76488" y="190195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Sanoat namunalari uchun patent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5204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520440"/>
            <a:ext cx="73152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65760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Tovar belgisi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" y="405079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Tovar belgisini tasdiqlovchi guvohnoma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80560" y="35204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3520440"/>
            <a:ext cx="73152" cy="17830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65760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Mualliflik huquqi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81728" y="405079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Asar, kontent va boshqa mualliflik obyektlari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75320" y="35204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3520440"/>
            <a:ext cx="73152" cy="17830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76488" y="365760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Dasturiy huquqlar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76488" y="405079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Kompyuter dasturlarini qayd qilish guvohnomalari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3-mezon: foydalanish muddati bo‘yicha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143000" y="1645920"/>
            <a:ext cx="4389120" cy="3017520"/>
          </a:xfrm>
          <a:prstGeom prst="roundRect">
            <a:avLst>
              <a:gd name="adj" fmla="val 2424"/>
            </a:avLst>
          </a:prstGeom>
          <a:solidFill>
            <a:srgbClr val="DFF7F4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645920"/>
            <a:ext cx="73152" cy="3017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4168" y="1783080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1–10 yilgacha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44168" y="2176272"/>
            <a:ext cx="4041648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Foydalanish muddati nisbatan chegaralangan nomoddiy aktivlar.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629400" y="1645920"/>
            <a:ext cx="4389120" cy="3017520"/>
          </a:xfrm>
          <a:prstGeom prst="roundRect">
            <a:avLst>
              <a:gd name="adj" fmla="val 2424"/>
            </a:avLst>
          </a:prstGeom>
          <a:solidFill>
            <a:srgbClr val="E8F1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645920"/>
            <a:ext cx="73152" cy="30175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0568" y="1783080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10 yildan ortiq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30568" y="2176272"/>
            <a:ext cx="4041648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Uzoq muddatli foydalanishga mo‘ljallangan nomoddiy aktivlar.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Kitobdagi tasnif foydalanish muddatini ikki yirik guruhga ajratadi.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4-mezon: nufuzliligi bo‘yicha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05840" y="1874520"/>
            <a:ext cx="2423160" cy="1965960"/>
          </a:xfrm>
          <a:prstGeom prst="chevron">
            <a:avLst/>
          </a:prstGeom>
          <a:solidFill>
            <a:srgbClr val="1632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Xalqaro ahamiyat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2761488"/>
            <a:ext cx="19659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8FA"/>
                </a:solidFill>
              </a:rPr>
              <a:t>Eng keng bozor va tan olinuvchanlik darajasi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11880" y="1874520"/>
            <a:ext cx="2423160" cy="1965960"/>
          </a:xfrm>
          <a:prstGeom prst="chevron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Davlat / mamlakat ahamiyati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49040" y="2761488"/>
            <a:ext cx="19659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8FA"/>
                </a:solidFill>
              </a:rPr>
              <a:t>Milliy miqyosdagi nufuz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2423160" cy="196596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Tarmoq ahamiyati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2761488"/>
            <a:ext cx="19659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8FA"/>
                </a:solidFill>
              </a:rPr>
              <a:t>Turizm yoki xizmatlar tarmog‘i doirasidagi nufuz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23960" y="1874520"/>
            <a:ext cx="2423160" cy="1965960"/>
          </a:xfrm>
          <a:prstGeom prst="chevron">
            <a:avLst/>
          </a:prstGeom>
          <a:solidFill>
            <a:srgbClr val="B779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Hudud ahamiyati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0" y="2761488"/>
            <a:ext cx="19659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8FA"/>
                </a:solidFill>
              </a:rPr>
              <a:t>Viloyat, shahar yoki destinatsiya miqyosidagi nufuz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5-mezon: likvidliligi bo‘yicha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68680" y="150876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EAF7E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508760"/>
            <a:ext cx="73152" cy="3520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64592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Yuqori likvidli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9848" y="2039112"/>
            <a:ext cx="2944368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Nisbatan tez realizatsiya qilinishi yoki boshqa qiymatga aylantirilishi mumkin bo‘lgan aktivlar.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53128" y="150876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FF5D6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53128" y="1508760"/>
            <a:ext cx="73152" cy="35204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164592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Chegaralangan (o‘rta) likvidli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4296" y="2039112"/>
            <a:ext cx="2944368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Sotish yoki foydalanish huquqini o‘tkazish imkoniyati mavjud, ammo cheklovlar bor.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37576" y="150876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DEDEC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37576" y="1508760"/>
            <a:ext cx="73152" cy="352044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64592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Sust likvidli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38744" y="2039112"/>
            <a:ext cx="2944368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Bozori tor yoki huquqiy/iqtisodiy cheklovlar sabab tez realizatsiya qilish qiyin.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Nomoddiy aktivlar tarkibi — kitobdagi yondashuv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2412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Yer, suv va boshqa tabiiy resurslardan foydalanish huquqining qiymati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Bino, inshoot, uskuna va jihozlardan foydalanish huquqining qiymati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Ixtiro, ratsionalizatorlik takliflari va “nou-xau”lardan foydalanish huquqi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Tovar belgilari va boshqa intellektual mulkdan foydalanish huquqini beruvchi ruxsatnomalar qiymati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Turistik korxona kontekstida amaliy misollar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Kitobdagi tasnifni turizm biznesidagi odatiy obyektlarga tatbiq etish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544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Brend va tovar belgisi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Turistik kompaniya nomi va logotipi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417320"/>
            <a:ext cx="73152" cy="17830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5544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Dasturiy ta’minot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1728" y="194767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Rezervatsiya, CRM yoki buxgalteriya dasturi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417320"/>
            <a:ext cx="73152" cy="17830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15544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Litsenziya / ruxsat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76488" y="194767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Muayyan xizmat yoki platformadan foydalanish huquqi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56616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566160"/>
            <a:ext cx="73152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7033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Kontent huquqi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" y="409651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Foto, video, marshrut kontenti va mualliflik obyektlari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356616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566160"/>
            <a:ext cx="73152" cy="17830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37033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Nou-xau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81728" y="409651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Xizmat ko‘rsatish uslubi, jarayon va texnologik yechim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75320" y="356616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3566160"/>
            <a:ext cx="73152" cy="17830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6488" y="37033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Foydalanish huquqi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76488" y="4096512"/>
            <a:ext cx="31272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Muayyan resurs yoki obyektga nisbatan huquq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Tasniflashning boshqaruv ahamiyati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68680" y="1325880"/>
            <a:ext cx="10332720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Nomoddiy aktivlarni bir xil mezonlarda guruhlash tahlilni tizimlashtiradi.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Har bir guruhning qiymati, ulushi va samaradorligini alohida baholash mumkin.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Huquqiy kafolat va likvidlilik aktivning risk darajasini tushunishga yordam beradi.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Foydalanish muddati amortizatsiya siyosati va rejalashtirish bilan bog‘liq.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Nufuz darajasi brend kapitali va bozor pozitsiyasini baholashda yordamchi mezon bo‘la oladi.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4B8A6"/>
                </a:solidFill>
              </a:rPr>
              <a:t>7.2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Nomoddiy aktivlarni ifodalovchi ko‘rsatkichlar tahlili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33375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</a:rPr>
              <a:t>Ko‘rsatkichlar ikki katta guruhga bo‘linadi: holat ko‘rsatkichlari va samaradorlik ko‘rsatkichlari.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4800600"/>
            <a:ext cx="38404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Ko‘rsatkichlar tizimi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51560" y="1554480"/>
            <a:ext cx="4389120" cy="3520440"/>
          </a:xfrm>
          <a:prstGeom prst="roundRect">
            <a:avLst>
              <a:gd name="adj" fmla="val 2078"/>
            </a:avLst>
          </a:prstGeom>
          <a:solidFill>
            <a:srgbClr val="DFF7F4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554480"/>
            <a:ext cx="73152" cy="3520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2728" y="1691640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HOLAT KO‘RSATKICHLARI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52728" y="2084832"/>
            <a:ext cx="4041648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• umumiy hajm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• o‘rtacha yillik qiymat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• jami aktivlardagi ulush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• eskirish koeffitsienti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0" y="1554480"/>
            <a:ext cx="4389120" cy="3520440"/>
          </a:xfrm>
          <a:prstGeom prst="roundRect">
            <a:avLst>
              <a:gd name="adj" fmla="val 2078"/>
            </a:avLst>
          </a:prstGeom>
          <a:solidFill>
            <a:srgbClr val="E8F1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554480"/>
            <a:ext cx="73152" cy="3520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4848" y="1691640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SAMARADORLIK KO‘RSATKICHLARI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84848" y="2084832"/>
            <a:ext cx="4041648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• daromadlilik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• rentabellik (foydalilik)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• aylanuvchanlik / samaradorlik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Nomoddiy aktivlarning umumiy hajmi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10241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54480"/>
            <a:ext cx="73152" cy="2468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691640"/>
            <a:ext cx="9893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Mazmuni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2084832"/>
            <a:ext cx="9893808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Korxona balansida qayd etilgan nomoddiy aktivlarning jami qiymatini ifodalaydi. Xoliqulov bu ko‘rsatkichni balans aktiv qismi ma’lumotlari bilan bog‘laydi.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25196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FFF5D6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51960"/>
            <a:ext cx="73152" cy="10515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4389120"/>
            <a:ext cx="9893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Tahlilda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4782312"/>
            <a:ext cx="98938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Davr boshidagi va davr oxiridagi qiymat solishtiriladi; mutlaq farq va o‘zgarish sur’ati aniqlanadi.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O‘rtacha yillik qiymat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96596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18541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NĀ = (NA_y.b. + NA_y.o.) / 2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71576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NA_y.b. — yil boshidagi; NA_y.o. — yil oxiridagi nomoddiy aktivlar qiymati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280160" y="3703320"/>
            <a:ext cx="969264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O‘rtacha yillik qiymat samaradorlik ko‘rsatkichlarini hisoblash uchun asos bo‘ladi.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U davr boshidagi va oxiridagi qiymatning oddiy arifmetik o‘rtachasi sifatida aniqlanadi.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Jami aktivlardagi ulushi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96596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18541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U_NA = NA / B × 100%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71576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 — balans jami summasi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88720" y="3657600"/>
            <a:ext cx="98755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Ko‘rsatkich korxona aktivlari tarkibida nomoddiy aktivlarning salmog‘ini ko‘rsatadi.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Uning o‘sishi nomoddiy resurslar ulushi ortayotganini bildiradi, ammo ijobiy baho berish uchun samaradorlik bilan birga ko‘riladi.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Eskirish koeffitsienti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96596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18541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K_esk = Eskirish summasi / NA boshlang‘ich qiymati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71576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Nomoddiy aktivlar eskirishi va ularning umumiy qiymati nisbati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43000" y="3657600"/>
            <a:ext cx="98755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Koeffitsient nomoddiy aktivlar qiymatining qanchasi eskirish orqali hisobdan chiqarilganini ko‘rsatadi.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Dinamikada ko‘rsatkich o‘zgarishi aktivlarning yangilanishi yoki eskirish jarayonlari bilan bog‘liq holda talqin qilinadi.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7.1-jadval: nomoddiy aktivlar holati</a:t>
            </a:r>
            <a:endParaRPr lang="en-US" sz="2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425196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1508760"/>
                <a:gridCol w="1417320"/>
                <a:gridCol w="182880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Yil boshida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Yil oxirida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Farqi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O‘zgarish sur’ati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Nomoddiy aktivlar, ming so‘m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215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230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107,0%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 eskirishi, ming so‘m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120,0%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 qoldiq qiymati, ming so‘m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190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105,3%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Barcha aktivlar, ming so‘m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9345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9700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+355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103,8%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NAning balansdagi ulushi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2,30%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2,37%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+0,07 p.p.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103,0%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Eskirish koeffitsienti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0,116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0,130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+0,014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112,1%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Manba: Xoliqulov, 7.1-jadval.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7.1-jadval: asosiy qiymatlar dinamikasi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325880"/>
          <a:ext cx="102412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7.1-jadval bo‘yicha tahliliy xulosa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EAF7E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17320"/>
            <a:ext cx="73152" cy="3611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55448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Hajm o‘sdi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1947672"/>
            <a:ext cx="3035808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Nomoddiy aktivlar 215 ming so‘mdan 230 ming so‘mga oshgan: +15 ming so‘m yoki 7%.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7408" y="141732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DFF7F4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07408" y="1417320"/>
            <a:ext cx="73152" cy="3611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55448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Ulush oshdi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08576" y="1947672"/>
            <a:ext cx="3035808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Jami aktivlardagi ulush 2,30% dan 2,37% gacha ko‘tarilgan.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91856" y="141732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FFF5D6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91856" y="1417320"/>
            <a:ext cx="73152" cy="36118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55448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Eskirish ham o‘sdi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93024" y="1947672"/>
            <a:ext cx="3035808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Eskirish summasi 20% ga, eskirish koeffitsienti esa 0,116 dan 0,130 gacha oshgan.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Holat ko‘rsatkichlarini birgalikda talqin qilish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1024128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Nomoddiy aktivlar qiymatining o‘sishi o‘zi bilan-o‘zi yetarli ijobiy natija emas.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Ularning balansdagi ulushi va qoldiq qiymati o‘sishi kapital tarkibidagi rolini ko‘rsatadi.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Eskirish koeffitsienti o‘sayotgan bo‘lsa, yangilash, modernizatsiya yoki yangi huquqlarni sotib olish zarurati paydo bo‘lishi mumkin.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Shu sababli holat ko‘rsatkichlari samaradorlik ko‘rsatkichlari bilan birgalikda tahlil qilinadi.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Nomoddiy aktivlar samaradorligi ko‘rsatkichlari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DFF7F4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417320"/>
            <a:ext cx="73152" cy="3657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55448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Daromadlilik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9848" y="1947672"/>
            <a:ext cx="2944368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1 so‘m nomoddiy aktivga to‘g‘ri keladigan daromad miqdorini ko‘rsatadi.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53128" y="141732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E8F1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53128" y="1417320"/>
            <a:ext cx="73152" cy="3657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155448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Rentabellik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4296" y="1947672"/>
            <a:ext cx="2944368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1 so‘m nomoddiy aktivga to‘g‘ri keladigan foyda miqdorini ko‘rsatadi.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37576" y="141732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FFF5D6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37576" y="1417320"/>
            <a:ext cx="73152" cy="36576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55448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Aylanuvchanlik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38744" y="1947672"/>
            <a:ext cx="2944368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Nomoddiy aktivlar tahlil davrida necha marta “aylanganini” yoki xizmat hajmini yaratishda qanchalik faol ishlatilganini ifodalaydi.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Nomoddiy aktivlar daromadliligi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96596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18541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NA_d = D / NĀ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71576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 — nomoddiy aktivlardan foydalanish evaziga olinadigan daromad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88720" y="3657600"/>
            <a:ext cx="97840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Natija “1 so‘m nomoddiy aktiv qancha daromad yaratdi?” degan savolga javob beradi.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Ko‘rsatkichning o‘sishi odatda nomoddiy aktivlardan foydalanish samaradorligi yaxshilanganini bildiradi.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Nomoddiy aktivlar rentabelligi (foydaliligi)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96596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18541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NA_r = F / NĀ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71576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 — nomoddiy aktivlardan foydalanish evaziga olinadigan foyda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88720" y="3657600"/>
            <a:ext cx="97840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Rentabellik daromaddan farqli ravishda foyda natijasiga bog‘liq.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Tahlilda daromadlilik va rentabellik bir-birini to‘ldiradi: birinchisi tushum salohiyatini, ikkinchisi iqtisodiy foydani ko‘rsatadi.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Nomoddiy aktivlar aylanuvchanligi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96596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18541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NA_a = Q / NĀ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71576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Q — sotilgan mahsulot / xizmatlar umumiy hajmi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88720" y="3657600"/>
            <a:ext cx="97840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Aylanuvchanlik nominal aktiv qiymatining xizmat yoki sotuv hajmini yaratishdagi intensivligini tavsiflaydi.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Ko‘rsatkich qancha yuqori bo‘lsa, bir xil aktiv bazasidan ko‘proq faoliyat hajmi yaratilgan bo‘ladi.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7.2-jadval: samaradorlik ko‘rsatkichlari</a:t>
            </a:r>
            <a:endParaRPr lang="en-US" sz="2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84280" cy="4572000"/>
        </p:xfrm>
        <a:graphic>
          <a:graphicData uri="http://schemas.openxmlformats.org/drawingml/2006/table">
            <a:tbl>
              <a:tblPr/>
              <a:tblGrid>
                <a:gridCol w="3383280"/>
                <a:gridCol w="1463040"/>
                <a:gridCol w="1508760"/>
                <a:gridCol w="150876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O‘tgan yil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Hisobot yili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Farqi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O‘zgarish sur’ati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Sotilgan mahsulot hajmi, ming so‘m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4583,3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5694,5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+1111,2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124,3%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Daromad, ming so‘m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511,0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711,7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+200,7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139,3%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Foyda, ming so‘m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368,0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492,2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+128,2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134,8%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 o‘rtacha yillik qiymati, ming so‘m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212,5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222,5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+10,0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104,7%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 aylanuvchanligi, marta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21,6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25,6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+4,0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118,0%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 daromadliligi, so‘m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2,40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3,20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+0,80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133,3%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 foydaliligi, so‘m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1,73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2,23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+0,50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128,9%</a:t>
                      </a:r>
                      <a:endParaRPr lang="en-US" sz="11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7.2-jadval: moliyaviy natijalar o‘sishi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325880"/>
          <a:ext cx="102412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7.2-jadval: samaradorlik dinamikasi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325880"/>
          <a:ext cx="102412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7.2-jadval bo‘yicha asosiy xulosalar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DFF7F4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17320"/>
            <a:ext cx="73152" cy="3611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5448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Aylanuvchanlik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947672"/>
            <a:ext cx="3218688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21,6 martadan 25,6 martagacha oshgan: +4,0 marta yoki 18%.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15968" y="141732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E8F1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1417320"/>
            <a:ext cx="73152" cy="36118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155448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Daromadlilik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17136" y="1947672"/>
            <a:ext cx="3218688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2,40 so‘mdan 3,20 so‘mgacha oshgan: +0,80 so‘m yoki 33,3%.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00416" y="141732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EAF7E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0416" y="1417320"/>
            <a:ext cx="73152" cy="3611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1584" y="155448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Foydalilik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01584" y="1947672"/>
            <a:ext cx="3218688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1,73 so‘mdan 2,23 so‘mgacha oshgan: +0,50 so‘m yoki 28,9%.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Muhim metodik izoh: natijani aktivga bog‘lash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1024128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Agar hisob va hisobotda nomoddiy aktivlardan foydalanish evaziga olingan daromad yoki foyda alohida aniqlansa, hisob-kitobda aynan shu qismdan foydalanish maqsadga muvofiq.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Agar bunday ajratish imkoni bo‘lmasa, umumiy moliyaviy natijalar qo‘llanishi mumkin, lekin tahliliy xulosada bu cheklov qayd etilishi lozim.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Bu yondashuv sabab–natija bog‘lanishini aniqroq ko‘rsatishga xizmat qiladi.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Ko‘rsatkichlar o‘rtasidagi multiplikativ bog‘lanish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87452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09397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NA_r = F_d × D_Q × Q_NA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62432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F_d — foydaning daromaddagi hissasi; D_Q — sotilgan mahsulot daromadliligi; Q_NA — NA samaradorligi (aylanuvchanligi)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43000" y="3657600"/>
            <a:ext cx="98755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Xoliqulov qisqartirish usuli yordamida nomoddiy aktivlar rentabelligini uchta omil ko‘paytmasi ko‘rinishida ifodalaydi.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Bu model 7.3-banddagi omilli tahlil uchun asos bo‘ladi.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Rentabellikning uch omilli modeli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68680" y="1600200"/>
            <a:ext cx="3291840" cy="2971800"/>
          </a:xfrm>
          <a:prstGeom prst="roundRect">
            <a:avLst/>
          </a:prstGeom>
          <a:solidFill>
            <a:srgbClr val="DFF7F4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72768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Foydaning daromaddagi hissasi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F_d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617720" y="1600200"/>
            <a:ext cx="3291840" cy="297180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B6CB0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321808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Sotilgan mahsulot daromadliligi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0060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CB0"/>
                </a:solidFill>
              </a:rPr>
              <a:t>D_Q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366760" y="1600200"/>
            <a:ext cx="3291840" cy="2971800"/>
          </a:xfrm>
          <a:prstGeom prst="roundRect">
            <a:avLst/>
          </a:prstGeom>
          <a:solidFill>
            <a:srgbClr val="FFF5D6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2220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7791F"/>
                </a:solidFill>
              </a:rPr>
              <a:t>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070848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NA aylanuvchanligi / samaradorligi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4964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7791F"/>
                </a:solidFill>
              </a:rPr>
              <a:t>Q_NA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4B8A6"/>
                </a:solidFill>
              </a:rPr>
              <a:t>7.3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Nomoddiy aktivlar samaradorligining omilli tahlili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33375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</a:rPr>
              <a:t>Rentabellik o‘zgarishiga ta’sir etuvchi uch omil zanjirli almashtirish usuli bilan aniqlanadi.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4800600"/>
            <a:ext cx="38404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1-omil: foydaning daromaddagi hissasi ta’siri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92024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13969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ΔNA_r(F_d) = (F_d1 × D_Q0 × Q_NA0) − (F_d0 × D_Q0 × Q_NA0)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67004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Birinchi omilning haqiqiy darajasi kiritilib, qolgan omillar bazis holatda qoldiriladi.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371600" y="3886200"/>
            <a:ext cx="9464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388620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4023360"/>
            <a:ext cx="9116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Mazmuni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2768" y="4416552"/>
            <a:ext cx="91165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Foydaning daromaddagi hissasi o‘zgarishi nomoddiy aktivlar rentabelligiga qanchalik ta’sir qilganini ko‘rsatadi.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2-omil: sotilgan mahsulot daromadliligi ta’siri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92024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13969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ΔNA_r(D_Q) = (F_d1 × D_Q1 × Q_NA0) − (F_d1 × D_Q0 × Q_NA0)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67004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Birinchi omil haqiqiy, uchinchi omil bazis darajada; ikkinchi omil almashtiriladi.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371600" y="3886200"/>
            <a:ext cx="9464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3886200"/>
            <a:ext cx="73152" cy="1234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4023360"/>
            <a:ext cx="9116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Mazmuni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2768" y="4416552"/>
            <a:ext cx="91165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Sotilgan mahsulot yoki xizmatlar daromadliligi o‘zgarishi rentabellik natijasiga ta’sirini ajratadi.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3-omil: NA aylanuvchanligi ta’siri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92024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13969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ΔNA_r(Q_NA) = (F_d1 × D_Q1 × Q_NA1) − (F_d1 × D_Q1 × Q_NA0)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67004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Oldingi ikki omil haqiqiy darajada, oxirgi omil almashtiriladi.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371600" y="3886200"/>
            <a:ext cx="9464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3886200"/>
            <a:ext cx="73152" cy="12344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4023360"/>
            <a:ext cx="9116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Mazmuni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2768" y="4416552"/>
            <a:ext cx="91165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Nomoddiy aktivlardan foydalanish intensivligi — aylanuvchanlik tezligi — rentabellikni qanchaga o‘zgartirganini ko‘rsatadi.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Omillar ta’sirini tekshirish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96596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18541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ΔNA_r = ΔNA_r(F_d) ± ΔNA_r(D_Q) ± ΔNA_r(Q_NA)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71576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Barcha omillar ta’siri natijaning umumiy farqiga teng bo‘lishi kerak.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88720" y="3657600"/>
            <a:ext cx="98755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Bu tenglik omilli hisob-kitobning arifmetik nazoratini ta’minlaydi.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Agar yig‘indi umumiy farqqa teng bo‘lmasa, zanjirli almashtirish ketma-ketligi yoki hisoblarda xato bor.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7.3-jadval: omilli tahlil uchun ma’lumotlar</a:t>
            </a:r>
            <a:endParaRPr lang="en-US" sz="25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11567160" cy="4023360"/>
        </p:xfrm>
        <a:graphic>
          <a:graphicData uri="http://schemas.openxmlformats.org/drawingml/2006/table">
            <a:tbl>
              <a:tblPr/>
              <a:tblGrid>
                <a:gridCol w="3154680"/>
                <a:gridCol w="1234440"/>
                <a:gridCol w="1325880"/>
                <a:gridCol w="1143000"/>
                <a:gridCol w="1325880"/>
                <a:gridCol w="1325880"/>
                <a:gridCol w="13258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O‘tgan yil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Hisobot yili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Farqi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 almasht.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II almasht.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III almasht.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Foydaning yalpi daromaddagi hissasi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0,720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0,697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−0,023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0,697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0,697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0,697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Sotilgan mahsulot daromadliligi, tiyin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11,15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12,50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+1,35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11,15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12,50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12,50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 samaradorligi, marta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21,6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25,6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+4,0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21,6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21,6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25,6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 foydaliligi, so‘m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1,73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2,23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+0,50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1,68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1,88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2,23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Manba: Xoliqulov, 7.3-jadval. Kitobdagi izohga muvofiq II almashtirish natijasi 1,88 so‘m sifatida qo‘llanadi.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Omillar ta’sirining miqdoriy natijasi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60020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FDEDEC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600200"/>
            <a:ext cx="73152" cy="333756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73736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Foyda hissasi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" y="2130552"/>
            <a:ext cx="2212848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−0,05 so‘m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11296" y="160020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E8F1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11296" y="1600200"/>
            <a:ext cx="73152" cy="333756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2464" y="173736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Mahsulot daromadliligi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12464" y="2130552"/>
            <a:ext cx="2212848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+0,20 so‘m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64224" y="160020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EAF7E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4224" y="1600200"/>
            <a:ext cx="73152" cy="33375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73736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NA aylanuvchanligi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2130552"/>
            <a:ext cx="2212848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+0,35 so‘m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217152" y="160020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DFF7F4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17152" y="1600200"/>
            <a:ext cx="73152" cy="3337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73736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Jami o‘zgarish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18320" y="2130552"/>
            <a:ext cx="2212848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+0,50 so‘m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1-omil bo‘yicha tahliliy xulosa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08760"/>
            <a:ext cx="10241280" cy="3474720"/>
          </a:xfrm>
          <a:prstGeom prst="roundRect">
            <a:avLst>
              <a:gd name="adj" fmla="val 2105"/>
            </a:avLst>
          </a:prstGeom>
          <a:solidFill>
            <a:srgbClr val="FDEDEC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08760"/>
            <a:ext cx="73152" cy="347472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645920"/>
            <a:ext cx="9893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Foydaning yalpi daromaddagi hissasi kamaygan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2039112"/>
            <a:ext cx="9893808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Ko‘rsatkich 0,720 dan 0,697 gacha, ya’ni 0,023 punktga kamaygan. Natijada nomoddiy aktivlar foydaliligi 0,05 so‘mga pasaygan: 1,68 − 1,73 = −0,05 so‘m.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Xoliqulovdagi hisob-kitob natijasi.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2-omil bo‘yicha tahliliy xulosa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08760"/>
            <a:ext cx="10241280" cy="3474720"/>
          </a:xfrm>
          <a:prstGeom prst="roundRect">
            <a:avLst>
              <a:gd name="adj" fmla="val 2105"/>
            </a:avLst>
          </a:prstGeom>
          <a:solidFill>
            <a:srgbClr val="E8F1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08760"/>
            <a:ext cx="73152" cy="3474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645920"/>
            <a:ext cx="9893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Sotilgan mahsulot daromadliligi oshgan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2039112"/>
            <a:ext cx="9893808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Daromadlilik 11,15 tiyindan 12,50 tiyingacha, ya’ni 1,35 tiyinga oshgan. Bu nomoddiy aktivlar foydaliligini 0,20 so‘mga ko‘paytirgan: 1,88 − 1,68 = +0,20 so‘m.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Xoliqulovdagi hisob-kitob natijasi.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3-omil bo‘yicha tahliliy xulosa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08760"/>
            <a:ext cx="10241280" cy="3474720"/>
          </a:xfrm>
          <a:prstGeom prst="roundRect">
            <a:avLst>
              <a:gd name="adj" fmla="val 2105"/>
            </a:avLst>
          </a:prstGeom>
          <a:solidFill>
            <a:srgbClr val="EAF7E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08760"/>
            <a:ext cx="73152" cy="34747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645920"/>
            <a:ext cx="9893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Nomoddiy aktivlar aylanuvchanligi oshgan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2039112"/>
            <a:ext cx="9893808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Aylanuvchanlik 21,6 martadan 25,6 martagacha, ya’ni 4 marta oshgan. Bu nomoddiy aktivlar foydaliligini 0,35 so‘mga ko‘paytirgan: 2,23 − 1,88 = +0,35 so‘m.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Xoliqulovdagi hisob-kitob natijasi.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Omilli tahlilning yakuniy tekshiruvi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96596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218541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−0,05 + 0,20 + 0,35 = +0,50 so‘m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71576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Omillar ta’siri nomoddiy aktivlar foydaliligining umumiy o‘zgarishiga teng.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97280" y="3749040"/>
            <a:ext cx="996696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749040"/>
            <a:ext cx="73152" cy="1325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3886200"/>
            <a:ext cx="9619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Asosiy drayver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4279392"/>
            <a:ext cx="96194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Eng katta ijobiy hissa nomoddiy aktivlar aylanuvchanligining oshishi hisobiga yuzaga kelgan (+0,35 so‘m).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Tahlildan boshqaruv qaroriga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68680" y="1325880"/>
            <a:ext cx="10332720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Nomoddiy aktivlar hajmini oshirishdan ko‘ra ularning samaradorligini oshirish ustuvor bo‘lishi mumkin.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Aylanuvchanlikni tezlashtirgan omillar aniqlanib, boshqa aktivlarga ham tatbiq etiladi.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Daromadlilik o‘sishi xarajat, narx va xizmatlar tarkibi bilan birga tahlil qilinadi.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Foyda ulushining pasayishi xarajatlar oshishi yoki marja qisqarishini anglatishi mumkin — sabablar alohida o‘rganiladi.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Eskirish koeffitsienti bilan birga yangilash va modernizatsiya ehtiyoji baholanadi.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Normativ yangilanish: amaldagi 7-son BHMS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Kitobning asosiy tahliliy mazmuni saqlanadi; quyidagi ma’lumot joriy normativ holatni ko‘rsatadi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3337560" cy="3794760"/>
          </a:xfrm>
          <a:prstGeom prst="roundRect">
            <a:avLst>
              <a:gd name="adj" fmla="val 2192"/>
            </a:avLst>
          </a:prstGeom>
          <a:solidFill>
            <a:srgbClr val="DFF7F4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73152" cy="3794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0876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Hujjat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901952"/>
            <a:ext cx="2990088" cy="3136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7-son BHMS “Nomoddiy aktivlar” 2024-yil 9-avgustda 3547-son bilan ro‘yxatdan o‘tgan va 2024-yil 12-avgustdan kuchga kirgan.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425696" y="1371600"/>
            <a:ext cx="3337560" cy="3794760"/>
          </a:xfrm>
          <a:prstGeom prst="roundRect">
            <a:avLst>
              <a:gd name="adj" fmla="val 2192"/>
            </a:avLst>
          </a:prstGeom>
          <a:solidFill>
            <a:srgbClr val="E8F1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25696" y="1371600"/>
            <a:ext cx="73152" cy="379476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50876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Qamrov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26864" y="1901952"/>
            <a:ext cx="2990088" cy="3136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Standart budjet tashkilotlari, banklar va nobank kredit tashkilotlaridan tashqari yuridik shaxslar uchun nomoddiy aktivlar hisobini tartibga soladi.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28432" y="1371600"/>
            <a:ext cx="3337560" cy="3794760"/>
          </a:xfrm>
          <a:prstGeom prst="roundRect">
            <a:avLst>
              <a:gd name="adj" fmla="val 2192"/>
            </a:avLst>
          </a:prstGeom>
          <a:solidFill>
            <a:srgbClr val="FFF5D6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1371600"/>
            <a:ext cx="73152" cy="37947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0876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Asosiy masalalar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1901952"/>
            <a:ext cx="2990088" cy="3136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Tan olish, balans qiymati, foydali xizmat muddati, amortizatsiya, qayta baholash, chiqib ketish va hisobotda yoritish tartibi.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Normativ manba: Lex.uz, 7-son BHMS, ro‘yxat №3547 (joriy versiya 11.02.2025).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Amaldagi BHMSda nomoddiy aktiv tushunchasi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0241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371600"/>
            <a:ext cx="73152" cy="2331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508760"/>
            <a:ext cx="9893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Qisqa mazmun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901952"/>
            <a:ext cx="9893808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Nomoddiy aktiv — tashkilot tomonidan uzoq muddat foydalanish maqsadida ushlab turiladigan, moddiy-ashyoviy mazmunga ega bo‘lmagan va identifikatsiyalanadigan mol-mulk obyekti.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1005840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Amaldagi standartda foydali xizmat muddati — aktivdan foydalanish ko‘zda tutilgan davr yoki undan olinishi mo‘ljallangan mahsulot, ish va xizmatlar miqdori sifatida talqin qilinadi.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Bu tushunchalar Xoliqulovdagi tahliliy ko‘rsatkichlarni zamonaviy hisob siyosati bilan bog‘lash imkonini beradi.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Manba: Lex.uz, 7-son BHMS, 5-band.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bo‘yicha umumlashtirish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68680" y="132588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32588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463040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Tasniflash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9848" y="1856232"/>
            <a:ext cx="4727448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Manbasi, huquqiy kafolati, muddat, nufuz va likvidlilik bo‘yicha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46520" y="132588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325880"/>
            <a:ext cx="73152" cy="19202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7688" y="1463040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Holat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47688" y="1856232"/>
            <a:ext cx="4727448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Hajm, o‘rtacha qiymat, aktivlardagi ulush, eskirish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" y="365760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657600"/>
            <a:ext cx="73152" cy="19202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794760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Samaradorlik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9848" y="4187952"/>
            <a:ext cx="4727448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Daromadlilik, rentabellik, aylanuvchanlik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46520" y="365760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3657600"/>
            <a:ext cx="73152" cy="19202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3794760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Omilli tahlil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47688" y="4187952"/>
            <a:ext cx="4727448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Foyda hissasi × mahsulot daromadliligi × NA aylanuvchanligi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Tayanch so‘z va iboralar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417320"/>
            <a:ext cx="2514600" cy="868680"/>
          </a:xfrm>
          <a:prstGeom prst="roundRect">
            <a:avLst/>
          </a:prstGeom>
          <a:solidFill>
            <a:srgbClr val="DF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Ta’sischilar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493008" y="1417320"/>
            <a:ext cx="2514600" cy="8686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Jahon andozalari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27648" y="1417320"/>
            <a:ext cx="2514600" cy="86868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Mulk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62288" y="1417320"/>
            <a:ext cx="2514600" cy="86868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Tovar belgisi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58368" y="2743200"/>
            <a:ext cx="2514600" cy="868680"/>
          </a:xfrm>
          <a:prstGeom prst="roundRect">
            <a:avLst/>
          </a:prstGeom>
          <a:solidFill>
            <a:srgbClr val="DF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Mualliflik huquqi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493008" y="2743200"/>
            <a:ext cx="2514600" cy="8686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Chegaralangan likvidlilik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27648" y="2743200"/>
            <a:ext cx="2514600" cy="86868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Nomoddiy aktivlar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162288" y="2743200"/>
            <a:ext cx="2514600" cy="86868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Daromadlilik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8368" y="4069080"/>
            <a:ext cx="2514600" cy="868680"/>
          </a:xfrm>
          <a:prstGeom prst="roundRect">
            <a:avLst/>
          </a:prstGeom>
          <a:solidFill>
            <a:srgbClr val="DF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Rentabellik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493008" y="4069080"/>
            <a:ext cx="2514600" cy="86868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Aylanuvchanlik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27648" y="4069080"/>
            <a:ext cx="2514600" cy="86868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Eskirish koeffitsienti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162288" y="4069080"/>
            <a:ext cx="2514600" cy="86868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Omilli tahlil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bo‘yicha nazorat savollari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2412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Nomoddiy aktivlarning daromadliligi deganda nimani tushunasiz?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Nomoddiy aktivlarning eskirish koeffitsienti nimani ifodalaydi?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Nomoddiy aktivlar holatini ifodalovchi ko‘rsatkichlarni sanab bering.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Nomoddiy aktivlar samaradorligiga ta’sir etuvchi omillar qanday aniqlanadi?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Sotilgan mahsulot daromadliligi omilli modelda qanday o‘rin tutadi?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topshiriq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Quyidagi shartli ma’lumotlar asosida 3 ta ko‘rsatkichni hisoblang</a:t>
            </a:r>
            <a:endParaRPr lang="en-US" sz="115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71600"/>
          <a:ext cx="4937760" cy="3246120"/>
        </p:xfrm>
        <a:graphic>
          <a:graphicData uri="http://schemas.openxmlformats.org/drawingml/2006/table">
            <a:tbl>
              <a:tblPr/>
              <a:tblGrid>
                <a:gridCol w="3337560"/>
                <a:gridCol w="15087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Qiymat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Nomoddiy aktivlarning o‘rtacha yillik qiymati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 mln so‘m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Sotilgan xizmatlar hajmi (Q)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7 500 mln so‘m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Daromad (D)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960 mln so‘m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Foyda (F)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615 mln so‘m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37160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DFF7F4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80760" y="1371600"/>
            <a:ext cx="73152" cy="3246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81928" y="1508760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Hisoblang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81928" y="1901952"/>
            <a:ext cx="4727448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1) NA aylanuvchanligi = Q / NĀ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2) NA daromadliligi = D / NĀ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3) NA rentabelligi = F / NĀ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Natijalarni iqtisodiy mazmuni bilan izohlang.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Bu slayddagi raqamlar dars mashqi uchun shartli tuzilgan; kitob statistikasi emas.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topshiriq — tekshirish uchun javob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011680" y="141732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163677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Aylanuvchanlik = 7 500 / 300 = 25 marta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31720" y="216712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Bir so‘m nomoddiy aktiv 25 so‘mlik xizmat hajmini shakllantirishda qatnashgan.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11680" y="288036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309981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Daromadlilik = 960 / 300 = 3,20 so‘m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331720" y="363016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1 so‘m nomoddiy aktivga 3,20 so‘m daromad to‘g‘ri keladi.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0" y="4343400"/>
            <a:ext cx="8183880" cy="1143000"/>
          </a:xfrm>
          <a:prstGeom prst="roundRect">
            <a:avLst/>
          </a:prstGeom>
          <a:solidFill>
            <a:srgbClr val="EDF8F7"/>
          </a:solidFill>
          <a:ln w="16510">
            <a:solidFill>
              <a:srgbClr val="A7E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456285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Rentabellik = 615 / 300 = 2,05 so‘m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331720" y="509320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1 so‘m nomoddiy aktivga 2,05 so‘m foyda to‘g‘ri keladi.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XULOSA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Nomoddiy aktivlar — ko‘rinmaydigan,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ammo natijasi o‘lchanadigan resursdir.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5F1"/>
                </a:solidFill>
              </a:rPr>
              <a:t>Ularni tahlil qilish qiymatning o‘zgarishini emas, balki shu qiymat qancha daromad, foyda va xizmat hajmi yaratishini aniqlashga qaratiladi.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38404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0292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CD0DE"/>
                </a:solidFill>
              </a:rPr>
              <a:t>Asosiy manba: A.N. Xoliqulov, 2024. VII bob.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CD0DE"/>
                </a:solidFill>
              </a:rPr>
              <a:t>Normativ yangilanish: 7-son BHMS “Nomoddiy aktivlar”, ro‘yxat №3547.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O‘quv taqdimoti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Turistik korxonalarning nomoddiy aktivlarini ifodalovchi ko‘rsatkichlar va ularni tahlil qilish yo‘llari</dc:title>
  <dc:subject>Turistik korxonalar faoliyati tahlili — 7-mavzu</dc:subject>
  <dc:creator>OpenAI</dc:creator>
  <cp:lastModifiedBy>OpenAI</cp:lastModifiedBy>
  <cp:revision>1</cp:revision>
  <dcterms:created xsi:type="dcterms:W3CDTF">2026-09-15T04:01:12Z</dcterms:created>
  <dcterms:modified xsi:type="dcterms:W3CDTF">2026-09-15T04:01:12Z</dcterms:modified>
</cp:coreProperties>
</file>