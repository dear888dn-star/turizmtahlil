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D45"/>
          </a:solidFill>
          <a:ln w="12700">
            <a:solidFill>
              <a:srgbClr val="0B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A.N. Xoliqulov (2024) • “Turistik korxonalar faoliyati tahlili” • VIII bob, 137–163-betlar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8-mavzu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0B2D45"/>
          </a:solidFill>
          <a:ln w="12700">
            <a:solidFill>
              <a:srgbClr val="0B2D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D3D"/>
                </a:solidFill>
              </a:rPr>
              <a:t>VIII BOB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8-MAVZU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206240" y="1280160"/>
            <a:ext cx="70408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D45"/>
                </a:solidFill>
              </a:rPr>
              <a:t>Turistik korxonalarning aylanma mablag‘larini ifodalovchi ko‘rsatkichlar va ularni tahlil qilish yo‘llari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33672" y="34015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</a:rPr>
              <a:t>A.N. Xoliqulovning 2024-yilgi o‘quv qo‘llanmasi asosida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33672" y="4069080"/>
            <a:ext cx="29260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5B83"/>
                </a:solidFill>
              </a:rPr>
              <a:t>137–163-betlar • 8.1–8.6-paragraflar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33672" y="4956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Dars taqdimoti • 55 slayd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o‘quv maqsadlari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Tushunish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mablag‘larning iqtisodiy mazmuni, tarkibi va korxona faoliyatidagi rolini tushunish.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Hisoblash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Holat, ta’minlanganlik va samaradorlik ko‘rsatkichlarini formulalar asosida aniqlash.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Tahlil qilish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Dinamikani, tarkibiy o‘zgarishlarni, me’yordan chetlanishni va omillar ta’sirini baholash.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rejasi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Bo‘lim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va ularni tahlil qilish vazifalari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mablag‘larni ifodalovchi ko‘rsatkichlar tasnifi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holatini tahlil qilish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bilan ta’minlanganlik tahlili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samaradorligi tahlili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mablag‘larda joylashgan o‘z mablag‘lari tahlili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Aylanma mablag‘lar va tahlil vazifalari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Aylanma aktivlarning mohiyati, harakatchanligi va moliyaviy holat bilan bog‘liqligi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tushunchasi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Aylanma mablag‘lar — korxonaning aylanma fondlar, muomala fondlari va boshqa harakatdagi aktivlarda turgan pul mablag‘lari.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Ular ishlab chiqarish va muomala jarayonida uzluksiz harakatda bo‘lib, bir sikl davomida to‘liq iste’mol qilinadi va o‘z qiymatini natijaga o‘tkazadi.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va asosiy vositalar farqi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257800" cy="4434840"/>
          </a:xfrm>
          <a:prstGeom prst="roundRect">
            <a:avLst/>
          </a:prstGeom>
          <a:solidFill>
            <a:srgbClr val="EDF4F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Aylanma mablag‘lar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Bir siklda to‘liq iste’mol qilinadi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Qiymati to‘liq natijaga o‘tadi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Doimiy ravishda shaklini o‘zgartiradi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11480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Likvidlik va to‘lov qobiliyatiga bevosita ta’sir qiladi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257800" cy="4434840"/>
          </a:xfrm>
          <a:prstGeom prst="roundRect">
            <a:avLst/>
          </a:prstGeom>
          <a:solidFill>
            <a:srgbClr val="F8F3E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Asosiy vositalar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1967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Ko‘p siklda xizmat qiladi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Qiymati amortizatsiya orqali o‘tadi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1967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Uzoq muddat foydalaniladi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519672" y="411480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Ishlab chiqarish salohiyatini belgilaydi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Korxona mablag‘laridagi ulushi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60–90%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Xoliqulov qayd etishicha, faoliyat sohasiga qarab aylanma mablag‘lar korxona umumiy xo‘jalik mablag‘larining katta qismini tashkil etishi mumkin. Bu ko‘rsatkich kitobdagi umumlashtirilgan tavsifdir.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bo‘yicha axborot manbalari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Buxgalteriya balansi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aktivlar balans aktivining II bo‘limida aks ettiriladi. Bo‘lim yakuni muayyan sanadagi aylanma mablag‘lar summasini ko‘rsatadi.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Debitor/kreditor ma’lumoti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Debitorlik va kreditorlik qarzlari to‘g‘risidagi axborotlar tahlil uchun alohida muhim manbadir.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Reja va operativ ma’lumotlar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Me’yorlar, sotish rejasi, xarajatlar va kunlik realizatsiya ko‘rsatkichlari bilan taqqoslash talab qilinadi.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 e’tibor berishi kerak bo‘lgan 3 jihat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1. Aktivlar tarkibi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aktivlar ulushining uzoq muddatli aktivlarga nisbatan qanday o‘zgarayotganini kuzatish.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2. Qisqa muddatli qarzlar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aktivlar o‘sishi qarz mablag‘lari hisobiga yuz berayotgan bo‘lsa, risk ortadi.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3. To‘lov qobiliyati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aktivlar qisqa muddatli qarzlardan kam bo‘lsa, korxonaning to‘lovga qobiliyati jiddiy zaiflashadi.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mablag‘larni tahlil qilish vazifalari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Umumiy hajm va dinamikani aniqlash.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Tarkibiy tuzilishdagi o‘zgarishlarni baholash.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Harakatchanlik va tez likvid bo‘ladigan aktivlar ulushini o‘rganish.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 qarzlariga jalb qilingan mablag‘lar miqdorini nazorat qilish.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O‘z va qarz mablag‘lari ishtirokini aniqlash.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Samaradorlikni oshirish uchun ichki imkoniyatlarni topish.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Ko‘rsatkichlar tizimi va tasnifi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Xoliqulov taklif etgan uch guruhli tasnif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ko‘rsatkichlarining 3 guruhi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I. Holat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Umumiy summa, o‘rtacha yillik qiymat, aktivlardagi ulush, pul, zaxira, debitor va o‘z mablag‘lari ulushi.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II. Ta’minlanganlik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mablag‘lar sig‘imi, me’yorga muvofiqlik, asosiy vositalar va xodimlarga nisbatan ta’minlanganlik.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III. Samaradorlik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Aylanish kunlari, aylanuvchanlik koeffitsiyenti, rentabellik, daromadlilik va debitorlar aylanuvchanligi.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Holatni ifodalovchi asosiy ko‘rsatkichlar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mablag‘larning umumiy summasi va o‘rtacha yillik qiymati.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mablag‘larning barcha mablag‘lardagi ulushi.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Pul mablag‘lari ulushi.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Zaxira va xarajatlar ulushi.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 qarzlari ulushi.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Muddati o‘tgan debitorlik qarzlari ulushi.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499262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 tarkibida o‘z mablag‘lari ulushi.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Ta’minlanganlikni ifodalovchi ko‘rsatkichlar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1 so‘m natija ko‘rsatkichiga to‘g‘ri keladigan aylanma mablag‘lar summasi — aylanma mablag‘lar sig‘imi.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Haqiqiy aylanma mablag‘larning belgilangan me’yorga nisbati.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1 so‘m asosiy vositaga to‘g‘ri keladigan aylanma mablag‘lar summasi.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1 xodimga to‘g‘ri keladigan aylanma mablag‘lar summasi.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Samaradorlikni ifodalovchi ko‘rsatkichlar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mablag‘larning aylanish tezligi — kunlarda.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Aylanuvchanlik koeffitsiyenti — marta.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 rentabelligi.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 daromadliligi.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 qarzlarining aylanish muddati — kunlarda.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8.1-jadval: holat ko‘rsatkichlari formulalari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48056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4937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Formula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mablag‘larning umumiy mablag‘lardagi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/ B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Umumiy aktivlarda aylanma mablag‘lar ulushi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 / AyM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tarkibidagi pul ulushi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Zaxira va xarajatlar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ZX / AyM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Zaxiralar ulushi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Debitorlar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 / AyM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Debitorlik qarzlarining ulushi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Muddati o‘tgan debitorlar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D_mud / Deb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Muammoli debitorlik darajasi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mablag‘lari hissasi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aylanma mablag‘i / AyM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mablag‘larning o‘z manbalari bilan qoplanishi</a:t>
                      </a:r>
                      <a:endParaRPr lang="en-US" sz="11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8.1-jadval: ta’minlanganlik formulalari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931920"/>
        </p:xfrm>
        <a:graphic>
          <a:graphicData uri="http://schemas.openxmlformats.org/drawingml/2006/table">
            <a:tbl>
              <a:tblPr/>
              <a:tblGrid>
                <a:gridCol w="3749040"/>
                <a:gridCol w="246888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Formula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Talqin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Aylanma mablag‘lar sig‘imi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/ Q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so‘m natijaga qancha aylanma mablag‘ to‘g‘ri keladi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Me’yor bilan ta’minlanganlik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AyM_h / AyM_m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Haqiqiy summa me’yorga nisbatan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vositalarga nisbatan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/ AV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so‘m asosiy vositaga to‘g‘ri keladigan AyM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Xodimga nisbatan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/ 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xodimga to‘g‘ri keladigan AyM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8.1-jadval: samaradorlik formulalari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206240"/>
        </p:xfrm>
        <a:graphic>
          <a:graphicData uri="http://schemas.openxmlformats.org/drawingml/2006/table">
            <a:tbl>
              <a:tblPr/>
              <a:tblGrid>
                <a:gridCol w="3749040"/>
                <a:gridCol w="292608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Formula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Mazmuni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Aylanish muddati, kun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AyM_o‘rt × K / Q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Bir aylanish uchun ketgan kun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Aylanuvchanlik koeffitsiyenti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 / AyM_o‘rt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Davrda necha marta aylangan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Rentabellik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 × 100 / AyM_o‘rt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so‘m AyMga to‘g‘ri keladigan foyda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Daromadlilik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 × 100 / AyM_o‘rt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so‘m AyMga to‘g‘ri keladigan daromad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Debitorlar aylanishi, kun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 × K / Q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7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Debitorlikning o‘rtacha aylanish muddati</a:t>
                      </a:r>
                      <a:endParaRPr lang="en-US" sz="11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Tahlilning metodik mantiqi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Holat → Ta’minlanganlik → Samaradorlik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Xoliqulov tasnifining kuchli tomoni — aylanma mablag‘larni faqat hajm bo‘yicha emas, balki ularning yetarliligi va natija yaratish qobiliyati bo‘yicha ham baholash imkonini beradi.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Aylanma mablag‘lar holatini tahlil qilish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Hajm, kunlarda ifodalash, o‘rtacha qiymat, dinamika va tarkib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holatini baholash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Summa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Muayyan sanadagi aylanma mablag‘lar hajmi balans ma’lumotlari asosida aniqlanadi.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Kunlarda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mablag‘lar korxona faoliyatini necha kun ta’minlay olishini ko‘rsatadi.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Tarkib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Zaxira, tayyor mahsulot, pul va debitorlikdagi o‘zgarishlar moliyaviy holat haqida signal beradi.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mablag‘larni kunlarda ifodalash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K_AyM = AyM × 90 / I_xarajat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Ko‘rsatkich aylanma mablag‘lar keyingi chorakdagi faoliyatni taxminan necha kun ta’minlashini ko‘rsatadi. Kitobda chorak uchun 90 kun qabul qilingan.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63928" y="4892040"/>
            <a:ext cx="2468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73656" y="502005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AyM — aylanma mablag‘lar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61408" y="4892040"/>
            <a:ext cx="2468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1136" y="502005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I_xarajat — keyingi chorak xarajatlari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58888" y="4892040"/>
            <a:ext cx="246888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8616" y="502005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90 — chorak kunlari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O‘rtacha yillik aylanma mablag‘lar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AyM_o‘rt = (AyM₁/2 + AyM₂ + AyM₃ + AyM₄ + AyM₅/2) / 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O‘rtacha xronologik formula yil boshidagi, choraklar boshidagi va yil oxiridagi qoldiqlarni hisobga oladi. Bu ko‘rsatkich samaradorlik hisoblarida asos sifatida ishlatiladi.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Dinamik tahlil nimani ko‘rsatadi?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mablag‘larning yillar bo‘yicha o‘sish yoki kamayish sur’atini.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Ularning barcha aktivlar o‘sishiga nisbatan qanchalik tez yoki sekin o‘sayotganini.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aktivlarning jami aktivlardagi ulushi qanday o‘zgarayotganini.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Korxona likvidligi va harakatchan aktivlar salmog‘idagi tendensiyani.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8.2-jadval: aylanma mablag‘lar dinamikasi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297680"/>
        </p:xfrm>
        <a:graphic>
          <a:graphicData uri="http://schemas.openxmlformats.org/drawingml/2006/table">
            <a:tbl>
              <a:tblPr/>
              <a:tblGrid>
                <a:gridCol w="1097280"/>
                <a:gridCol w="2011680"/>
                <a:gridCol w="1828800"/>
                <a:gridCol w="2011680"/>
                <a:gridCol w="18288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AyM, ming so‘m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o‘sish, 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Barcha aktivlar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Aktivlar o‘sish, 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ulushi, %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1997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4767,0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8917,2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53,5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1998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5086,4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106,7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9380,9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105,2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1999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5191,3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108,9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9657,3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53,8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5353,3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10031,9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112,5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53,4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5562,0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116,7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10659,4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119,3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5830,0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11200,0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125,6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Manba: Xoliqulov, 8.2-jadval. Raqamlar kitobdagi tarixiy o‘quv misoli.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8.2-jadvaldan asosiy xulosa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0,97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1997–2002-yillarda aylanma mablag‘lar o‘sishi 122,3%, barcha aktivlar o‘sishi 125,6%. Nisbiy o‘sish koeffitsiyenti: 122,3 / 125,6 ≈ 0,97. Demak, aylanma mablag‘lar umumiy aktivlarga nisbatan biroz sekinroq o‘sgan.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8.3-jadval: aylanma mablag‘lar tarkibi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526280"/>
        </p:xfrm>
        <a:graphic>
          <a:graphicData uri="http://schemas.openxmlformats.org/drawingml/2006/table">
            <a:tbl>
              <a:tblPr/>
              <a:tblGrid>
                <a:gridCol w="2331720"/>
                <a:gridCol w="1371600"/>
                <a:gridCol w="1143000"/>
                <a:gridCol w="1371600"/>
                <a:gridCol w="1143000"/>
                <a:gridCol w="114300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boshida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Ulushi %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oxirida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Ulushi %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Ulush farqi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Ishlab chiqarish zaxiralari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2781,0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2670,4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45,8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-110,6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Tugallanmagan ishlab chiqarish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556,2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5,8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-216,2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Tayyor mahsulot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618,0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1432,0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24,6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+814,0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+13,5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Qayta sotish tovarlari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0,1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-120,2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-2,1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618,0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11,1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-511,0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-9,3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Debitorlar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865,2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15,6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1277,8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21,9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+412,6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+6,3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Jami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5562,0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5830,0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+268,0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6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Manba: Xoliqulov, 8.3-jadval.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Tarkibdagi o‘zgarishlarni talqin qilish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DEFEF"/>
          </a:solidFill>
          <a:ln w="15240">
            <a:solidFill>
              <a:srgbClr val="E7B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64A4A"/>
                </a:solidFill>
              </a:rPr>
              <a:t>Pul mablag‘lari −9,3 b.p.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Tez likvid aktivlar ulushining keskin kamayishi likvidlik va to‘lov qobiliyati uchun salbiy signal bo‘lishi mumkin.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6E8"/>
          </a:solidFill>
          <a:ln w="15240">
            <a:solidFill>
              <a:srgbClr val="E6C9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97B2A"/>
                </a:solidFill>
              </a:rPr>
              <a:t>Tayyor mahsulot +13,5 b.p.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Sotilmagan tayyor mahsulotning ko‘payishi talab, sifat, marketing yoki sotuv muammosini ko‘rsatishi mumkin.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EEF5FB"/>
          </a:solidFill>
          <a:ln w="15240">
            <a:solidFill>
              <a:srgbClr val="B9D1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5B83"/>
                </a:solidFill>
              </a:rPr>
              <a:t>Debitorlar +6,3 b.p.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Mablag‘larning debitorlikka jalb qilinishi pul aylanishini sekinlashtirishi va moliyaviy bosimni kuchaytirishi mumkin.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Holat tahlilida asosiy risk signallari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Pul mablag‘lari ulushining keskin pasayishi.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Tayyor mahsulot va sotilmay qolgan zaxiralarning ortishi.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 qarzlarining, ayniqsa muddati o‘tgan qismining o‘sishi.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 o‘sishining barcha aktivlar o‘sishidan ortda qolishi.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aktivlar qisqa muddatli majburiyatlarni qoplashga yetarli bo‘lmasligi.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8.4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Aylanma mablag‘lar bilan ta’minlanganlik tahlili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Haqiqiy qoldiqni me’yor bilan taqqoslash va moliyaviy barqarorlikni baholash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Ta’minlanganlik tahlilining bosqichlari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1. Me’yor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mablag‘lar me’yori kunlarda yoki summada aniqlanadi.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6208" y="1508760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2. Haqiqiy holat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7376" y="2167128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Yil oxiridagi haqiqiy aylanma mablag‘lar summasi va kunlari hisoblanadi.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" y="3899916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45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3. Chetlanish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558284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Haqiqiy va me’yoriy ko‘rsatkichlar o‘rtasidagi ortiqcha yoki kamomad aniqlanadi.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6208" y="3899916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0645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4. Manbalar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4558284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O‘z va qarz mablag‘larining aylanma mablag‘larni shakllantirishdagi ishtiroki o‘rganiladi.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8.4-jadval: me’yor va haqiqiy qoldiq (1-qism)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1737360"/>
                <a:gridCol w="18288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Me’yor, ming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Me’yor, kun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Haqiqiy, ming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Haqiqiy, kun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Ishlab chiqarish zaxiralari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2469,2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2670,4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43,2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Tugallanmagan ishlab chiqarish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493,8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340,0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5,5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Tayyor mahsulot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548,7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1432,0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Qayta sotish tovarlari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109,7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0,1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548,7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107,0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Debitorlar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726,2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1277,8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20,7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Jami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4938,3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5830,0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3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Manba: Xoliqulov, 8.4-jadval. Tarixiy o‘quv misoli.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8.4-jadval: me’yordan farq (2-qism)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82880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Summadagi farq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Kunlardagi farq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Baholash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Ishlab chiqarish zaxiralari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+201,2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-1,8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Summada ortiqcha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Tugallanmagan ishlab chiqarish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-153,8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-3,5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Kamomad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Tayyor mahsulot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+883,3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+13,2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Keskin ortiqcha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Qayta sotish tovarlari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-106,9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-1,9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Kamomad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Pul mablag‘lari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-441,7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Likvidlik riski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Debitorlar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+551,6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Mablag‘ band bo‘lib qolgan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+891,7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Umumiy ortiqcha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 kunlik realizatsiya va me’yor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4938,3 / 90 = 54,87 ming so‘m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Kitobdagi misolda keyingi chorak realizatsiyasi 4938,3 ming so‘m, chorak 90 kun. Bir kunlik realizatsiya 54,87 ming so‘mni tashkil etadi. Shu qiymat me’yorni summada hisoblash uchun asos bo‘ladi.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Me’yordan umumiy ortiqcha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891,7 ming so‘m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Jadval bo‘yicha aylanma mablag‘lar 94,3 kunlik qoldiqni tashkil etgan, me’yor esa 90 kun. Ortiqcha — 4,3 kun. Eng katta ortiqcha tayyor mahsulot va debitorlikda to‘plangan.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Me’yordan chetlanish nimani anglatadi?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Tayyor mahsulotning ortiqcha bo‘lishi — sotuvning sekinlashuvi va mablag‘ning muzlab qolishi.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Debitorlikning ortiqcha bo‘lishi — pul oqimining kechikishi.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Pul mablag‘lari kamomadi — joriy to‘lovlarni bajarish qobiliyatining pasayishi.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Umumiy aylanma mablag‘lar ortiqchasi doimo ijobiy emas: tarkib qaysi aktivlarda jamlanganini ko‘rish zarur.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8.5-jadval: moliyaviy barqarorlik hisob-kitobi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526280"/>
        </p:xfrm>
        <a:graphic>
          <a:graphicData uri="http://schemas.openxmlformats.org/drawingml/2006/table">
            <a:tbl>
              <a:tblPr/>
              <a:tblGrid>
                <a:gridCol w="4937760"/>
                <a:gridCol w="2011680"/>
                <a:gridCol w="201168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boshida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Yil oxirida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mablag‘lari manbalari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19882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21703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+1821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aktivlar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13027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12971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Mavjud o‘z aylanma mablag‘lari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6855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8732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+1877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Uzoq muddatli kredit va qarzlar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-95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 + uzoq muddatli manbalar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6950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8732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+1782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muddatli kredit va qarzlar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7170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7834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+664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manbalar jami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14120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16566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+2446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Zaxira va xarajatlar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11520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12631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+1111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Manba: Xoliqulov, 8.5-jadval. Kitob matnidagi ayrim tipografik xatolar mantiqiy ko‘rinishda berildi.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Moliyaviy barqarorlikning 4 holati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Mutlaq barqarorlik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O‘z aylanma mablag‘i ≥ 0; o‘z + uzoq muddatli manbalar ≥ 0; umumiy manbalar kamomadsiz.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6208" y="1508760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Normal barqarorlik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7376" y="2167128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O‘z aylanma mablag‘lari yetarli bo‘lmasa ham, o‘z va uzoq muddatli manbalar zaxiralarni qoplaydi.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" y="3899916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645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Beqaror holat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558284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Zaxiralar o‘z va qarz mablag‘lari hisobiga qoplanadi; qisqa muddatli manbalarga qaramlik yuqori.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6208" y="3899916"/>
            <a:ext cx="5358384" cy="2135124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4064508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Taqchil holat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4558284"/>
            <a:ext cx="4956048" cy="12938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Zaxira va xarajatlar ularni shakllantirish manbalari bilan to‘liq ta’minlanmaydi; to‘lovga qobiliyatsizlik xavfi kuchayadi.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8.5-jadval bo‘yicha baho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BEQAROR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Kitobdagi hisob-kitoblarda o‘z aylanma mablag‘lari va uzoq muddatli manbalarda kamomad, umumiy manbalarda esa ortiqcha mavjud. Muallif bunday holatni “beqaror” deb baholaydi.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Xoliqulovning metodik tanqidi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“O‘z aylanma mablag‘lari ortiqchasi yoki kamomadi”ni faqat zaxira va xarajatlar bilan solishtirish yetarli emas.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O‘z aylanma mablag‘lari pul mablag‘lari va debitorlik qarzlarida ham joylashishi mumkin.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Muddati o‘tgan debitorlik va kreditorlik qarzlarini hisobga olish zarur.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Aylanuvchanlikni faqat moddiy aylanma mablag‘lar emas, barcha aylanma mablag‘lar bo‘yicha baholash maqsadga muvofiq.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Me’yor va aylanish usullari aylanma mablag‘larning alohida turlari bo‘yicha ishlab chiqilishi kerak.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8.5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Aylanma mablag‘lar samaradorligi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Aylanish tezligi, aylanuvchanlik, rentabellik, daromadlilik va omilli tahlil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Aylanish tezligi — kunlarda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AylMA = AyM_o‘rt × K / 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Aylanma mablag‘larning bir to‘liq aylanishi uchun necha kun kerakligini ko‘rsatadi. K — davrdagi kunlar soni: yil 360, yarim yil 180, chorak 90, oy 30.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Aylanuvchanlik koeffitsiyenti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Ak = S / AyM_o‘rt  yoki  Ak = 360 / AylMA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Ko‘rsatkich davr mobaynida aylanma mablag‘lar necha marta to‘liq aylanganini ifodalaydi. Aylanish tezlashsa, koeffitsiyent oshadi.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Rentabellik va daromadlilik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257800" cy="4434840"/>
          </a:xfrm>
          <a:prstGeom prst="roundRect">
            <a:avLst/>
          </a:prstGeom>
          <a:solidFill>
            <a:srgbClr val="EDF4F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Rentabellik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AyMR = Sof foyda × 100 / AyM_o‘rt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100 so‘m aylanma mablag‘ga to‘g‘ri keladigan foydani ko‘rsatadi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Yuqori bo‘lishi samaradorlikning ortganini anglatadi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257800" cy="4434840"/>
          </a:xfrm>
          <a:prstGeom prst="roundRect">
            <a:avLst/>
          </a:prstGeom>
          <a:solidFill>
            <a:srgbClr val="F8F3E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Daromadlilik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967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AyMD = Daromad × 100 / AyM_o‘rt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1967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100 so‘m aylanma mablag‘ga to‘g‘ri keladigan daromadni ko‘rsatadi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Sotuv va tushum samaradorligi bilan bog‘liq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Kitobdagi aylanish tezligi misoli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291840"/>
        </p:xfrm>
        <a:graphic>
          <a:graphicData uri="http://schemas.openxmlformats.org/drawingml/2006/table">
            <a:tbl>
              <a:tblPr/>
              <a:tblGrid>
                <a:gridCol w="402336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2000-yil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2001-yil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O‘zgarish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Sotishdan tushum, ming so‘m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11939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19433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+7494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o‘rtacha yillik, ming so‘m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13179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15246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+2067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Aylanish, kun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397,0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282,3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-114,7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1792" y="6080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Aylanish 114,7 kunga tezlashgan — bu ijobiy holat.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Aylanish tezlashganda bo‘shaydigan mablag‘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AyM_bo‘sh = S₁ × (AylMA_asos − AylMA_hisob) / 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Kitobdagi misolda aylanishning 114,7 kunga tezlashishi natijasida taxminan 6193,8 ming so‘m aylanma mablag‘ bo‘shagan. Bu mablag‘ga ehtiyoj kamayganini bildiradi.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Samaradorlikka ta’sir qiluvchi asosiy omillar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8132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Mahsulot yoki xizmatlar sotish hajmining ko‘payishi.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66544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Aylanma mablag‘lar tarkibining yaxshilanishi.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Mablag‘larni belgilangan me’yor darajasiga keltirish.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236976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Debitorlik va kreditorlik qarzlarini kamaytirish.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8221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Bozor talabini yaxshiroq o‘rganish.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Xaridorlar va buyurtmachilar bilan hisob-kitob intizomini yaxshilash.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Aylanish tezligining omilli modeli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Natija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AylMA = AyM_o‘rt × 360 / 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64736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5904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1-omil: sotuv hajmi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5904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Tushum o‘sishi, boshqa shartlar teng bo‘lsa, aylanish muddatini qisqartiradi.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486912" cy="4526280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5240">
            <a:solidFill>
              <a:srgbClr val="D6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673352"/>
            <a:ext cx="3084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2D45"/>
                </a:solidFill>
              </a:rPr>
              <a:t>2-omil: AyM summasi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08848" y="2167128"/>
            <a:ext cx="308457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Aylanma mablag‘lar ortiqcha ko‘payib ketsa, sotuv o‘zgarmagan holda aylanish sekinlashadi.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8.6-jadval: aylanishga omillar ta’siri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397764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28016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Ko‘rsatkich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O‘tgan yil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Hisobot yili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Farq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Omil ta’siri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D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Sotilgan mahsulot hajmi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11939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19433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+7494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Aylanishni −152,9 kun tezlashtirdi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AyM o‘rtacha yillik summasi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13179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15246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+2067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Aylanishni +38,2 kun sekinlashtirdi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Aylanish, kun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397,0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282,3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−114,7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Jami ta’sir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Qayta hisoblangan aylanish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244,1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Sotuv ta’sirini ajratish uchun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Omilli tahlil xulosasi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29D3D"/>
                </a:solidFill>
              </a:rPr>
              <a:t>−152,9 + 38,2 = −114,7 kun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383280" y="3291840"/>
            <a:ext cx="5394960" cy="0"/>
          </a:xfrm>
          <a:prstGeom prst="line">
            <a:avLst/>
          </a:prstGeom>
          <a:noFill/>
          <a:ln w="25400">
            <a:solidFill>
              <a:srgbClr val="0B2D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703320"/>
            <a:ext cx="97840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Aylanishning tezlashuvi asosan sotuv hajmining o‘sishi hisobiga yuz bergan. Aylanma mablag‘lar summasining ko‘payishi esa aksincha aylanishni 38,2 kunga sekinlashtirgan.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60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29D3D"/>
                </a:solidFill>
              </a:rPr>
              <a:t>8.6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Aylanma mablag‘larda joylashgan o‘z mablag‘lari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7EF"/>
                </a:solidFill>
              </a:rPr>
              <a:t>“Ishchi sarmoya” mazmuni, hisoblash va tarkibni yaxshilash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4133088"/>
            <a:ext cx="3840480" cy="0"/>
          </a:xfrm>
          <a:prstGeom prst="line">
            <a:avLst/>
          </a:prstGeom>
          <a:noFill/>
          <a:ln w="50800">
            <a:solidFill>
              <a:srgbClr val="D29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0DD"/>
                </a:solidFill>
              </a:rPr>
              <a:t>A.N. Xoliqulov • VIII bob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 aylanma mablag‘lari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058400" cy="1280160"/>
          </a:xfrm>
          <a:prstGeom prst="roundRect">
            <a:avLst/>
          </a:prstGeom>
          <a:solidFill>
            <a:srgbClr val="EEF4F8"/>
          </a:solidFill>
          <a:ln w="15240">
            <a:solidFill>
              <a:srgbClr val="C7D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874520"/>
            <a:ext cx="9509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B83"/>
                </a:solidFill>
              </a:rPr>
              <a:t>O‘z AyM = O‘z mablag‘lari − Uzoq muddatli aktivlar + Uzoq muddatli qarz va kreditlar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154680"/>
            <a:ext cx="102870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Muallif bu ko‘rsatkichni korxona o‘z mablag‘larining qancha qismi muomalada — aylanma aktivlarda ishlayotganini ifodalovchi “ishchi sarmoya” sifatida izohlaydi.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 aylanma mablag‘larini hisoblashning ikki yondashuvi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257800" cy="4434840"/>
          </a:xfrm>
          <a:prstGeom prst="roundRect">
            <a:avLst/>
          </a:prstGeom>
          <a:solidFill>
            <a:srgbClr val="EDF4F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Kapital manbalari orqali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O‘z mablag‘lari manbalari olinadi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Uzoq muddatli aktivlar ayriladi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Uzoq muddatli qarz va kreditlar hisobga olinadi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257800" cy="4434840"/>
          </a:xfrm>
          <a:prstGeom prst="roundRect">
            <a:avLst/>
          </a:prstGeom>
          <a:solidFill>
            <a:srgbClr val="F8F3E8"/>
          </a:solidFill>
          <a:ln w="12700">
            <a:solidFill>
              <a:srgbClr val="D4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Aylanma aktivlar orqali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9672" y="233172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Aylanma aktivlar umumiy summasi olinadi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19672" y="292608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Qisqa muddatli qarzlar ayriladi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9672" y="3520440"/>
            <a:ext cx="4709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</a:rPr>
              <a:t>Aylanma aktivlarda ishlatilgan uzoq muddatli qarzlar ham chiqariladi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Aylanma mablag‘lar tarkibi qachon yaxshilanadi?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08760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O‘z mablag‘lari ulushi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Ko‘payishi — moliyaviy mustaqillik kuchayganini ko‘rsatadi.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36208" y="1508760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673352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Qarz mablag‘lari ulushi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7376" y="2167128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Kamayishi — qisqa muddatli moliyalashtirishga qaramlikni pasaytiradi.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" y="3102864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6745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Debitorlik ulushi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761232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Kamayishi — mablag‘larning mijozlarda band bo‘lib qolishini qisqartiradi.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36208" y="3102864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267456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Zaxira va xarajatlar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7376" y="3761232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Me’yoriy darajaga tushishi — ortiqcha zaxira va muzlagan resurslarni kamaytiradi.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" y="4696968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6156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Pul mablag‘lari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355336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Yetarli darajada ko‘payishi — to‘lov qobiliyatini mustahkamlaydi; haddan tashqari ko‘pligi ham samarasiz.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36208" y="4696968"/>
            <a:ext cx="5358384" cy="1338072"/>
          </a:xfrm>
          <a:prstGeom prst="roundRect">
            <a:avLst>
              <a:gd name="adj" fmla="val 5467"/>
            </a:avLst>
          </a:prstGeom>
          <a:solidFill>
            <a:srgbClr val="EFF8F1"/>
          </a:solidFill>
          <a:ln w="15240">
            <a:solidFill>
              <a:srgbClr val="BCDC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4861560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7D4A"/>
                </a:solidFill>
              </a:rPr>
              <a:t>Muddati o‘tgan debitorlik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37376" y="5355336"/>
            <a:ext cx="4956048" cy="496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Kamayishi — amalda ishlayotgan sarmoya miqdorini oshiradi.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2D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tayanch iboralar va nazorat savollari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43584"/>
            <a:ext cx="2194560" cy="0"/>
          </a:xfrm>
          <a:prstGeom prst="line">
            <a:avLst/>
          </a:prstGeom>
          <a:noFill/>
          <a:ln w="38100">
            <a:solidFill>
              <a:srgbClr val="D29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81328"/>
            <a:ext cx="3657600" cy="44805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D2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Tayanch iboralar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301752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Aylanma mablag‘lar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Aylanma fondlar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Harakatdagi aktivlar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Iqtisodiy salohiyat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Zaxira va xarajatlar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Debitorlik qarzi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Aylanuvchanlik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Rentabellik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Ishchi sarmoya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26280" y="1481328"/>
            <a:ext cx="6995160" cy="4480560"/>
          </a:xfrm>
          <a:prstGeom prst="roundRect">
            <a:avLst/>
          </a:prstGeom>
          <a:solidFill>
            <a:srgbClr val="FFF9EF"/>
          </a:solidFill>
          <a:ln w="12700">
            <a:solidFill>
              <a:srgbClr val="E4D3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D45"/>
                </a:solidFill>
              </a:rPr>
              <a:t>Nazorat savollari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2286000"/>
            <a:ext cx="6355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1. Aylanma mablag‘lar iqtisodiy mazmuni nimadan iborat?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00600" y="2944368"/>
            <a:ext cx="6355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2. Aylanma mablag‘lar ko‘rsatkichlari qanday 3 guruhga ajratiladi?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3602736"/>
            <a:ext cx="6355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3. Aylanma mablag‘larning o‘rtacha yillik summasi qanday aniqlanadi?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4261104"/>
            <a:ext cx="6355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4. Aylanish tezligi va aylanuvchanlik koeffitsiyenti o‘rtasidagi bog‘liqlik qanday?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4919472"/>
            <a:ext cx="6355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5. “Ishchi sarmoya” tushunchasi nimani anglatadi?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8-mavzu: Turistik korxonalarning aylanma mablag‘lari</dc:title>
  <dc:subject>Turistik korxonalar faoliyati tahlili – 8-mavzu</dc:subject>
  <dc:creator>OpenAI</dc:creator>
  <cp:lastModifiedBy>OpenAI</cp:lastModifiedBy>
  <cp:revision>1</cp:revision>
  <dcterms:created xsi:type="dcterms:W3CDTF">2026-09-15T04:07:13Z</dcterms:created>
  <dcterms:modified xsi:type="dcterms:W3CDTF">2026-09-15T04:07:13Z</dcterms:modified>
</cp:coreProperties>
</file>