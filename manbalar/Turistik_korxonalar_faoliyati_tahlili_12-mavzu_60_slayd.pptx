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777240"/>
            <a:ext cx="10607040" cy="2834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2DA7AD"/>
                </a:solidFill>
              </a:defRPr>
            </a:pPr>
            <a:r>
              <a:t>12-MAVZU</a:t>
            </a:r>
          </a:p>
          <a:p>
            <a:pPr>
              <a:spcBef>
                <a:spcPts val="1000"/>
              </a:spcBef>
              <a:defRPr sz="3500" b="1">
                <a:solidFill>
                  <a:srgbClr val="FFFFFF"/>
                </a:solidFill>
              </a:defRPr>
            </a:pPr>
            <a:r>
              <a:t>Turistik korxonalarning moliyaviy ahvolini baholash va likvidlik ko‘rsatkichlarini tahlil qilish</a:t>
            </a:r>
          </a:p>
          <a:p>
            <a:pPr>
              <a:spcBef>
                <a:spcPts val="1800"/>
              </a:spcBef>
              <a:defRPr sz="1600">
                <a:solidFill>
                  <a:srgbClr val="DBE8EA"/>
                </a:solidFill>
              </a:defRPr>
            </a:pPr>
            <a:r>
              <a:t>A.N. Xoliqulov, “Turistik korxonalar faoliyati tahlili”, XII bob, 201–228-betlar asosida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18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2A42"/>
                </a:solidFill>
              </a:defRPr>
            </a:pPr>
            <a:r>
              <a:t>Mavzuning maqsadi va o‘quv natijalari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14400"/>
            <a:ext cx="10789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2DA7AD"/>
                </a:solidFill>
              </a:defRPr>
            </a:pPr>
            <a:r>
              <a:t>Kirish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55664"/>
            <a:ext cx="11064240" cy="18288"/>
          </a:xfrm>
          <a:prstGeom prst="rect">
            <a:avLst/>
          </a:prstGeom>
          <a:solidFill>
            <a:srgbClr val="DB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19">
                <a:solidFill>
                  <a:srgbClr val="5F6C75"/>
                </a:solidFill>
              </a:defRPr>
            </a:pPr>
            <a:r>
              <a:t>A.N. Xoliqulov — “Turistik korxonalar faoliyati tahlili” | 12-mavzu | 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417320"/>
            <a:ext cx="5257800" cy="4526280"/>
          </a:xfrm>
          <a:prstGeom prst="roundRect">
            <a:avLst/>
          </a:prstGeom>
          <a:solidFill>
            <a:srgbClr val="F2F7F8"/>
          </a:solidFill>
          <a:ln>
            <a:solidFill>
              <a:srgbClr val="DBE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417320"/>
            <a:ext cx="5257800" cy="566928"/>
          </a:xfrm>
          <a:prstGeom prst="rect">
            <a:avLst/>
          </a:prstGeom>
          <a:solidFill>
            <a:srgbClr val="187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" y="1536192"/>
            <a:ext cx="4800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Maqsad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2121408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60">
                <a:solidFill>
                  <a:srgbClr val="25313A"/>
                </a:solidFill>
              </a:defRPr>
            </a:pPr>
            <a:r>
              <a:t>Moliyaviy holatni baholashning mazmuni va vazifalarini tushuntirish</a:t>
            </a:r>
          </a:p>
          <a:p>
            <a:pPr>
              <a:spcAft>
                <a:spcPts val="600"/>
              </a:spcAft>
              <a:defRPr sz="1660">
                <a:solidFill>
                  <a:srgbClr val="25313A"/>
                </a:solidFill>
              </a:defRPr>
            </a:pPr>
            <a:r>
              <a:t>Dastlabki va to‘liq baholash usullarini o‘rganish</a:t>
            </a:r>
          </a:p>
          <a:p>
            <a:pPr>
              <a:spcAft>
                <a:spcPts val="600"/>
              </a:spcAft>
              <a:defRPr sz="1660">
                <a:solidFill>
                  <a:srgbClr val="25313A"/>
                </a:solidFill>
              </a:defRPr>
            </a:pPr>
            <a:r>
              <a:t>Likvidlik va to‘lov qobiliyati koeffitsiyentlarini hisoblash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417320"/>
            <a:ext cx="5257800" cy="4526280"/>
          </a:xfrm>
          <a:prstGeom prst="roundRect">
            <a:avLst/>
          </a:prstGeom>
          <a:solidFill>
            <a:srgbClr val="F2F7F8"/>
          </a:solidFill>
          <a:ln>
            <a:solidFill>
              <a:srgbClr val="DBE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63640" y="1417320"/>
            <a:ext cx="5257800" cy="566928"/>
          </a:xfrm>
          <a:prstGeom prst="rect">
            <a:avLst/>
          </a:prstGeom>
          <a:solidFill>
            <a:srgbClr val="12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73952" y="1536192"/>
            <a:ext cx="4800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O‘quv natijalari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83096" y="2121408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60">
                <a:solidFill>
                  <a:srgbClr val="25313A"/>
                </a:solidFill>
              </a:defRPr>
            </a:pPr>
            <a:r>
              <a:t>Balans asosida moliyaviy holatga dastlabki baho bera oladi</a:t>
            </a:r>
          </a:p>
          <a:p>
            <a:pPr>
              <a:spcAft>
                <a:spcPts val="600"/>
              </a:spcAft>
              <a:defRPr sz="1660">
                <a:solidFill>
                  <a:srgbClr val="25313A"/>
                </a:solidFill>
              </a:defRPr>
            </a:pPr>
            <a:r>
              <a:t>Mulk holati va kapital tarkibini tahlil qiladi</a:t>
            </a:r>
          </a:p>
          <a:p>
            <a:pPr>
              <a:spcAft>
                <a:spcPts val="600"/>
              </a:spcAft>
              <a:defRPr sz="1660">
                <a:solidFill>
                  <a:srgbClr val="25313A"/>
                </a:solidFill>
              </a:defRPr>
            </a:pPr>
            <a:r>
              <a:t>Likvidlik va to‘lov qobiliyatiga asoslangan xulosa tuzadi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18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2A42"/>
                </a:solidFill>
              </a:defRPr>
            </a:pPr>
            <a:r>
              <a:t>Mavzu rejasi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14400"/>
            <a:ext cx="10789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2DA7AD"/>
                </a:solidFill>
              </a:defRPr>
            </a:pPr>
            <a:r>
              <a:t>Kirish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55664"/>
            <a:ext cx="11064240" cy="18288"/>
          </a:xfrm>
          <a:prstGeom prst="rect">
            <a:avLst/>
          </a:prstGeom>
          <a:solidFill>
            <a:srgbClr val="DB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19">
                <a:solidFill>
                  <a:srgbClr val="5F6C75"/>
                </a:solidFill>
              </a:defRPr>
            </a:pPr>
            <a:r>
              <a:t>A.N. Xoliqulov — “Turistik korxonalar faoliyati tahlili” | 12-mavzu |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25880"/>
            <a:ext cx="1069848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50">
                <a:solidFill>
                  <a:srgbClr val="25313A"/>
                </a:solidFill>
              </a:defRPr>
            </a:pPr>
            <a:r>
              <a:t>12.1. Moliyaviy holatni tahlil qilishning vazifalari</a:t>
            </a:r>
          </a:p>
          <a:p>
            <a:pPr>
              <a:spcAft>
                <a:spcPts val="600"/>
              </a:spcAft>
              <a:defRPr sz="1850">
                <a:solidFill>
                  <a:srgbClr val="25313A"/>
                </a:solidFill>
              </a:defRPr>
            </a:pPr>
            <a:r>
              <a:t>12.2. Turistik korxonaning moliyaviy holatini dastlabki baholash</a:t>
            </a:r>
          </a:p>
          <a:p>
            <a:pPr>
              <a:spcAft>
                <a:spcPts val="600"/>
              </a:spcAft>
              <a:defRPr sz="1850">
                <a:solidFill>
                  <a:srgbClr val="25313A"/>
                </a:solidFill>
              </a:defRPr>
            </a:pPr>
            <a:r>
              <a:t>12.3. Turistik korxona moliyaviy holatini to‘liq baholash</a:t>
            </a:r>
          </a:p>
          <a:p>
            <a:pPr>
              <a:spcAft>
                <a:spcPts val="600"/>
              </a:spcAft>
              <a:defRPr sz="1850">
                <a:solidFill>
                  <a:srgbClr val="25313A"/>
                </a:solidFill>
              </a:defRPr>
            </a:pPr>
            <a:r>
              <a:t>12.4. Turistik korxona likvidliligi: mazmuni, baholash va tahlil qilish yo‘llari</a:t>
            </a:r>
          </a:p>
          <a:p>
            <a:pPr>
              <a:spcAft>
                <a:spcPts val="600"/>
              </a:spcAft>
              <a:defRPr sz="1850">
                <a:solidFill>
                  <a:srgbClr val="25313A"/>
                </a:solidFill>
              </a:defRPr>
            </a:pPr>
            <a:r>
              <a:t>Likvidlik va to‘lov qobiliyati koeffitsiyentlari</a:t>
            </a:r>
          </a:p>
          <a:p>
            <a:pPr>
              <a:spcAft>
                <a:spcPts val="600"/>
              </a:spcAft>
              <a:defRPr sz="1850">
                <a:solidFill>
                  <a:srgbClr val="25313A"/>
                </a:solidFill>
              </a:defRPr>
            </a:pPr>
            <a:r>
              <a:t>12.1–12.4-jadvallar va mustaqil topshiriqlar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18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2A42"/>
                </a:solidFill>
              </a:defRPr>
            </a:pPr>
            <a:r>
              <a:t>Moliyaviy holat tushunchasi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14400"/>
            <a:ext cx="10789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2DA7AD"/>
                </a:solidFill>
              </a:defRPr>
            </a:pPr>
            <a:r>
              <a:t>12.1. Tahlil vazifalari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55664"/>
            <a:ext cx="11064240" cy="18288"/>
          </a:xfrm>
          <a:prstGeom prst="rect">
            <a:avLst/>
          </a:prstGeom>
          <a:solidFill>
            <a:srgbClr val="DB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19">
                <a:solidFill>
                  <a:srgbClr val="5F6C75"/>
                </a:solidFill>
              </a:defRPr>
            </a:pPr>
            <a:r>
              <a:t>A.N. Xoliqulov — “Turistik korxonalar faoliyati tahlili” | 12-mavzu |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25880"/>
            <a:ext cx="1069848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50">
                <a:solidFill>
                  <a:srgbClr val="25313A"/>
                </a:solidFill>
              </a:defRPr>
            </a:pPr>
            <a:r>
              <a:t>Moliyaviy holat — moliyaviy resurslarning mavjudligi va tuzilishi, raqobatbardoshlik darajasi hamda majburiyatlarni bajarish qobiliyatini ifodalovchi ko‘rsatkichlar majmuasi.</a:t>
            </a:r>
          </a:p>
          <a:p>
            <a:pPr>
              <a:spcAft>
                <a:spcPts val="600"/>
              </a:spcAft>
              <a:defRPr sz="1850">
                <a:solidFill>
                  <a:srgbClr val="25313A"/>
                </a:solidFill>
              </a:defRPr>
            </a:pPr>
            <a:r>
              <a:t>Moliyaviy holat korxonaning resurslarni shakllantirish, ishlatish va nazorat qilish qobiliyatini aks ettiradi.</a:t>
            </a:r>
          </a:p>
          <a:p>
            <a:pPr>
              <a:spcAft>
                <a:spcPts val="600"/>
              </a:spcAft>
              <a:defRPr sz="1850">
                <a:solidFill>
                  <a:srgbClr val="25313A"/>
                </a:solidFill>
              </a:defRPr>
            </a:pPr>
            <a:r>
              <a:t>Turistik korxona moliyaviy holatini bilmasdan resurslarni samarali boshqarish qiyin.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18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2A42"/>
                </a:solidFill>
              </a:defRPr>
            </a:pPr>
            <a:r>
              <a:t>Moliyaning 3 asosiy vazifasi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14400"/>
            <a:ext cx="10789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2DA7AD"/>
                </a:solidFill>
              </a:defRPr>
            </a:pPr>
            <a:r>
              <a:t>12.1. Tahlil vazifalari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55664"/>
            <a:ext cx="11064240" cy="18288"/>
          </a:xfrm>
          <a:prstGeom prst="rect">
            <a:avLst/>
          </a:prstGeom>
          <a:solidFill>
            <a:srgbClr val="DB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19">
                <a:solidFill>
                  <a:srgbClr val="5F6C75"/>
                </a:solidFill>
              </a:defRPr>
            </a:pPr>
            <a:r>
              <a:t>A.N. Xoliqulov — “Turistik korxonalar faoliyati tahlili” | 12-mavzu | 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04088" y="1783080"/>
            <a:ext cx="3474720" cy="2148840"/>
          </a:xfrm>
          <a:prstGeom prst="roundRect">
            <a:avLst/>
          </a:prstGeom>
          <a:solidFill>
            <a:srgbClr val="F2F7F8"/>
          </a:solidFill>
          <a:ln>
            <a:solidFill>
              <a:srgbClr val="DBE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3816" y="1993392"/>
            <a:ext cx="3255264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20" b="1">
                <a:solidFill>
                  <a:srgbClr val="5F6C75"/>
                </a:solidFill>
              </a:defRPr>
            </a:pPr>
            <a:r>
              <a:t>Shakllantirish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6" y="2670048"/>
            <a:ext cx="3255264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122A42"/>
                </a:solidFill>
              </a:defRPr>
            </a:pPr>
            <a:r>
              <a:t>Daromad va zaxiralar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160520"/>
            <a:ext cx="3328416" cy="9875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40">
                <a:solidFill>
                  <a:srgbClr val="25313A"/>
                </a:solidFill>
              </a:defRPr>
            </a:pPr>
            <a:r>
              <a:t>Pul zaxiralari va daromadlarni yaratish.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61688" y="1783080"/>
            <a:ext cx="3474720" cy="2148840"/>
          </a:xfrm>
          <a:prstGeom prst="roundRect">
            <a:avLst/>
          </a:prstGeom>
          <a:solidFill>
            <a:srgbClr val="F2F7F8"/>
          </a:solidFill>
          <a:ln>
            <a:solidFill>
              <a:srgbClr val="DBE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71416" y="1993392"/>
            <a:ext cx="3255264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20" b="1">
                <a:solidFill>
                  <a:srgbClr val="5F6C75"/>
                </a:solidFill>
              </a:defRPr>
            </a:pPr>
            <a:r>
              <a:t>Foydalanish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71416" y="2670048"/>
            <a:ext cx="3255264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122A42"/>
                </a:solidFill>
              </a:defRPr>
            </a:pPr>
            <a:r>
              <a:t>Resurslarni sarflash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34840" y="4160520"/>
            <a:ext cx="3328416" cy="9875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40">
                <a:solidFill>
                  <a:srgbClr val="25313A"/>
                </a:solidFill>
              </a:defRPr>
            </a:pPr>
            <a:r>
              <a:t>Mablag‘larni xo‘jalik faoliyatiga yo‘naltirish.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19288" y="1783080"/>
            <a:ext cx="3474720" cy="2148840"/>
          </a:xfrm>
          <a:prstGeom prst="roundRect">
            <a:avLst/>
          </a:prstGeom>
          <a:solidFill>
            <a:srgbClr val="F2F7F8"/>
          </a:solidFill>
          <a:ln>
            <a:solidFill>
              <a:srgbClr val="DBE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29015" y="1993392"/>
            <a:ext cx="3255264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20" b="1">
                <a:solidFill>
                  <a:srgbClr val="5F6C75"/>
                </a:solidFill>
              </a:defRPr>
            </a:pPr>
            <a:r>
              <a:t>Nazorat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29015" y="2670048"/>
            <a:ext cx="3255264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122A42"/>
                </a:solidFill>
              </a:defRPr>
            </a:pPr>
            <a:r>
              <a:t>Mablag‘lar harakatini tekshirish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92440" y="4160520"/>
            <a:ext cx="3328416" cy="9875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40">
                <a:solidFill>
                  <a:srgbClr val="25313A"/>
                </a:solidFill>
              </a:defRPr>
            </a:pPr>
            <a:r>
              <a:t>Resurslarning shakllanishi va ishlatilishini nazorat qilish.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18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2A42"/>
                </a:solidFill>
              </a:defRPr>
            </a:pPr>
            <a:r>
              <a:t>Moliyaviy holatni baholash yo‘nalishlari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14400"/>
            <a:ext cx="10789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2DA7AD"/>
                </a:solidFill>
              </a:defRPr>
            </a:pPr>
            <a:r>
              <a:t>12.1. Tahlil vazifalari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55664"/>
            <a:ext cx="11064240" cy="18288"/>
          </a:xfrm>
          <a:prstGeom prst="rect">
            <a:avLst/>
          </a:prstGeom>
          <a:solidFill>
            <a:srgbClr val="DB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19">
                <a:solidFill>
                  <a:srgbClr val="5F6C75"/>
                </a:solidFill>
              </a:defRPr>
            </a:pPr>
            <a:r>
              <a:t>A.N. Xoliqulov — “Turistik korxonalar faoliyati tahlili” | 12-mavzu | 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25880"/>
            <a:ext cx="1069848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50">
                <a:solidFill>
                  <a:srgbClr val="25313A"/>
                </a:solidFill>
              </a:defRPr>
            </a:pPr>
            <a:r>
              <a:t>Iqtisodiy va moliyaviy salohiyat</a:t>
            </a:r>
          </a:p>
          <a:p>
            <a:pPr>
              <a:spcAft>
                <a:spcPts val="600"/>
              </a:spcAft>
              <a:defRPr sz="1750">
                <a:solidFill>
                  <a:srgbClr val="25313A"/>
                </a:solidFill>
              </a:defRPr>
            </a:pPr>
            <a:r>
              <a:t>Moliyaviy mustahkamlik va mulkiy holat</a:t>
            </a:r>
          </a:p>
          <a:p>
            <a:pPr>
              <a:spcAft>
                <a:spcPts val="600"/>
              </a:spcAft>
              <a:defRPr sz="1750">
                <a:solidFill>
                  <a:srgbClr val="25313A"/>
                </a:solidFill>
              </a:defRPr>
            </a:pPr>
            <a:r>
              <a:t>Likvidlilik va to‘lov qobiliyati</a:t>
            </a:r>
          </a:p>
          <a:p>
            <a:pPr>
              <a:spcAft>
                <a:spcPts val="600"/>
              </a:spcAft>
              <a:defRPr sz="1750">
                <a:solidFill>
                  <a:srgbClr val="25313A"/>
                </a:solidFill>
              </a:defRPr>
            </a:pPr>
            <a:r>
              <a:t>Moliyaviy barqarorlik</a:t>
            </a:r>
          </a:p>
          <a:p>
            <a:pPr>
              <a:spcAft>
                <a:spcPts val="600"/>
              </a:spcAft>
              <a:defRPr sz="1750">
                <a:solidFill>
                  <a:srgbClr val="25313A"/>
                </a:solidFill>
              </a:defRPr>
            </a:pPr>
            <a:r>
              <a:t>Moliyaviy natijalar</a:t>
            </a:r>
          </a:p>
          <a:p>
            <a:pPr>
              <a:spcAft>
                <a:spcPts val="600"/>
              </a:spcAft>
              <a:defRPr sz="1750">
                <a:solidFill>
                  <a:srgbClr val="25313A"/>
                </a:solidFill>
              </a:defRPr>
            </a:pPr>
            <a:r>
              <a:t>Ish va bozor faolligi</a:t>
            </a:r>
          </a:p>
          <a:p>
            <a:pPr>
              <a:spcAft>
                <a:spcPts val="600"/>
              </a:spcAft>
              <a:defRPr sz="1750">
                <a:solidFill>
                  <a:srgbClr val="25313A"/>
                </a:solidFill>
              </a:defRPr>
            </a:pPr>
            <a:r>
              <a:t>Samaradorlik va bankrotlik xavfi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18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2A42"/>
                </a:solidFill>
              </a:defRPr>
            </a:pPr>
            <a:r>
              <a:t>Tahlilning asosiy vazifalari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14400"/>
            <a:ext cx="10789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2DA7AD"/>
                </a:solidFill>
              </a:defRPr>
            </a:pPr>
            <a:r>
              <a:t>12.1. Tahlil vazifalari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55664"/>
            <a:ext cx="11064240" cy="18288"/>
          </a:xfrm>
          <a:prstGeom prst="rect">
            <a:avLst/>
          </a:prstGeom>
          <a:solidFill>
            <a:srgbClr val="DB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19">
                <a:solidFill>
                  <a:srgbClr val="5F6C75"/>
                </a:solidFill>
              </a:defRPr>
            </a:pPr>
            <a:r>
              <a:t>A.N. Xoliqulov — “Turistik korxonalar faoliyati tahlili” | 12-mavzu | 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25880"/>
            <a:ext cx="1069848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25313A"/>
                </a:solidFill>
              </a:defRPr>
            </a:pPr>
            <a:r>
              <a:t>Buxgalteriya balansi va mulkiy holat tuzilmasini baholash</a:t>
            </a:r>
          </a:p>
          <a:p>
            <a:pPr>
              <a:spcAft>
                <a:spcPts val="600"/>
              </a:spcAft>
              <a:defRPr sz="1700">
                <a:solidFill>
                  <a:srgbClr val="25313A"/>
                </a:solidFill>
              </a:defRPr>
            </a:pPr>
            <a:r>
              <a:t>Iqtisodiy va moliyaviy salohiyat bilan ta’minlanganlikni o‘rganish</a:t>
            </a:r>
          </a:p>
          <a:p>
            <a:pPr>
              <a:spcAft>
                <a:spcPts val="600"/>
              </a:spcAft>
              <a:defRPr sz="1700">
                <a:solidFill>
                  <a:srgbClr val="25313A"/>
                </a:solidFill>
              </a:defRPr>
            </a:pPr>
            <a:r>
              <a:t>Asosiy va aylanma mablag‘lar holati hamda samaradorligini tahlil qilish</a:t>
            </a:r>
          </a:p>
          <a:p>
            <a:pPr>
              <a:spcAft>
                <a:spcPts val="600"/>
              </a:spcAft>
              <a:defRPr sz="1700">
                <a:solidFill>
                  <a:srgbClr val="25313A"/>
                </a:solidFill>
              </a:defRPr>
            </a:pPr>
            <a:r>
              <a:t>Moliyaviy barqarorlik va mustahkamlikni aniqlash</a:t>
            </a:r>
          </a:p>
          <a:p>
            <a:pPr>
              <a:spcAft>
                <a:spcPts val="600"/>
              </a:spcAft>
              <a:defRPr sz="1700">
                <a:solidFill>
                  <a:srgbClr val="25313A"/>
                </a:solidFill>
              </a:defRPr>
            </a:pPr>
            <a:r>
              <a:t>Likvidlilik va to‘lov qobiliyatini baholash</a:t>
            </a:r>
          </a:p>
          <a:p>
            <a:pPr>
              <a:spcAft>
                <a:spcPts val="600"/>
              </a:spcAft>
              <a:defRPr sz="1700">
                <a:solidFill>
                  <a:srgbClr val="25313A"/>
                </a:solidFill>
              </a:defRPr>
            </a:pPr>
            <a:r>
              <a:t>Moliyaviy natijalar, ish va bozor faolligi hamda bankrotlik holatini ko‘rib chiqish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18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2A42"/>
                </a:solidFill>
              </a:defRPr>
            </a:pPr>
            <a:r>
              <a:t>Moliyaviy hisobot bilan tashqi tanishish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14400"/>
            <a:ext cx="10789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2DA7AD"/>
                </a:solidFill>
              </a:defRPr>
            </a:pPr>
            <a:r>
              <a:t>12.1. Tahlil vazifalari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55664"/>
            <a:ext cx="11064240" cy="18288"/>
          </a:xfrm>
          <a:prstGeom prst="rect">
            <a:avLst/>
          </a:prstGeom>
          <a:solidFill>
            <a:srgbClr val="DB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19">
                <a:solidFill>
                  <a:srgbClr val="5F6C75"/>
                </a:solidFill>
              </a:defRPr>
            </a:pPr>
            <a:r>
              <a:t>A.N. Xoliqulov — “Turistik korxonalar faoliyati tahlili” | 12-mavzu | 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417320"/>
            <a:ext cx="5257800" cy="4526280"/>
          </a:xfrm>
          <a:prstGeom prst="roundRect">
            <a:avLst/>
          </a:prstGeom>
          <a:solidFill>
            <a:srgbClr val="F2F7F8"/>
          </a:solidFill>
          <a:ln>
            <a:solidFill>
              <a:srgbClr val="DBE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417320"/>
            <a:ext cx="5257800" cy="566928"/>
          </a:xfrm>
          <a:prstGeom prst="rect">
            <a:avLst/>
          </a:prstGeom>
          <a:solidFill>
            <a:srgbClr val="187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" y="1536192"/>
            <a:ext cx="4800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Dastlabki baholash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2121408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60">
                <a:solidFill>
                  <a:srgbClr val="25313A"/>
                </a:solidFill>
              </a:defRPr>
            </a:pPr>
            <a:r>
              <a:t>Hisobot bilan umumiy tanishish</a:t>
            </a:r>
          </a:p>
          <a:p>
            <a:pPr>
              <a:spcAft>
                <a:spcPts val="600"/>
              </a:spcAft>
              <a:defRPr sz="1660">
                <a:solidFill>
                  <a:srgbClr val="25313A"/>
                </a:solidFill>
              </a:defRPr>
            </a:pPr>
            <a:r>
              <a:t>Asosiy balans moddalari dinamikasini ko‘rish</a:t>
            </a:r>
          </a:p>
          <a:p>
            <a:pPr>
              <a:spcAft>
                <a:spcPts val="600"/>
              </a:spcAft>
              <a:defRPr sz="1660">
                <a:solidFill>
                  <a:srgbClr val="25313A"/>
                </a:solidFill>
              </a:defRPr>
            </a:pPr>
            <a:r>
              <a:t>Tezkor xulosa chiqarish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417320"/>
            <a:ext cx="5257800" cy="4526280"/>
          </a:xfrm>
          <a:prstGeom prst="roundRect">
            <a:avLst/>
          </a:prstGeom>
          <a:solidFill>
            <a:srgbClr val="F2F7F8"/>
          </a:solidFill>
          <a:ln>
            <a:solidFill>
              <a:srgbClr val="DBE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63640" y="1417320"/>
            <a:ext cx="5257800" cy="566928"/>
          </a:xfrm>
          <a:prstGeom prst="rect">
            <a:avLst/>
          </a:prstGeom>
          <a:solidFill>
            <a:srgbClr val="12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73952" y="1536192"/>
            <a:ext cx="4800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To‘liq baholash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83096" y="2121408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60">
                <a:solidFill>
                  <a:srgbClr val="25313A"/>
                </a:solidFill>
              </a:defRPr>
            </a:pPr>
            <a:r>
              <a:t>Balans tuzilmasini chuqur tahlil qilish</a:t>
            </a:r>
          </a:p>
          <a:p>
            <a:pPr>
              <a:spcAft>
                <a:spcPts val="600"/>
              </a:spcAft>
              <a:defRPr sz="1660">
                <a:solidFill>
                  <a:srgbClr val="25313A"/>
                </a:solidFill>
              </a:defRPr>
            </a:pPr>
            <a:r>
              <a:t>Mulk holati va kapital tarkibini hisoblash</a:t>
            </a:r>
          </a:p>
          <a:p>
            <a:pPr>
              <a:spcAft>
                <a:spcPts val="600"/>
              </a:spcAft>
              <a:defRPr sz="1660">
                <a:solidFill>
                  <a:srgbClr val="25313A"/>
                </a:solidFill>
              </a:defRPr>
            </a:pPr>
            <a:r>
              <a:t>Likvidlik, to‘lov qobiliyati va barqarorlikni koeffitsiyentlar orqali baholash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18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2A42"/>
                </a:solidFill>
              </a:defRPr>
            </a:pPr>
            <a:r>
              <a:t>12.2. Dastlabki baholashda rahbar nimani aniqlaydi?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14400"/>
            <a:ext cx="10789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2DA7AD"/>
                </a:solidFill>
              </a:defRPr>
            </a:pPr>
            <a:r>
              <a:t>12.2. Dastlabki baholash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55664"/>
            <a:ext cx="11064240" cy="18288"/>
          </a:xfrm>
          <a:prstGeom prst="rect">
            <a:avLst/>
          </a:prstGeom>
          <a:solidFill>
            <a:srgbClr val="DB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19">
                <a:solidFill>
                  <a:srgbClr val="5F6C75"/>
                </a:solidFill>
              </a:defRPr>
            </a:pPr>
            <a:r>
              <a:t>A.N. Xoliqulov — “Turistik korxonalar faoliyati tahlili” | 12-mavzu | 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25880"/>
            <a:ext cx="1069848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50">
                <a:solidFill>
                  <a:srgbClr val="25313A"/>
                </a:solidFill>
              </a:defRPr>
            </a:pPr>
            <a:r>
              <a:t>Xo‘jalik mablag‘lari umumiy summasi va yil davomidagi o‘zgarish</a:t>
            </a:r>
          </a:p>
          <a:p>
            <a:pPr>
              <a:spcAft>
                <a:spcPts val="600"/>
              </a:spcAft>
              <a:defRPr sz="1750">
                <a:solidFill>
                  <a:srgbClr val="25313A"/>
                </a:solidFill>
              </a:defRPr>
            </a:pPr>
            <a:r>
              <a:t>O‘z va qarz mablag‘lari manbalari summasi va ularning nisbati</a:t>
            </a:r>
          </a:p>
          <a:p>
            <a:pPr>
              <a:spcAft>
                <a:spcPts val="600"/>
              </a:spcAft>
              <a:defRPr sz="1750">
                <a:solidFill>
                  <a:srgbClr val="25313A"/>
                </a:solidFill>
              </a:defRPr>
            </a:pPr>
            <a:r>
              <a:t>O‘z mablag‘lari manbalari va uzoq muddatli aktivlar nisbati</a:t>
            </a:r>
          </a:p>
          <a:p>
            <a:pPr>
              <a:spcAft>
                <a:spcPts val="600"/>
              </a:spcAft>
              <a:defRPr sz="1750">
                <a:solidFill>
                  <a:srgbClr val="25313A"/>
                </a:solidFill>
              </a:defRPr>
            </a:pPr>
            <a:r>
              <a:t>Majburiyatlar va aylanma aktivlar nisbati</a:t>
            </a:r>
          </a:p>
          <a:p>
            <a:pPr>
              <a:spcAft>
                <a:spcPts val="600"/>
              </a:spcAft>
              <a:defRPr sz="1750">
                <a:solidFill>
                  <a:srgbClr val="25313A"/>
                </a:solidFill>
              </a:defRPr>
            </a:pPr>
            <a:r>
              <a:t>Zaxiralar va xarajatlar dinamikasi</a:t>
            </a:r>
          </a:p>
          <a:p>
            <a:pPr>
              <a:spcAft>
                <a:spcPts val="600"/>
              </a:spcAft>
              <a:defRPr sz="1750">
                <a:solidFill>
                  <a:srgbClr val="25313A"/>
                </a:solidFill>
              </a:defRPr>
            </a:pPr>
            <a:r>
              <a:t>Debitorlik va kreditorlik qarzlarining mavjudligi va o‘zgarishi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18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2A42"/>
                </a:solidFill>
              </a:defRPr>
            </a:pPr>
            <a:r>
              <a:t>“TURSERVIS”: xo‘jalik mablag‘lari hajmi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14400"/>
            <a:ext cx="10789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2DA7AD"/>
                </a:solidFill>
              </a:defRPr>
            </a:pPr>
            <a:r>
              <a:t>12.2. Dastlabki baholash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55664"/>
            <a:ext cx="11064240" cy="18288"/>
          </a:xfrm>
          <a:prstGeom prst="rect">
            <a:avLst/>
          </a:prstGeom>
          <a:solidFill>
            <a:srgbClr val="DB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19">
                <a:solidFill>
                  <a:srgbClr val="5F6C75"/>
                </a:solidFill>
              </a:defRPr>
            </a:pPr>
            <a:r>
              <a:t>A.N. Xoliqulov — “Turistik korxonalar faoliyati tahlili” | 12-mavzu | 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04088" y="1783080"/>
            <a:ext cx="3474720" cy="2148840"/>
          </a:xfrm>
          <a:prstGeom prst="roundRect">
            <a:avLst/>
          </a:prstGeom>
          <a:solidFill>
            <a:srgbClr val="F2F7F8"/>
          </a:solidFill>
          <a:ln>
            <a:solidFill>
              <a:srgbClr val="DBE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3816" y="1993392"/>
            <a:ext cx="3255264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20" b="1">
                <a:solidFill>
                  <a:srgbClr val="5F6C75"/>
                </a:solidFill>
              </a:defRPr>
            </a:pPr>
            <a:r>
              <a:t>Yil boshida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6" y="2670048"/>
            <a:ext cx="3255264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122A42"/>
                </a:solidFill>
              </a:defRPr>
            </a:pPr>
            <a:r>
              <a:t>27 147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160520"/>
            <a:ext cx="3328416" cy="9875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40">
                <a:solidFill>
                  <a:srgbClr val="25313A"/>
                </a:solidFill>
              </a:defRPr>
            </a:pPr>
            <a:r>
              <a:t>Balans jami.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61688" y="1783080"/>
            <a:ext cx="3474720" cy="2148840"/>
          </a:xfrm>
          <a:prstGeom prst="roundRect">
            <a:avLst/>
          </a:prstGeom>
          <a:solidFill>
            <a:srgbClr val="F2F7F8"/>
          </a:solidFill>
          <a:ln>
            <a:solidFill>
              <a:srgbClr val="DBE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71416" y="1993392"/>
            <a:ext cx="3255264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20" b="1">
                <a:solidFill>
                  <a:srgbClr val="5F6C75"/>
                </a:solidFill>
              </a:defRPr>
            </a:pPr>
            <a:r>
              <a:t>Yil oxirida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71416" y="2670048"/>
            <a:ext cx="3255264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122A42"/>
                </a:solidFill>
              </a:defRPr>
            </a:pPr>
            <a:r>
              <a:t>29 537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34840" y="4160520"/>
            <a:ext cx="3328416" cy="9875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40">
                <a:solidFill>
                  <a:srgbClr val="25313A"/>
                </a:solidFill>
              </a:defRPr>
            </a:pPr>
            <a:r>
              <a:t>Hisobot davri oxiridagi xo‘jalik mablag‘lari.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19288" y="1783080"/>
            <a:ext cx="3474720" cy="2148840"/>
          </a:xfrm>
          <a:prstGeom prst="roundRect">
            <a:avLst/>
          </a:prstGeom>
          <a:solidFill>
            <a:srgbClr val="F2F7F8"/>
          </a:solidFill>
          <a:ln>
            <a:solidFill>
              <a:srgbClr val="DBE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29015" y="1993392"/>
            <a:ext cx="3255264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20" b="1">
                <a:solidFill>
                  <a:srgbClr val="5F6C75"/>
                </a:solidFill>
              </a:defRPr>
            </a:pPr>
            <a:r>
              <a:t>O‘sish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29015" y="2670048"/>
            <a:ext cx="3255264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122A42"/>
                </a:solidFill>
              </a:defRPr>
            </a:pPr>
            <a:r>
              <a:t>+2 390 ming so‘m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92440" y="4160520"/>
            <a:ext cx="3328416" cy="9875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40">
                <a:solidFill>
                  <a:srgbClr val="25313A"/>
                </a:solidFill>
              </a:defRPr>
            </a:pPr>
            <a:r>
              <a:t>Korxona resurslari hajmi oshgan.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18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2A42"/>
                </a:solidFill>
              </a:defRPr>
            </a:pPr>
            <a:r>
              <a:t>O‘z mablag‘lari ustunligi — ijobiy signal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14400"/>
            <a:ext cx="10789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2DA7AD"/>
                </a:solidFill>
              </a:defRPr>
            </a:pPr>
            <a:r>
              <a:t>12.2. Dastlabki baholash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55664"/>
            <a:ext cx="11064240" cy="18288"/>
          </a:xfrm>
          <a:prstGeom prst="rect">
            <a:avLst/>
          </a:prstGeom>
          <a:solidFill>
            <a:srgbClr val="DB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19">
                <a:solidFill>
                  <a:srgbClr val="5F6C75"/>
                </a:solidFill>
              </a:defRPr>
            </a:pPr>
            <a:r>
              <a:t>A.N. Xoliqulov — “Turistik korxonalar faoliyati tahlili” | 12-mavzu | 11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04088" y="1783080"/>
            <a:ext cx="3474720" cy="2148840"/>
          </a:xfrm>
          <a:prstGeom prst="roundRect">
            <a:avLst/>
          </a:prstGeom>
          <a:solidFill>
            <a:srgbClr val="F2F7F8"/>
          </a:solidFill>
          <a:ln>
            <a:solidFill>
              <a:srgbClr val="DBE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3816" y="1993392"/>
            <a:ext cx="3255264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20" b="1">
                <a:solidFill>
                  <a:srgbClr val="5F6C75"/>
                </a:solidFill>
              </a:defRPr>
            </a:pPr>
            <a:r>
              <a:t>O‘z mablag‘lari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6" y="2670048"/>
            <a:ext cx="3255264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122A42"/>
                </a:solidFill>
              </a:defRPr>
            </a:pPr>
            <a:r>
              <a:t>21 703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160520"/>
            <a:ext cx="3328416" cy="9875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40">
                <a:solidFill>
                  <a:srgbClr val="25313A"/>
                </a:solidFill>
              </a:defRPr>
            </a:pPr>
            <a:r>
              <a:t>Yil oxiridagi o‘z kapitali.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61688" y="1783080"/>
            <a:ext cx="3474720" cy="2148840"/>
          </a:xfrm>
          <a:prstGeom prst="roundRect">
            <a:avLst/>
          </a:prstGeom>
          <a:solidFill>
            <a:srgbClr val="F2F7F8"/>
          </a:solidFill>
          <a:ln>
            <a:solidFill>
              <a:srgbClr val="DBE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71416" y="1993392"/>
            <a:ext cx="3255264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20" b="1">
                <a:solidFill>
                  <a:srgbClr val="5F6C75"/>
                </a:solidFill>
              </a:defRPr>
            </a:pPr>
            <a:r>
              <a:t>Majburiyatlar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71416" y="2670048"/>
            <a:ext cx="3255264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122A42"/>
                </a:solidFill>
              </a:defRPr>
            </a:pPr>
            <a:r>
              <a:t>7 834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34840" y="4160520"/>
            <a:ext cx="3328416" cy="9875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40">
                <a:solidFill>
                  <a:srgbClr val="25313A"/>
                </a:solidFill>
              </a:defRPr>
            </a:pPr>
            <a:r>
              <a:t>Qarz va majburiyatlar.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19288" y="1783080"/>
            <a:ext cx="3474720" cy="2148840"/>
          </a:xfrm>
          <a:prstGeom prst="roundRect">
            <a:avLst/>
          </a:prstGeom>
          <a:solidFill>
            <a:srgbClr val="F2F7F8"/>
          </a:solidFill>
          <a:ln>
            <a:solidFill>
              <a:srgbClr val="DBE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29015" y="1993392"/>
            <a:ext cx="3255264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20" b="1">
                <a:solidFill>
                  <a:srgbClr val="5F6C75"/>
                </a:solidFill>
              </a:defRPr>
            </a:pPr>
            <a:r>
              <a:t>Farq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29015" y="2670048"/>
            <a:ext cx="3255264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122A42"/>
                </a:solidFill>
              </a:defRPr>
            </a:pPr>
            <a:r>
              <a:t>+13 869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92440" y="4160520"/>
            <a:ext cx="3328416" cy="9875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40">
                <a:solidFill>
                  <a:srgbClr val="25313A"/>
                </a:solidFill>
              </a:defRPr>
            </a:pPr>
            <a:r>
              <a:t>O‘z kapitali qarzlardan ancha yuqori.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18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2A42"/>
                </a:solidFill>
              </a:defRPr>
            </a:pPr>
            <a:r>
              <a:t>O‘z kapitali va uzoq muddatli aktivlar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14400"/>
            <a:ext cx="10789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2DA7AD"/>
                </a:solidFill>
              </a:defRPr>
            </a:pPr>
            <a:r>
              <a:t>12.2. Dastlabki baholash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55664"/>
            <a:ext cx="11064240" cy="18288"/>
          </a:xfrm>
          <a:prstGeom prst="rect">
            <a:avLst/>
          </a:prstGeom>
          <a:solidFill>
            <a:srgbClr val="DB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19">
                <a:solidFill>
                  <a:srgbClr val="5F6C75"/>
                </a:solidFill>
              </a:defRPr>
            </a:pPr>
            <a:r>
              <a:t>A.N. Xoliqulov — “Turistik korxonalar faoliyati tahlili” | 12-mavzu | 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04088" y="1783080"/>
            <a:ext cx="3474720" cy="2148840"/>
          </a:xfrm>
          <a:prstGeom prst="roundRect">
            <a:avLst/>
          </a:prstGeom>
          <a:solidFill>
            <a:srgbClr val="F2F7F8"/>
          </a:solidFill>
          <a:ln>
            <a:solidFill>
              <a:srgbClr val="DBE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3816" y="1993392"/>
            <a:ext cx="3255264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20" b="1">
                <a:solidFill>
                  <a:srgbClr val="5F6C75"/>
                </a:solidFill>
              </a:defRPr>
            </a:pPr>
            <a:r>
              <a:t>O‘z mablag‘lari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6" y="2670048"/>
            <a:ext cx="3255264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122A42"/>
                </a:solidFill>
              </a:defRPr>
            </a:pPr>
            <a:r>
              <a:t>21 703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160520"/>
            <a:ext cx="3328416" cy="9875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40">
                <a:solidFill>
                  <a:srgbClr val="25313A"/>
                </a:solidFill>
              </a:defRPr>
            </a:pPr>
            <a:r>
              <a:t>Balans passivining o‘z mablag‘lari qismi.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61688" y="1783080"/>
            <a:ext cx="3474720" cy="2148840"/>
          </a:xfrm>
          <a:prstGeom prst="roundRect">
            <a:avLst/>
          </a:prstGeom>
          <a:solidFill>
            <a:srgbClr val="F2F7F8"/>
          </a:solidFill>
          <a:ln>
            <a:solidFill>
              <a:srgbClr val="DBE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71416" y="1993392"/>
            <a:ext cx="3255264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20" b="1">
                <a:solidFill>
                  <a:srgbClr val="5F6C75"/>
                </a:solidFill>
              </a:defRPr>
            </a:pPr>
            <a:r>
              <a:t>Uzoq muddatli aktivlar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71416" y="2670048"/>
            <a:ext cx="3255264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122A42"/>
                </a:solidFill>
              </a:defRPr>
            </a:pPr>
            <a:r>
              <a:t>12 971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34840" y="4160520"/>
            <a:ext cx="3328416" cy="9875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40">
                <a:solidFill>
                  <a:srgbClr val="25313A"/>
                </a:solidFill>
              </a:defRPr>
            </a:pPr>
            <a:r>
              <a:t>Balans aktivining uzoq muddatli qismi.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19288" y="1783080"/>
            <a:ext cx="3474720" cy="2148840"/>
          </a:xfrm>
          <a:prstGeom prst="roundRect">
            <a:avLst/>
          </a:prstGeom>
          <a:solidFill>
            <a:srgbClr val="F2F7F8"/>
          </a:solidFill>
          <a:ln>
            <a:solidFill>
              <a:srgbClr val="DBE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29015" y="1993392"/>
            <a:ext cx="3255264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20" b="1">
                <a:solidFill>
                  <a:srgbClr val="5F6C75"/>
                </a:solidFill>
              </a:defRPr>
            </a:pPr>
            <a:r>
              <a:t>Ortiqcha qism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29015" y="2670048"/>
            <a:ext cx="3255264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122A42"/>
                </a:solidFill>
              </a:defRPr>
            </a:pPr>
            <a:r>
              <a:t>8 732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92440" y="4160520"/>
            <a:ext cx="3328416" cy="9875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40">
                <a:solidFill>
                  <a:srgbClr val="25313A"/>
                </a:solidFill>
              </a:defRPr>
            </a:pPr>
            <a:r>
              <a:t>Aylanma faoliyatni moliyalashda ishlatilishi mumkin bo‘lgan qism.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18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2A42"/>
                </a:solidFill>
              </a:defRPr>
            </a:pPr>
            <a:r>
              <a:t>Qarz mablag‘lari va kreditorlik qarzi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14400"/>
            <a:ext cx="10789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2DA7AD"/>
                </a:solidFill>
              </a:defRPr>
            </a:pPr>
            <a:r>
              <a:t>12.2. Dastlabki baholash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55664"/>
            <a:ext cx="11064240" cy="18288"/>
          </a:xfrm>
          <a:prstGeom prst="rect">
            <a:avLst/>
          </a:prstGeom>
          <a:solidFill>
            <a:srgbClr val="DB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19">
                <a:solidFill>
                  <a:srgbClr val="5F6C75"/>
                </a:solidFill>
              </a:defRPr>
            </a:pPr>
            <a:r>
              <a:t>A.N. Xoliqulov — “Turistik korxonalar faoliyati tahlili” | 12-mavzu | 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25880"/>
            <a:ext cx="1069848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25313A"/>
                </a:solidFill>
              </a:defRPr>
            </a:pPr>
            <a:r>
              <a:t>Yil oxirida qarz mablag‘lari 7 834 ming so‘mni tashkil etgan.</a:t>
            </a:r>
          </a:p>
          <a:p>
            <a:pPr>
              <a:spcAft>
                <a:spcPts val="600"/>
              </a:spcAft>
              <a:defRPr sz="1800">
                <a:solidFill>
                  <a:srgbClr val="25313A"/>
                </a:solidFill>
              </a:defRPr>
            </a:pPr>
            <a:r>
              <a:t>Ular yil davomida 664 ming so‘mga oshgan.</a:t>
            </a:r>
          </a:p>
          <a:p>
            <a:pPr>
              <a:spcAft>
                <a:spcPts val="600"/>
              </a:spcAft>
              <a:defRPr sz="1800">
                <a:solidFill>
                  <a:srgbClr val="25313A"/>
                </a:solidFill>
              </a:defRPr>
            </a:pPr>
            <a:r>
              <a:t>Kreditorlik qarzdorligi 2 511 ming so‘mga yetib, 482 ming so‘mga ko‘paygan.</a:t>
            </a:r>
          </a:p>
          <a:p>
            <a:pPr>
              <a:spcAft>
                <a:spcPts val="600"/>
              </a:spcAft>
              <a:defRPr sz="1800">
                <a:solidFill>
                  <a:srgbClr val="25313A"/>
                </a:solidFill>
              </a:defRPr>
            </a:pPr>
            <a:r>
              <a:t>Shunga qaramay o‘z mablag‘lari qarz mablag‘laridan ancha yuqori bo‘lib qolgan.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18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2A42"/>
                </a:solidFill>
              </a:defRPr>
            </a:pPr>
            <a:r>
              <a:t>Asosiy vositalar holati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14400"/>
            <a:ext cx="10789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2DA7AD"/>
                </a:solidFill>
              </a:defRPr>
            </a:pPr>
            <a:r>
              <a:t>12.2. Dastlabki baholash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55664"/>
            <a:ext cx="11064240" cy="18288"/>
          </a:xfrm>
          <a:prstGeom prst="rect">
            <a:avLst/>
          </a:prstGeom>
          <a:solidFill>
            <a:srgbClr val="DB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19">
                <a:solidFill>
                  <a:srgbClr val="5F6C75"/>
                </a:solidFill>
              </a:defRPr>
            </a:pPr>
            <a:r>
              <a:t>A.N. Xoliqulov — “Turistik korxonalar faoliyati tahlili” | 12-mavzu | 14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04088" y="1783080"/>
            <a:ext cx="3474720" cy="2148840"/>
          </a:xfrm>
          <a:prstGeom prst="roundRect">
            <a:avLst/>
          </a:prstGeom>
          <a:solidFill>
            <a:srgbClr val="F2F7F8"/>
          </a:solidFill>
          <a:ln>
            <a:solidFill>
              <a:srgbClr val="DBE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3816" y="1993392"/>
            <a:ext cx="3255264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20" b="1">
                <a:solidFill>
                  <a:srgbClr val="5F6C75"/>
                </a:solidFill>
              </a:defRPr>
            </a:pPr>
            <a:r>
              <a:t>Dastlabki qiymat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6" y="2670048"/>
            <a:ext cx="3255264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122A42"/>
                </a:solidFill>
              </a:defRPr>
            </a:pPr>
            <a:r>
              <a:t>15 247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160520"/>
            <a:ext cx="3328416" cy="9875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40">
                <a:solidFill>
                  <a:srgbClr val="25313A"/>
                </a:solidFill>
              </a:defRPr>
            </a:pPr>
            <a:r>
              <a:t>Asosiy vositalar dastlabki qiymati yil davomida 1 143 ming so‘mga oshgan.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61688" y="1783080"/>
            <a:ext cx="3474720" cy="2148840"/>
          </a:xfrm>
          <a:prstGeom prst="roundRect">
            <a:avLst/>
          </a:prstGeom>
          <a:solidFill>
            <a:srgbClr val="F2F7F8"/>
          </a:solidFill>
          <a:ln>
            <a:solidFill>
              <a:srgbClr val="DBE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71416" y="1993392"/>
            <a:ext cx="3255264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20" b="1">
                <a:solidFill>
                  <a:srgbClr val="5F6C75"/>
                </a:solidFill>
              </a:defRPr>
            </a:pPr>
            <a:r>
              <a:t>Qoldiq qiymat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71416" y="2670048"/>
            <a:ext cx="3255264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122A42"/>
                </a:solidFill>
              </a:defRPr>
            </a:pPr>
            <a:r>
              <a:t>+674 ming so‘m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34840" y="4160520"/>
            <a:ext cx="3328416" cy="9875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40">
                <a:solidFill>
                  <a:srgbClr val="25313A"/>
                </a:solidFill>
              </a:defRPr>
            </a:pPr>
            <a:r>
              <a:t>Qoldiq qiymatdagi o‘sish ancha past.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19288" y="1783080"/>
            <a:ext cx="3474720" cy="2148840"/>
          </a:xfrm>
          <a:prstGeom prst="roundRect">
            <a:avLst/>
          </a:prstGeom>
          <a:solidFill>
            <a:srgbClr val="F2F7F8"/>
          </a:solidFill>
          <a:ln>
            <a:solidFill>
              <a:srgbClr val="DBE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29015" y="1993392"/>
            <a:ext cx="3255264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20" b="1">
                <a:solidFill>
                  <a:srgbClr val="5F6C75"/>
                </a:solidFill>
              </a:defRPr>
            </a:pPr>
            <a:r>
              <a:t>Eskirish koeffitsiyenti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29015" y="2670048"/>
            <a:ext cx="3255264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122A42"/>
                </a:solidFill>
              </a:defRPr>
            </a:pPr>
            <a:r>
              <a:t>0,36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92440" y="4160520"/>
            <a:ext cx="3328416" cy="9875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40">
                <a:solidFill>
                  <a:srgbClr val="25313A"/>
                </a:solidFill>
              </a:defRPr>
            </a:pPr>
            <a:r>
              <a:t>Muallif misolida eskirish darajasi 36% deb baholangan.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18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2A42"/>
                </a:solidFill>
              </a:defRPr>
            </a:pPr>
            <a:r>
              <a:t>Zaxiralar va tayyor mahsulot dinamikasi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14400"/>
            <a:ext cx="10789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2DA7AD"/>
                </a:solidFill>
              </a:defRPr>
            </a:pPr>
            <a:r>
              <a:t>12.2. Dastlabki baholash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55664"/>
            <a:ext cx="11064240" cy="18288"/>
          </a:xfrm>
          <a:prstGeom prst="rect">
            <a:avLst/>
          </a:prstGeom>
          <a:solidFill>
            <a:srgbClr val="DB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19">
                <a:solidFill>
                  <a:srgbClr val="5F6C75"/>
                </a:solidFill>
              </a:defRPr>
            </a:pPr>
            <a:r>
              <a:t>A.N. Xoliqulov — “Turistik korxonalar faoliyati tahlili” | 12-mavzu | 15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04088" y="1783080"/>
            <a:ext cx="3474720" cy="2148840"/>
          </a:xfrm>
          <a:prstGeom prst="roundRect">
            <a:avLst/>
          </a:prstGeom>
          <a:solidFill>
            <a:srgbClr val="F2F7F8"/>
          </a:solidFill>
          <a:ln>
            <a:solidFill>
              <a:srgbClr val="DBE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3816" y="1993392"/>
            <a:ext cx="3255264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20" b="1">
                <a:solidFill>
                  <a:srgbClr val="5F6C75"/>
                </a:solidFill>
              </a:defRPr>
            </a:pPr>
            <a:r>
              <a:t>Zaxira va xarajatlar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6" y="2670048"/>
            <a:ext cx="3255264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122A42"/>
                </a:solidFill>
              </a:defRPr>
            </a:pPr>
            <a:r>
              <a:t>12 631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160520"/>
            <a:ext cx="3328416" cy="9875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40">
                <a:solidFill>
                  <a:srgbClr val="25313A"/>
                </a:solidFill>
              </a:defRPr>
            </a:pPr>
            <a:r>
              <a:t>Aylanma mablag‘lar katta qismi zaxiralarga bog‘langan.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61688" y="1783080"/>
            <a:ext cx="3474720" cy="2148840"/>
          </a:xfrm>
          <a:prstGeom prst="roundRect">
            <a:avLst/>
          </a:prstGeom>
          <a:solidFill>
            <a:srgbClr val="F2F7F8"/>
          </a:solidFill>
          <a:ln>
            <a:solidFill>
              <a:srgbClr val="DBE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71416" y="1993392"/>
            <a:ext cx="3255264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20" b="1">
                <a:solidFill>
                  <a:srgbClr val="5F6C75"/>
                </a:solidFill>
              </a:defRPr>
            </a:pPr>
            <a:r>
              <a:t>O‘sish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71416" y="2670048"/>
            <a:ext cx="3255264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122A42"/>
                </a:solidFill>
              </a:defRPr>
            </a:pPr>
            <a:r>
              <a:t>+1 111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34840" y="4160520"/>
            <a:ext cx="3328416" cy="9875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40">
                <a:solidFill>
                  <a:srgbClr val="25313A"/>
                </a:solidFill>
              </a:defRPr>
            </a:pPr>
            <a:r>
              <a:t>Zaxiralarning ortishi immobilizatsiyani kuchaytirishi mumkin.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19288" y="1783080"/>
            <a:ext cx="3474720" cy="2148840"/>
          </a:xfrm>
          <a:prstGeom prst="roundRect">
            <a:avLst/>
          </a:prstGeom>
          <a:solidFill>
            <a:srgbClr val="F2F7F8"/>
          </a:solidFill>
          <a:ln>
            <a:solidFill>
              <a:srgbClr val="DBE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29015" y="1993392"/>
            <a:ext cx="3255264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20" b="1">
                <a:solidFill>
                  <a:srgbClr val="5F6C75"/>
                </a:solidFill>
              </a:defRPr>
            </a:pPr>
            <a:r>
              <a:t>Tayyor mahsulot o‘sishi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29015" y="2670048"/>
            <a:ext cx="3255264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122A42"/>
                </a:solidFill>
              </a:defRPr>
            </a:pPr>
            <a:r>
              <a:t>+2 478 ming so‘m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92440" y="4160520"/>
            <a:ext cx="3328416" cy="9875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40">
                <a:solidFill>
                  <a:srgbClr val="25313A"/>
                </a:solidFill>
              </a:defRPr>
            </a:pPr>
            <a:r>
              <a:t>Tayyor mahsulotning keskin ortishi sotishdagi qiyinchiliklar belgisi bo‘lishi mumkin.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18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2A42"/>
                </a:solidFill>
              </a:defRPr>
            </a:pPr>
            <a:r>
              <a:t>Debitorlik qarzi — muhim xavf manbai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14400"/>
            <a:ext cx="10789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2DA7AD"/>
                </a:solidFill>
              </a:defRPr>
            </a:pPr>
            <a:r>
              <a:t>12.2. Dastlabki baholash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55664"/>
            <a:ext cx="11064240" cy="18288"/>
          </a:xfrm>
          <a:prstGeom prst="rect">
            <a:avLst/>
          </a:prstGeom>
          <a:solidFill>
            <a:srgbClr val="DB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19">
                <a:solidFill>
                  <a:srgbClr val="5F6C75"/>
                </a:solidFill>
              </a:defRPr>
            </a:pPr>
            <a:r>
              <a:t>A.N. Xoliqulov — “Turistik korxonalar faoliyati tahlili” | 12-mavzu | 16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04088" y="1783080"/>
            <a:ext cx="3474720" cy="2148840"/>
          </a:xfrm>
          <a:prstGeom prst="roundRect">
            <a:avLst/>
          </a:prstGeom>
          <a:solidFill>
            <a:srgbClr val="F2F7F8"/>
          </a:solidFill>
          <a:ln>
            <a:solidFill>
              <a:srgbClr val="DBE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3816" y="1993392"/>
            <a:ext cx="3255264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20" b="1">
                <a:solidFill>
                  <a:srgbClr val="5F6C75"/>
                </a:solidFill>
              </a:defRPr>
            </a:pPr>
            <a:r>
              <a:t>Jami debitorlik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6" y="2670048"/>
            <a:ext cx="3255264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122A42"/>
                </a:solidFill>
              </a:defRPr>
            </a:pPr>
            <a:r>
              <a:t>3 631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160520"/>
            <a:ext cx="3328416" cy="9875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40">
                <a:solidFill>
                  <a:srgbClr val="25313A"/>
                </a:solidFill>
              </a:defRPr>
            </a:pPr>
            <a:r>
              <a:t>Yil oxiri.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61688" y="1783080"/>
            <a:ext cx="3474720" cy="2148840"/>
          </a:xfrm>
          <a:prstGeom prst="roundRect">
            <a:avLst/>
          </a:prstGeom>
          <a:solidFill>
            <a:srgbClr val="F2F7F8"/>
          </a:solidFill>
          <a:ln>
            <a:solidFill>
              <a:srgbClr val="DBE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71416" y="1993392"/>
            <a:ext cx="3255264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20" b="1">
                <a:solidFill>
                  <a:srgbClr val="5F6C75"/>
                </a:solidFill>
              </a:defRPr>
            </a:pPr>
            <a:r>
              <a:t>O‘sish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71416" y="2670048"/>
            <a:ext cx="3255264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122A42"/>
                </a:solidFill>
              </a:defRPr>
            </a:pPr>
            <a:r>
              <a:t>+1 382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34840" y="4160520"/>
            <a:ext cx="3328416" cy="9875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40">
                <a:solidFill>
                  <a:srgbClr val="25313A"/>
                </a:solidFill>
              </a:defRPr>
            </a:pPr>
            <a:r>
              <a:t>Yil davomida debitorlik keskin oshgan.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19288" y="1783080"/>
            <a:ext cx="3474720" cy="2148840"/>
          </a:xfrm>
          <a:prstGeom prst="roundRect">
            <a:avLst/>
          </a:prstGeom>
          <a:solidFill>
            <a:srgbClr val="F2F7F8"/>
          </a:solidFill>
          <a:ln>
            <a:solidFill>
              <a:srgbClr val="DBE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29015" y="1993392"/>
            <a:ext cx="3255264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20" b="1">
                <a:solidFill>
                  <a:srgbClr val="5F6C75"/>
                </a:solidFill>
              </a:defRPr>
            </a:pPr>
            <a:r>
              <a:t>Muddati o‘tgan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29015" y="2670048"/>
            <a:ext cx="3255264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122A42"/>
                </a:solidFill>
              </a:defRPr>
            </a:pPr>
            <a:r>
              <a:t>2 382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92440" y="4160520"/>
            <a:ext cx="3328416" cy="9875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40">
                <a:solidFill>
                  <a:srgbClr val="25313A"/>
                </a:solidFill>
              </a:defRPr>
            </a:pPr>
            <a:r>
              <a:t>Muddati o‘tgan qismi ham 532 ming so‘mga ko‘paygan.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18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2A42"/>
                </a:solidFill>
              </a:defRPr>
            </a:pPr>
            <a:r>
              <a:t>Dastlabki baholash: ijobiy va salbiy belgilar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14400"/>
            <a:ext cx="10789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2DA7AD"/>
                </a:solidFill>
              </a:defRPr>
            </a:pPr>
            <a:r>
              <a:t>12.2. Dastlabki baholash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55664"/>
            <a:ext cx="11064240" cy="18288"/>
          </a:xfrm>
          <a:prstGeom prst="rect">
            <a:avLst/>
          </a:prstGeom>
          <a:solidFill>
            <a:srgbClr val="DB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19">
                <a:solidFill>
                  <a:srgbClr val="5F6C75"/>
                </a:solidFill>
              </a:defRPr>
            </a:pPr>
            <a:r>
              <a:t>A.N. Xoliqulov — “Turistik korxonalar faoliyati tahlili” | 12-mavzu | 17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417320"/>
            <a:ext cx="5257800" cy="4526280"/>
          </a:xfrm>
          <a:prstGeom prst="roundRect">
            <a:avLst/>
          </a:prstGeom>
          <a:solidFill>
            <a:srgbClr val="F2F7F8"/>
          </a:solidFill>
          <a:ln>
            <a:solidFill>
              <a:srgbClr val="DBE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417320"/>
            <a:ext cx="5257800" cy="566928"/>
          </a:xfrm>
          <a:prstGeom prst="rect">
            <a:avLst/>
          </a:prstGeom>
          <a:solidFill>
            <a:srgbClr val="31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" y="1536192"/>
            <a:ext cx="4800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Ijobiy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2121408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60">
                <a:solidFill>
                  <a:srgbClr val="25313A"/>
                </a:solidFill>
              </a:defRPr>
            </a:pPr>
            <a:r>
              <a:t>Umumiy sarmoya o‘sishi</a:t>
            </a:r>
          </a:p>
          <a:p>
            <a:pPr>
              <a:spcAft>
                <a:spcPts val="600"/>
              </a:spcAft>
              <a:defRPr sz="1660">
                <a:solidFill>
                  <a:srgbClr val="25313A"/>
                </a:solidFill>
              </a:defRPr>
            </a:pPr>
            <a:r>
              <a:t>O‘z mablag‘lari ustunligi</a:t>
            </a:r>
          </a:p>
          <a:p>
            <a:pPr>
              <a:spcAft>
                <a:spcPts val="600"/>
              </a:spcAft>
              <a:defRPr sz="1660">
                <a:solidFill>
                  <a:srgbClr val="25313A"/>
                </a:solidFill>
              </a:defRPr>
            </a:pPr>
            <a:r>
              <a:t>Aylanma mablag‘lar ulushining oshishi</a:t>
            </a:r>
          </a:p>
          <a:p>
            <a:pPr>
              <a:spcAft>
                <a:spcPts val="600"/>
              </a:spcAft>
              <a:defRPr sz="1660">
                <a:solidFill>
                  <a:srgbClr val="25313A"/>
                </a:solidFill>
              </a:defRPr>
            </a:pPr>
            <a:r>
              <a:t>Majburiyatlarning o‘z kapitalidan ancha pastligi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417320"/>
            <a:ext cx="5257800" cy="4526280"/>
          </a:xfrm>
          <a:prstGeom prst="roundRect">
            <a:avLst/>
          </a:prstGeom>
          <a:solidFill>
            <a:srgbClr val="F2F7F8"/>
          </a:solidFill>
          <a:ln>
            <a:solidFill>
              <a:srgbClr val="DBE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63640" y="1417320"/>
            <a:ext cx="5257800" cy="566928"/>
          </a:xfrm>
          <a:prstGeom prst="rect">
            <a:avLst/>
          </a:prstGeom>
          <a:solidFill>
            <a:srgbClr val="B2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73952" y="1536192"/>
            <a:ext cx="4800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Salbiy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83096" y="2121408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60">
                <a:solidFill>
                  <a:srgbClr val="25313A"/>
                </a:solidFill>
              </a:defRPr>
            </a:pPr>
            <a:r>
              <a:t>Debitorlik va kreditorlik qarzlari ortishi</a:t>
            </a:r>
          </a:p>
          <a:p>
            <a:pPr>
              <a:spcAft>
                <a:spcPts val="600"/>
              </a:spcAft>
              <a:defRPr sz="1660">
                <a:solidFill>
                  <a:srgbClr val="25313A"/>
                </a:solidFill>
              </a:defRPr>
            </a:pPr>
            <a:r>
              <a:t>Muddati o‘tgan qarzlar mavjudligi</a:t>
            </a:r>
          </a:p>
          <a:p>
            <a:pPr>
              <a:spcAft>
                <a:spcPts val="600"/>
              </a:spcAft>
              <a:defRPr sz="1660">
                <a:solidFill>
                  <a:srgbClr val="25313A"/>
                </a:solidFill>
              </a:defRPr>
            </a:pPr>
            <a:r>
              <a:t>Zaxiralar va tayyor mahsulotning ko‘payishi</a:t>
            </a:r>
          </a:p>
          <a:p>
            <a:pPr>
              <a:spcAft>
                <a:spcPts val="600"/>
              </a:spcAft>
              <a:defRPr sz="1660">
                <a:solidFill>
                  <a:srgbClr val="25313A"/>
                </a:solidFill>
              </a:defRPr>
            </a:pPr>
            <a:r>
              <a:t>Asosiy vositalar eskirishining oshishi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18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2A42"/>
                </a:solidFill>
              </a:defRPr>
            </a:pPr>
            <a:r>
              <a:t>12.3. To‘liq baholashning mohiyati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14400"/>
            <a:ext cx="10789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2DA7AD"/>
                </a:solidFill>
              </a:defRPr>
            </a:pPr>
            <a:r>
              <a:t>12.3. To‘liq baholash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55664"/>
            <a:ext cx="11064240" cy="18288"/>
          </a:xfrm>
          <a:prstGeom prst="rect">
            <a:avLst/>
          </a:prstGeom>
          <a:solidFill>
            <a:srgbClr val="DB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19">
                <a:solidFill>
                  <a:srgbClr val="5F6C75"/>
                </a:solidFill>
              </a:defRPr>
            </a:pPr>
            <a:r>
              <a:t>A.N. Xoliqulov — “Turistik korxonalar faoliyati tahlili” | 12-mavzu | 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25880"/>
            <a:ext cx="1069848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50">
                <a:solidFill>
                  <a:srgbClr val="25313A"/>
                </a:solidFill>
              </a:defRPr>
            </a:pPr>
            <a:r>
              <a:t>Balansning umumiy summasi korxona ixtiyoridagi barcha xo‘jalik mablag‘larini aks ettiradi.</a:t>
            </a:r>
          </a:p>
          <a:p>
            <a:pPr>
              <a:spcAft>
                <a:spcPts val="600"/>
              </a:spcAft>
              <a:defRPr sz="1850">
                <a:solidFill>
                  <a:srgbClr val="25313A"/>
                </a:solidFill>
              </a:defRPr>
            </a:pPr>
            <a:r>
              <a:t>Balans moddalari va bo‘limlarining jami balansga nisbati ularning tarkibiy ulushini ifodalaydi.</a:t>
            </a:r>
          </a:p>
          <a:p>
            <a:pPr>
              <a:spcAft>
                <a:spcPts val="600"/>
              </a:spcAft>
              <a:defRPr sz="1850">
                <a:solidFill>
                  <a:srgbClr val="25313A"/>
                </a:solidFill>
              </a:defRPr>
            </a:pPr>
            <a:r>
              <a:t>Tuzilmani tahlil qilish orqali mablag‘lar qayerga joylashtirilgani va manbalari qanday shakllangani aniqlanadi.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18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2A42"/>
                </a:solidFill>
              </a:defRPr>
            </a:pPr>
            <a:r>
              <a:t>Balans tuzilmasi: asosiy savollar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14400"/>
            <a:ext cx="10789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2DA7AD"/>
                </a:solidFill>
              </a:defRPr>
            </a:pPr>
            <a:r>
              <a:t>12.3. To‘liq baholash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55664"/>
            <a:ext cx="11064240" cy="18288"/>
          </a:xfrm>
          <a:prstGeom prst="rect">
            <a:avLst/>
          </a:prstGeom>
          <a:solidFill>
            <a:srgbClr val="DB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19">
                <a:solidFill>
                  <a:srgbClr val="5F6C75"/>
                </a:solidFill>
              </a:defRPr>
            </a:pPr>
            <a:r>
              <a:t>A.N. Xoliqulov — “Turistik korxonalar faoliyati tahlili” | 12-mavzu | 19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25880"/>
            <a:ext cx="1069848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25313A"/>
                </a:solidFill>
              </a:defRPr>
            </a:pPr>
            <a:r>
              <a:t>Uzoq muddatli va aylanma aktivlar o‘rtasidagi nisbat qanday?</a:t>
            </a:r>
          </a:p>
          <a:p>
            <a:pPr>
              <a:spcAft>
                <a:spcPts val="600"/>
              </a:spcAft>
              <a:defRPr sz="1800">
                <a:solidFill>
                  <a:srgbClr val="25313A"/>
                </a:solidFill>
              </a:defRPr>
            </a:pPr>
            <a:r>
              <a:t>O‘z va jalb qilingan mablag‘lar ulushi qancha?</a:t>
            </a:r>
          </a:p>
          <a:p>
            <a:pPr>
              <a:spcAft>
                <a:spcPts val="600"/>
              </a:spcAft>
              <a:defRPr sz="1800">
                <a:solidFill>
                  <a:srgbClr val="25313A"/>
                </a:solidFill>
              </a:defRPr>
            </a:pPr>
            <a:r>
              <a:t>Debitorlik va kreditorlik qarzlari qanday o‘zgargan?</a:t>
            </a:r>
          </a:p>
          <a:p>
            <a:pPr>
              <a:spcAft>
                <a:spcPts val="600"/>
              </a:spcAft>
              <a:defRPr sz="1800">
                <a:solidFill>
                  <a:srgbClr val="25313A"/>
                </a:solidFill>
              </a:defRPr>
            </a:pPr>
            <a:r>
              <a:t>Uzoq va qisqa muddatli kreditlardan foydalanish samaralimi?</a:t>
            </a:r>
          </a:p>
          <a:p>
            <a:pPr>
              <a:spcAft>
                <a:spcPts val="600"/>
              </a:spcAft>
              <a:defRPr sz="1800">
                <a:solidFill>
                  <a:srgbClr val="25313A"/>
                </a:solidFill>
              </a:defRPr>
            </a:pPr>
            <a:r>
              <a:t>Mablag‘lar korxona faoliyati uchun to‘g‘ri joylashtirilganmi?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18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2A42"/>
                </a:solidFill>
              </a:defRPr>
            </a:pPr>
            <a:r>
              <a:t>12.1-jadval: balans tuzilmasi — aktivlar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14400"/>
            <a:ext cx="10789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2DA7AD"/>
                </a:solidFill>
              </a:defRPr>
            </a:pPr>
            <a:r>
              <a:t>12.3. To‘liq baholash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55664"/>
            <a:ext cx="11064240" cy="18288"/>
          </a:xfrm>
          <a:prstGeom prst="rect">
            <a:avLst/>
          </a:prstGeom>
          <a:solidFill>
            <a:srgbClr val="DB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19">
                <a:solidFill>
                  <a:srgbClr val="5F6C75"/>
                </a:solidFill>
              </a:defRPr>
            </a:pPr>
            <a:r>
              <a:t>A.N. Xoliqulov — “Turistik korxonalar faoliyati tahlili” | 12-mavzu | 20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417320"/>
          <a:ext cx="1088136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76272"/>
                <a:gridCol w="2176272"/>
                <a:gridCol w="2176272"/>
                <a:gridCol w="2176272"/>
                <a:gridCol w="2176272"/>
              </a:tblGrid>
              <a:tr h="841248"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FFFFFF"/>
                          </a:solidFill>
                        </a:defRPr>
                      </a:pPr>
                      <a:r>
                        <a:t>Aktivlar</a:t>
                      </a:r>
                    </a:p>
                  </a:txBody>
                  <a:tcPr anchor="ctr" marL="27432" marR="27432" marT="18288" marB="18288">
                    <a:solidFill>
                      <a:srgbClr val="122A4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FFFFFF"/>
                          </a:solidFill>
                        </a:defRPr>
                      </a:pPr>
                      <a:r>
                        <a:t>Yil boshida</a:t>
                      </a:r>
                    </a:p>
                  </a:txBody>
                  <a:tcPr anchor="ctr" marL="27432" marR="27432" marT="18288" marB="18288">
                    <a:solidFill>
                      <a:srgbClr val="122A4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FFFFFF"/>
                          </a:solidFill>
                        </a:defRPr>
                      </a:pPr>
                      <a:r>
                        <a:t>Ulushi %</a:t>
                      </a:r>
                    </a:p>
                  </a:txBody>
                  <a:tcPr anchor="ctr" marL="27432" marR="27432" marT="18288" marB="18288">
                    <a:solidFill>
                      <a:srgbClr val="122A4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FFFFFF"/>
                          </a:solidFill>
                        </a:defRPr>
                      </a:pPr>
                      <a:r>
                        <a:t>Yil oxirida</a:t>
                      </a:r>
                    </a:p>
                  </a:txBody>
                  <a:tcPr anchor="ctr" marL="27432" marR="27432" marT="18288" marB="18288">
                    <a:solidFill>
                      <a:srgbClr val="122A4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FFFFFF"/>
                          </a:solidFill>
                        </a:defRPr>
                      </a:pPr>
                      <a:r>
                        <a:t>Ulushi %</a:t>
                      </a:r>
                    </a:p>
                  </a:txBody>
                  <a:tcPr anchor="ctr" marL="27432" marR="27432" marT="18288" marB="18288">
                    <a:solidFill>
                      <a:srgbClr val="122A42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25313A"/>
                          </a:solidFill>
                        </a:defRPr>
                      </a:pPr>
                      <a:r>
                        <a:t>Uzoq muddatli aktivlar</a:t>
                      </a:r>
                    </a:p>
                  </a:txBody>
                  <a:tcPr anchor="ctr" marL="27432" marR="27432" marT="18288" marB="18288">
                    <a:solidFill>
                      <a:srgbClr val="F2F7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25313A"/>
                          </a:solidFill>
                        </a:defRPr>
                      </a:pPr>
                      <a:r>
                        <a:t>13 027</a:t>
                      </a:r>
                    </a:p>
                  </a:txBody>
                  <a:tcPr anchor="ctr" marL="27432" marR="27432" marT="18288" marB="18288">
                    <a:solidFill>
                      <a:srgbClr val="F2F7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25313A"/>
                          </a:solidFill>
                        </a:defRPr>
                      </a:pPr>
                      <a:r>
                        <a:t>48,0</a:t>
                      </a:r>
                    </a:p>
                  </a:txBody>
                  <a:tcPr anchor="ctr" marL="27432" marR="27432" marT="18288" marB="18288">
                    <a:solidFill>
                      <a:srgbClr val="F2F7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25313A"/>
                          </a:solidFill>
                        </a:defRPr>
                      </a:pPr>
                      <a:r>
                        <a:t>12 971</a:t>
                      </a:r>
                    </a:p>
                  </a:txBody>
                  <a:tcPr anchor="ctr" marL="27432" marR="27432" marT="18288" marB="18288">
                    <a:solidFill>
                      <a:srgbClr val="F2F7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25313A"/>
                          </a:solidFill>
                        </a:defRPr>
                      </a:pPr>
                      <a:r>
                        <a:t>43,9</a:t>
                      </a:r>
                    </a:p>
                  </a:txBody>
                  <a:tcPr anchor="ctr" marL="27432" marR="27432" marT="18288" marB="18288">
                    <a:solidFill>
                      <a:srgbClr val="F2F7F8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25313A"/>
                          </a:solidFill>
                        </a:defRPr>
                      </a:pPr>
                      <a:r>
                        <a:t>Joriy aktivlar</a:t>
                      </a:r>
                    </a:p>
                  </a:txBody>
                  <a:tcPr anchor="ctr"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25313A"/>
                          </a:solidFill>
                        </a:defRPr>
                      </a:pPr>
                      <a:r>
                        <a:t>14 120</a:t>
                      </a:r>
                    </a:p>
                  </a:txBody>
                  <a:tcPr anchor="ctr"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25313A"/>
                          </a:solidFill>
                        </a:defRPr>
                      </a:pPr>
                      <a:r>
                        <a:t>52,0</a:t>
                      </a:r>
                    </a:p>
                  </a:txBody>
                  <a:tcPr anchor="ctr"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25313A"/>
                          </a:solidFill>
                        </a:defRPr>
                      </a:pPr>
                      <a:r>
                        <a:t>16 566</a:t>
                      </a:r>
                    </a:p>
                  </a:txBody>
                  <a:tcPr anchor="ctr"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25313A"/>
                          </a:solidFill>
                        </a:defRPr>
                      </a:pPr>
                      <a:r>
                        <a:t>56,1</a:t>
                      </a:r>
                    </a:p>
                  </a:txBody>
                  <a:tcPr anchor="ctr" marL="27432" marR="27432" marT="18288" marB="18288">
                    <a:solidFill>
                      <a:srgbClr val="FFFFFF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25313A"/>
                          </a:solidFill>
                        </a:defRPr>
                      </a:pPr>
                      <a:r>
                        <a:t>Debitorlik qarzi</a:t>
                      </a:r>
                    </a:p>
                  </a:txBody>
                  <a:tcPr anchor="ctr" marL="27432" marR="27432" marT="18288" marB="18288">
                    <a:solidFill>
                      <a:srgbClr val="F2F7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25313A"/>
                          </a:solidFill>
                        </a:defRPr>
                      </a:pPr>
                      <a:r>
                        <a:t>2 249</a:t>
                      </a:r>
                    </a:p>
                  </a:txBody>
                  <a:tcPr anchor="ctr" marL="27432" marR="27432" marT="18288" marB="18288">
                    <a:solidFill>
                      <a:srgbClr val="F2F7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25313A"/>
                          </a:solidFill>
                        </a:defRPr>
                      </a:pPr>
                      <a:r>
                        <a:t>8,3</a:t>
                      </a:r>
                    </a:p>
                  </a:txBody>
                  <a:tcPr anchor="ctr" marL="27432" marR="27432" marT="18288" marB="18288">
                    <a:solidFill>
                      <a:srgbClr val="F2F7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25313A"/>
                          </a:solidFill>
                        </a:defRPr>
                      </a:pPr>
                      <a:r>
                        <a:t>3 631</a:t>
                      </a:r>
                    </a:p>
                  </a:txBody>
                  <a:tcPr anchor="ctr" marL="27432" marR="27432" marT="18288" marB="18288">
                    <a:solidFill>
                      <a:srgbClr val="F2F7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25313A"/>
                          </a:solidFill>
                        </a:defRPr>
                      </a:pPr>
                      <a:r>
                        <a:t>12,3</a:t>
                      </a:r>
                    </a:p>
                  </a:txBody>
                  <a:tcPr anchor="ctr" marL="27432" marR="27432" marT="18288" marB="18288">
                    <a:solidFill>
                      <a:srgbClr val="F2F7F8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25313A"/>
                          </a:solidFill>
                        </a:defRPr>
                      </a:pPr>
                      <a:r>
                        <a:t>Jami aktivlar</a:t>
                      </a:r>
                    </a:p>
                  </a:txBody>
                  <a:tcPr anchor="ctr"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25313A"/>
                          </a:solidFill>
                        </a:defRPr>
                      </a:pPr>
                      <a:r>
                        <a:t>27 147</a:t>
                      </a:r>
                    </a:p>
                  </a:txBody>
                  <a:tcPr anchor="ctr"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25313A"/>
                          </a:solidFill>
                        </a:defRPr>
                      </a:pPr>
                      <a:r>
                        <a:t>100</a:t>
                      </a:r>
                    </a:p>
                  </a:txBody>
                  <a:tcPr anchor="ctr"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25313A"/>
                          </a:solidFill>
                        </a:defRPr>
                      </a:pPr>
                      <a:r>
                        <a:t>29 537</a:t>
                      </a:r>
                    </a:p>
                  </a:txBody>
                  <a:tcPr anchor="ctr"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25313A"/>
                          </a:solidFill>
                        </a:defRPr>
                      </a:pPr>
                      <a:r>
                        <a:t>100</a:t>
                      </a:r>
                    </a:p>
                  </a:txBody>
                  <a:tcPr anchor="ctr" marL="27432" marR="27432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18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2A42"/>
                </a:solidFill>
              </a:defRPr>
            </a:pPr>
            <a:r>
              <a:t>12.1-jadval: balans tuzilmasi — passivlar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14400"/>
            <a:ext cx="10789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2DA7AD"/>
                </a:solidFill>
              </a:defRPr>
            </a:pPr>
            <a:r>
              <a:t>12.3. To‘liq baholash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55664"/>
            <a:ext cx="11064240" cy="18288"/>
          </a:xfrm>
          <a:prstGeom prst="rect">
            <a:avLst/>
          </a:prstGeom>
          <a:solidFill>
            <a:srgbClr val="DB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19">
                <a:solidFill>
                  <a:srgbClr val="5F6C75"/>
                </a:solidFill>
              </a:defRPr>
            </a:pPr>
            <a:r>
              <a:t>A.N. Xoliqulov — “Turistik korxonalar faoliyati tahlili” | 12-mavzu | 21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88136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76272"/>
                <a:gridCol w="2176272"/>
                <a:gridCol w="2176272"/>
                <a:gridCol w="2176272"/>
                <a:gridCol w="2176272"/>
              </a:tblGrid>
              <a:tr h="762000">
                <a:tc>
                  <a:txBody>
                    <a:bodyPr/>
                    <a:lstStyle/>
                    <a:p>
                      <a:pPr algn="ctr">
                        <a:defRPr sz="1080" b="1">
                          <a:solidFill>
                            <a:srgbClr val="FFFFFF"/>
                          </a:solidFill>
                        </a:defRPr>
                      </a:pPr>
                      <a:r>
                        <a:t>Passivlar</a:t>
                      </a:r>
                    </a:p>
                  </a:txBody>
                  <a:tcPr anchor="ctr" marL="27432" marR="27432" marT="18288" marB="18288">
                    <a:solidFill>
                      <a:srgbClr val="122A4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 b="1">
                          <a:solidFill>
                            <a:srgbClr val="FFFFFF"/>
                          </a:solidFill>
                        </a:defRPr>
                      </a:pPr>
                      <a:r>
                        <a:t>Yil boshida</a:t>
                      </a:r>
                    </a:p>
                  </a:txBody>
                  <a:tcPr anchor="ctr" marL="27432" marR="27432" marT="18288" marB="18288">
                    <a:solidFill>
                      <a:srgbClr val="122A4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 b="1">
                          <a:solidFill>
                            <a:srgbClr val="FFFFFF"/>
                          </a:solidFill>
                        </a:defRPr>
                      </a:pPr>
                      <a:r>
                        <a:t>Ulushi %</a:t>
                      </a:r>
                    </a:p>
                  </a:txBody>
                  <a:tcPr anchor="ctr" marL="27432" marR="27432" marT="18288" marB="18288">
                    <a:solidFill>
                      <a:srgbClr val="122A4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 b="1">
                          <a:solidFill>
                            <a:srgbClr val="FFFFFF"/>
                          </a:solidFill>
                        </a:defRPr>
                      </a:pPr>
                      <a:r>
                        <a:t>Yil oxirida</a:t>
                      </a:r>
                    </a:p>
                  </a:txBody>
                  <a:tcPr anchor="ctr" marL="27432" marR="27432" marT="18288" marB="18288">
                    <a:solidFill>
                      <a:srgbClr val="122A4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 b="1">
                          <a:solidFill>
                            <a:srgbClr val="FFFFFF"/>
                          </a:solidFill>
                        </a:defRPr>
                      </a:pPr>
                      <a:r>
                        <a:t>Ulushi %</a:t>
                      </a:r>
                    </a:p>
                  </a:txBody>
                  <a:tcPr anchor="ctr" marL="27432" marR="27432" marT="18288" marB="18288">
                    <a:solidFill>
                      <a:srgbClr val="122A42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 algn="ctr">
                        <a:defRPr sz="1080" b="0">
                          <a:solidFill>
                            <a:srgbClr val="25313A"/>
                          </a:solidFill>
                        </a:defRPr>
                      </a:pPr>
                      <a:r>
                        <a:t>O‘z mablag‘lari</a:t>
                      </a:r>
                    </a:p>
                  </a:txBody>
                  <a:tcPr anchor="ctr" marL="27432" marR="27432" marT="18288" marB="18288">
                    <a:solidFill>
                      <a:srgbClr val="F2F7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 b="0">
                          <a:solidFill>
                            <a:srgbClr val="25313A"/>
                          </a:solidFill>
                        </a:defRPr>
                      </a:pPr>
                      <a:r>
                        <a:t>19 882</a:t>
                      </a:r>
                    </a:p>
                  </a:txBody>
                  <a:tcPr anchor="ctr" marL="27432" marR="27432" marT="18288" marB="18288">
                    <a:solidFill>
                      <a:srgbClr val="F2F7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 b="0">
                          <a:solidFill>
                            <a:srgbClr val="25313A"/>
                          </a:solidFill>
                        </a:defRPr>
                      </a:pPr>
                      <a:r>
                        <a:t>73,24</a:t>
                      </a:r>
                    </a:p>
                  </a:txBody>
                  <a:tcPr anchor="ctr" marL="27432" marR="27432" marT="18288" marB="18288">
                    <a:solidFill>
                      <a:srgbClr val="F2F7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 b="0">
                          <a:solidFill>
                            <a:srgbClr val="25313A"/>
                          </a:solidFill>
                        </a:defRPr>
                      </a:pPr>
                      <a:r>
                        <a:t>21 703</a:t>
                      </a:r>
                    </a:p>
                  </a:txBody>
                  <a:tcPr anchor="ctr" marL="27432" marR="27432" marT="18288" marB="18288">
                    <a:solidFill>
                      <a:srgbClr val="F2F7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 b="0">
                          <a:solidFill>
                            <a:srgbClr val="25313A"/>
                          </a:solidFill>
                        </a:defRPr>
                      </a:pPr>
                      <a:r>
                        <a:t>73,48</a:t>
                      </a:r>
                    </a:p>
                  </a:txBody>
                  <a:tcPr anchor="ctr" marL="27432" marR="27432" marT="18288" marB="18288">
                    <a:solidFill>
                      <a:srgbClr val="F2F7F8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 algn="ctr">
                        <a:defRPr sz="1080" b="0">
                          <a:solidFill>
                            <a:srgbClr val="25313A"/>
                          </a:solidFill>
                        </a:defRPr>
                      </a:pPr>
                      <a:r>
                        <a:t>Majburiyatlar</a:t>
                      </a:r>
                    </a:p>
                  </a:txBody>
                  <a:tcPr anchor="ctr"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 b="0">
                          <a:solidFill>
                            <a:srgbClr val="25313A"/>
                          </a:solidFill>
                        </a:defRPr>
                      </a:pPr>
                      <a:r>
                        <a:t>7 265</a:t>
                      </a:r>
                    </a:p>
                  </a:txBody>
                  <a:tcPr anchor="ctr"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 b="0">
                          <a:solidFill>
                            <a:srgbClr val="25313A"/>
                          </a:solidFill>
                        </a:defRPr>
                      </a:pPr>
                      <a:r>
                        <a:t>26,74</a:t>
                      </a:r>
                    </a:p>
                  </a:txBody>
                  <a:tcPr anchor="ctr"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 b="0">
                          <a:solidFill>
                            <a:srgbClr val="25313A"/>
                          </a:solidFill>
                        </a:defRPr>
                      </a:pPr>
                      <a:r>
                        <a:t>7 834</a:t>
                      </a:r>
                    </a:p>
                  </a:txBody>
                  <a:tcPr anchor="ctr"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 b="0">
                          <a:solidFill>
                            <a:srgbClr val="25313A"/>
                          </a:solidFill>
                        </a:defRPr>
                      </a:pPr>
                      <a:r>
                        <a:t>26,52</a:t>
                      </a:r>
                    </a:p>
                  </a:txBody>
                  <a:tcPr anchor="ctr" marL="27432" marR="27432" marT="18288" marB="18288"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 algn="ctr">
                        <a:defRPr sz="1080" b="0">
                          <a:solidFill>
                            <a:srgbClr val="25313A"/>
                          </a:solidFill>
                        </a:defRPr>
                      </a:pPr>
                      <a:r>
                        <a:t>Ustav kapitali</a:t>
                      </a:r>
                    </a:p>
                  </a:txBody>
                  <a:tcPr anchor="ctr" marL="27432" marR="27432" marT="18288" marB="18288">
                    <a:solidFill>
                      <a:srgbClr val="F2F7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 b="0">
                          <a:solidFill>
                            <a:srgbClr val="25313A"/>
                          </a:solidFill>
                        </a:defRPr>
                      </a:pPr>
                      <a:r>
                        <a:t>13 211</a:t>
                      </a:r>
                    </a:p>
                  </a:txBody>
                  <a:tcPr anchor="ctr" marL="27432" marR="27432" marT="18288" marB="18288">
                    <a:solidFill>
                      <a:srgbClr val="F2F7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 b="0">
                          <a:solidFill>
                            <a:srgbClr val="25313A"/>
                          </a:solidFill>
                        </a:defRPr>
                      </a:pPr>
                      <a:r>
                        <a:t>48,66</a:t>
                      </a:r>
                    </a:p>
                  </a:txBody>
                  <a:tcPr anchor="ctr" marL="27432" marR="27432" marT="18288" marB="18288">
                    <a:solidFill>
                      <a:srgbClr val="F2F7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 b="0">
                          <a:solidFill>
                            <a:srgbClr val="25313A"/>
                          </a:solidFill>
                        </a:defRPr>
                      </a:pPr>
                      <a:r>
                        <a:t>13 211</a:t>
                      </a:r>
                    </a:p>
                  </a:txBody>
                  <a:tcPr anchor="ctr" marL="27432" marR="27432" marT="18288" marB="18288">
                    <a:solidFill>
                      <a:srgbClr val="F2F7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 b="0">
                          <a:solidFill>
                            <a:srgbClr val="25313A"/>
                          </a:solidFill>
                        </a:defRPr>
                      </a:pPr>
                      <a:r>
                        <a:t>44,73</a:t>
                      </a:r>
                    </a:p>
                  </a:txBody>
                  <a:tcPr anchor="ctr" marL="27432" marR="27432" marT="18288" marB="18288">
                    <a:solidFill>
                      <a:srgbClr val="F2F7F8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 algn="ctr">
                        <a:defRPr sz="1080" b="0">
                          <a:solidFill>
                            <a:srgbClr val="25313A"/>
                          </a:solidFill>
                        </a:defRPr>
                      </a:pPr>
                      <a:r>
                        <a:t>Taqsimlanmagan foyda</a:t>
                      </a:r>
                    </a:p>
                  </a:txBody>
                  <a:tcPr anchor="ctr"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 b="0">
                          <a:solidFill>
                            <a:srgbClr val="25313A"/>
                          </a:solidFill>
                        </a:defRPr>
                      </a:pPr>
                      <a:r>
                        <a:t>1 362</a:t>
                      </a:r>
                    </a:p>
                  </a:txBody>
                  <a:tcPr anchor="ctr"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 b="0">
                          <a:solidFill>
                            <a:srgbClr val="25313A"/>
                          </a:solidFill>
                        </a:defRPr>
                      </a:pPr>
                      <a:r>
                        <a:t>5,02</a:t>
                      </a:r>
                    </a:p>
                  </a:txBody>
                  <a:tcPr anchor="ctr"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 b="0">
                          <a:solidFill>
                            <a:srgbClr val="25313A"/>
                          </a:solidFill>
                        </a:defRPr>
                      </a:pPr>
                      <a:r>
                        <a:t>3 459</a:t>
                      </a:r>
                    </a:p>
                  </a:txBody>
                  <a:tcPr anchor="ctr"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 b="0">
                          <a:solidFill>
                            <a:srgbClr val="25313A"/>
                          </a:solidFill>
                        </a:defRPr>
                      </a:pPr>
                      <a:r>
                        <a:t>11,71</a:t>
                      </a:r>
                    </a:p>
                  </a:txBody>
                  <a:tcPr anchor="ctr" marL="27432" marR="27432" marT="18288" marB="18288"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 algn="ctr">
                        <a:defRPr sz="1080" b="0">
                          <a:solidFill>
                            <a:srgbClr val="25313A"/>
                          </a:solidFill>
                        </a:defRPr>
                      </a:pPr>
                      <a:r>
                        <a:t>Jami passivlar</a:t>
                      </a:r>
                    </a:p>
                  </a:txBody>
                  <a:tcPr anchor="ctr" marL="27432" marR="27432" marT="18288" marB="18288">
                    <a:solidFill>
                      <a:srgbClr val="F2F7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 b="0">
                          <a:solidFill>
                            <a:srgbClr val="25313A"/>
                          </a:solidFill>
                        </a:defRPr>
                      </a:pPr>
                      <a:r>
                        <a:t>27 147</a:t>
                      </a:r>
                    </a:p>
                  </a:txBody>
                  <a:tcPr anchor="ctr" marL="27432" marR="27432" marT="18288" marB="18288">
                    <a:solidFill>
                      <a:srgbClr val="F2F7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 b="0">
                          <a:solidFill>
                            <a:srgbClr val="25313A"/>
                          </a:solidFill>
                        </a:defRPr>
                      </a:pPr>
                      <a:r>
                        <a:t>100</a:t>
                      </a:r>
                    </a:p>
                  </a:txBody>
                  <a:tcPr anchor="ctr" marL="27432" marR="27432" marT="18288" marB="18288">
                    <a:solidFill>
                      <a:srgbClr val="F2F7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 b="0">
                          <a:solidFill>
                            <a:srgbClr val="25313A"/>
                          </a:solidFill>
                        </a:defRPr>
                      </a:pPr>
                      <a:r>
                        <a:t>29 537</a:t>
                      </a:r>
                    </a:p>
                  </a:txBody>
                  <a:tcPr anchor="ctr" marL="27432" marR="27432" marT="18288" marB="18288">
                    <a:solidFill>
                      <a:srgbClr val="F2F7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 b="0">
                          <a:solidFill>
                            <a:srgbClr val="25313A"/>
                          </a:solidFill>
                        </a:defRPr>
                      </a:pPr>
                      <a:r>
                        <a:t>100</a:t>
                      </a:r>
                    </a:p>
                  </a:txBody>
                  <a:tcPr anchor="ctr" marL="27432" marR="27432" marT="18288" marB="18288">
                    <a:solidFill>
                      <a:srgbClr val="F2F7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18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2A42"/>
                </a:solidFill>
              </a:defRPr>
            </a:pPr>
            <a:r>
              <a:t>O‘z kapitali ulushi — 73,5%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14400"/>
            <a:ext cx="10789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2DA7AD"/>
                </a:solidFill>
              </a:defRPr>
            </a:pPr>
            <a:r>
              <a:t>12.3. To‘liq baholash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55664"/>
            <a:ext cx="11064240" cy="18288"/>
          </a:xfrm>
          <a:prstGeom prst="rect">
            <a:avLst/>
          </a:prstGeom>
          <a:solidFill>
            <a:srgbClr val="DB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19">
                <a:solidFill>
                  <a:srgbClr val="5F6C75"/>
                </a:solidFill>
              </a:defRPr>
            </a:pPr>
            <a:r>
              <a:t>A.N. Xoliqulov — “Turistik korxonalar faoliyati tahlili” | 12-mavzu | 22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04088" y="1783080"/>
            <a:ext cx="3474720" cy="2148840"/>
          </a:xfrm>
          <a:prstGeom prst="roundRect">
            <a:avLst/>
          </a:prstGeom>
          <a:solidFill>
            <a:srgbClr val="F2F7F8"/>
          </a:solidFill>
          <a:ln>
            <a:solidFill>
              <a:srgbClr val="DBE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3816" y="1993392"/>
            <a:ext cx="3255264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20" b="1">
                <a:solidFill>
                  <a:srgbClr val="5F6C75"/>
                </a:solidFill>
              </a:defRPr>
            </a:pPr>
            <a:r>
              <a:t>O‘z mablag‘lari ulushi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6" y="2670048"/>
            <a:ext cx="3255264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122A42"/>
                </a:solidFill>
              </a:defRPr>
            </a:pPr>
            <a:r>
              <a:t>73,5%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160520"/>
            <a:ext cx="3328416" cy="9875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40">
                <a:solidFill>
                  <a:srgbClr val="25313A"/>
                </a:solidFill>
              </a:defRPr>
            </a:pPr>
            <a:r>
              <a:t>Manbalarda o‘z mablag‘lari ustun.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61688" y="1783080"/>
            <a:ext cx="3474720" cy="2148840"/>
          </a:xfrm>
          <a:prstGeom prst="roundRect">
            <a:avLst/>
          </a:prstGeom>
          <a:solidFill>
            <a:srgbClr val="F2F7F8"/>
          </a:solidFill>
          <a:ln>
            <a:solidFill>
              <a:srgbClr val="DBE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71416" y="1993392"/>
            <a:ext cx="3255264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20" b="1">
                <a:solidFill>
                  <a:srgbClr val="5F6C75"/>
                </a:solidFill>
              </a:defRPr>
            </a:pPr>
            <a:r>
              <a:t>Majburiyatlar ulushi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71416" y="2670048"/>
            <a:ext cx="3255264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122A42"/>
                </a:solidFill>
              </a:defRPr>
            </a:pPr>
            <a:r>
              <a:t>26,5%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34840" y="4160520"/>
            <a:ext cx="3328416" cy="9875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40">
                <a:solidFill>
                  <a:srgbClr val="25313A"/>
                </a:solidFill>
              </a:defRPr>
            </a:pPr>
            <a:r>
              <a:t>Qarz manbalari nisbatan past.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19288" y="1783080"/>
            <a:ext cx="3474720" cy="2148840"/>
          </a:xfrm>
          <a:prstGeom prst="roundRect">
            <a:avLst/>
          </a:prstGeom>
          <a:solidFill>
            <a:srgbClr val="F2F7F8"/>
          </a:solidFill>
          <a:ln>
            <a:solidFill>
              <a:srgbClr val="DBE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29015" y="1993392"/>
            <a:ext cx="3255264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20" b="1">
                <a:solidFill>
                  <a:srgbClr val="5F6C75"/>
                </a:solidFill>
              </a:defRPr>
            </a:pPr>
            <a:r>
              <a:t>O‘zgarish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29015" y="2670048"/>
            <a:ext cx="3255264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122A42"/>
                </a:solidFill>
              </a:defRPr>
            </a:pPr>
            <a:r>
              <a:t>+0,3 p.p.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92440" y="4160520"/>
            <a:ext cx="3328416" cy="9875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40">
                <a:solidFill>
                  <a:srgbClr val="25313A"/>
                </a:solidFill>
              </a:defRPr>
            </a:pPr>
            <a:r>
              <a:t>Muallif bunday tuzilmani moliyaviy barqarorlik belgisi sifatida baholaydi.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18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2A42"/>
                </a:solidFill>
              </a:defRPr>
            </a:pPr>
            <a:r>
              <a:t>Aylanma aktivlar ulushi oshgan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14400"/>
            <a:ext cx="10789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2DA7AD"/>
                </a:solidFill>
              </a:defRPr>
            </a:pPr>
            <a:r>
              <a:t>12.3. To‘liq baholash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55664"/>
            <a:ext cx="11064240" cy="18288"/>
          </a:xfrm>
          <a:prstGeom prst="rect">
            <a:avLst/>
          </a:prstGeom>
          <a:solidFill>
            <a:srgbClr val="DB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19">
                <a:solidFill>
                  <a:srgbClr val="5F6C75"/>
                </a:solidFill>
              </a:defRPr>
            </a:pPr>
            <a:r>
              <a:t>A.N. Xoliqulov — “Turistik korxonalar faoliyati tahlili” | 12-mavzu | 23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04088" y="1783080"/>
            <a:ext cx="3474720" cy="2148840"/>
          </a:xfrm>
          <a:prstGeom prst="roundRect">
            <a:avLst/>
          </a:prstGeom>
          <a:solidFill>
            <a:srgbClr val="F2F7F8"/>
          </a:solidFill>
          <a:ln>
            <a:solidFill>
              <a:srgbClr val="DBE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3816" y="1993392"/>
            <a:ext cx="3255264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20" b="1">
                <a:solidFill>
                  <a:srgbClr val="5F6C75"/>
                </a:solidFill>
              </a:defRPr>
            </a:pPr>
            <a:r>
              <a:t>Yil boshida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6" y="2670048"/>
            <a:ext cx="3255264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122A42"/>
                </a:solidFill>
              </a:defRPr>
            </a:pPr>
            <a:r>
              <a:t>52,0%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160520"/>
            <a:ext cx="3328416" cy="9875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40">
                <a:solidFill>
                  <a:srgbClr val="25313A"/>
                </a:solidFill>
              </a:defRPr>
            </a:pPr>
            <a:r>
              <a:t>Aylanma aktivlar ulushi.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61688" y="1783080"/>
            <a:ext cx="3474720" cy="2148840"/>
          </a:xfrm>
          <a:prstGeom prst="roundRect">
            <a:avLst/>
          </a:prstGeom>
          <a:solidFill>
            <a:srgbClr val="F2F7F8"/>
          </a:solidFill>
          <a:ln>
            <a:solidFill>
              <a:srgbClr val="DBE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71416" y="1993392"/>
            <a:ext cx="3255264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20" b="1">
                <a:solidFill>
                  <a:srgbClr val="5F6C75"/>
                </a:solidFill>
              </a:defRPr>
            </a:pPr>
            <a:r>
              <a:t>Yil oxirida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71416" y="2670048"/>
            <a:ext cx="3255264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122A42"/>
                </a:solidFill>
              </a:defRPr>
            </a:pPr>
            <a:r>
              <a:t>56,1%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34840" y="4160520"/>
            <a:ext cx="3328416" cy="9875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40">
                <a:solidFill>
                  <a:srgbClr val="25313A"/>
                </a:solidFill>
              </a:defRPr>
            </a:pPr>
            <a:r>
              <a:t>Hisobot davri oxiri.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19288" y="1783080"/>
            <a:ext cx="3474720" cy="2148840"/>
          </a:xfrm>
          <a:prstGeom prst="roundRect">
            <a:avLst/>
          </a:prstGeom>
          <a:solidFill>
            <a:srgbClr val="F2F7F8"/>
          </a:solidFill>
          <a:ln>
            <a:solidFill>
              <a:srgbClr val="DBE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29015" y="1993392"/>
            <a:ext cx="3255264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20" b="1">
                <a:solidFill>
                  <a:srgbClr val="5F6C75"/>
                </a:solidFill>
              </a:defRPr>
            </a:pPr>
            <a:r>
              <a:t>O‘sish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29015" y="2670048"/>
            <a:ext cx="3255264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122A42"/>
                </a:solidFill>
              </a:defRPr>
            </a:pPr>
            <a:r>
              <a:t>+4,1 p.p.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92440" y="4160520"/>
            <a:ext cx="3328416" cy="9875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40">
                <a:solidFill>
                  <a:srgbClr val="25313A"/>
                </a:solidFill>
              </a:defRPr>
            </a:pPr>
            <a:r>
              <a:t>Aktivlar mobil qismi oshgan.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18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2A42"/>
                </a:solidFill>
              </a:defRPr>
            </a:pPr>
            <a:r>
              <a:t>Ammo o‘sishning sifati muhim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14400"/>
            <a:ext cx="10789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2DA7AD"/>
                </a:solidFill>
              </a:defRPr>
            </a:pPr>
            <a:r>
              <a:t>12.3. To‘liq baholash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55664"/>
            <a:ext cx="11064240" cy="18288"/>
          </a:xfrm>
          <a:prstGeom prst="rect">
            <a:avLst/>
          </a:prstGeom>
          <a:solidFill>
            <a:srgbClr val="DB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19">
                <a:solidFill>
                  <a:srgbClr val="5F6C75"/>
                </a:solidFill>
              </a:defRPr>
            </a:pPr>
            <a:r>
              <a:t>A.N. Xoliqulov — “Turistik korxonalar faoliyati tahlili” | 12-mavzu | 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25880"/>
            <a:ext cx="1069848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900">
                <a:solidFill>
                  <a:srgbClr val="25313A"/>
                </a:solidFill>
              </a:defRPr>
            </a:pPr>
            <a:r>
              <a:t>Aylanma aktivlar ulushi oshishi har doim ham ijobiy emas.</a:t>
            </a:r>
          </a:p>
          <a:p>
            <a:pPr>
              <a:spcAft>
                <a:spcPts val="600"/>
              </a:spcAft>
              <a:defRPr sz="1900">
                <a:solidFill>
                  <a:srgbClr val="25313A"/>
                </a:solidFill>
              </a:defRPr>
            </a:pPr>
            <a:r>
              <a:t>“TURSERVIS”da o‘sishning sezilarli qismi tayyor mahsulot va debitorlik qarzi hisobiga yuz bergan.</a:t>
            </a:r>
          </a:p>
          <a:p>
            <a:pPr>
              <a:spcAft>
                <a:spcPts val="600"/>
              </a:spcAft>
              <a:defRPr sz="1900">
                <a:solidFill>
                  <a:srgbClr val="25313A"/>
                </a:solidFill>
              </a:defRPr>
            </a:pPr>
            <a:r>
              <a:t>Bunday aktivlar tez pulga aylanmasa, likvidlik yomonlashadi.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18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2A42"/>
                </a:solidFill>
              </a:defRPr>
            </a:pPr>
            <a:r>
              <a:t>Mulk holatini ifodalovchi asosiy ko‘rsatkichlar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14400"/>
            <a:ext cx="10789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2DA7AD"/>
                </a:solidFill>
              </a:defRPr>
            </a:pPr>
            <a:r>
              <a:t>12.3. To‘liq baholash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55664"/>
            <a:ext cx="11064240" cy="18288"/>
          </a:xfrm>
          <a:prstGeom prst="rect">
            <a:avLst/>
          </a:prstGeom>
          <a:solidFill>
            <a:srgbClr val="DB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19">
                <a:solidFill>
                  <a:srgbClr val="5F6C75"/>
                </a:solidFill>
              </a:defRPr>
            </a:pPr>
            <a:r>
              <a:t>A.N. Xoliqulov — “Turistik korxonalar faoliyati tahlili” | 12-mavzu | 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25880"/>
            <a:ext cx="1069848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50">
                <a:solidFill>
                  <a:srgbClr val="25313A"/>
                </a:solidFill>
              </a:defRPr>
            </a:pPr>
            <a:r>
              <a:t>Sarmoyaning umumiy hajmi</a:t>
            </a:r>
          </a:p>
          <a:p>
            <a:pPr>
              <a:spcAft>
                <a:spcPts val="600"/>
              </a:spcAft>
              <a:defRPr sz="1650">
                <a:solidFill>
                  <a:srgbClr val="25313A"/>
                </a:solidFill>
              </a:defRPr>
            </a:pPr>
            <a:r>
              <a:t>O‘z mablag‘lari (kapitali)</a:t>
            </a:r>
          </a:p>
          <a:p>
            <a:pPr>
              <a:spcAft>
                <a:spcPts val="600"/>
              </a:spcAft>
              <a:defRPr sz="1650">
                <a:solidFill>
                  <a:srgbClr val="25313A"/>
                </a:solidFill>
              </a:defRPr>
            </a:pPr>
            <a:r>
              <a:t>Aylanmadagi o‘z mablag‘lari</a:t>
            </a:r>
          </a:p>
          <a:p>
            <a:pPr>
              <a:spcAft>
                <a:spcPts val="600"/>
              </a:spcAft>
              <a:defRPr sz="1650">
                <a:solidFill>
                  <a:srgbClr val="25313A"/>
                </a:solidFill>
              </a:defRPr>
            </a:pPr>
            <a:r>
              <a:t>Harakatdagi sarmoya</a:t>
            </a:r>
          </a:p>
          <a:p>
            <a:pPr>
              <a:spcAft>
                <a:spcPts val="600"/>
              </a:spcAft>
              <a:defRPr sz="1650">
                <a:solidFill>
                  <a:srgbClr val="25313A"/>
                </a:solidFill>
              </a:defRPr>
            </a:pPr>
            <a:r>
              <a:t>Jalb qilingan sarmoya</a:t>
            </a:r>
          </a:p>
          <a:p>
            <a:pPr>
              <a:spcAft>
                <a:spcPts val="600"/>
              </a:spcAft>
              <a:defRPr sz="1650">
                <a:solidFill>
                  <a:srgbClr val="25313A"/>
                </a:solidFill>
              </a:defRPr>
            </a:pPr>
            <a:r>
              <a:t>Joriy aktivlar</a:t>
            </a:r>
          </a:p>
          <a:p>
            <a:pPr>
              <a:spcAft>
                <a:spcPts val="600"/>
              </a:spcAft>
              <a:defRPr sz="1650">
                <a:solidFill>
                  <a:srgbClr val="25313A"/>
                </a:solidFill>
              </a:defRPr>
            </a:pPr>
            <a:r>
              <a:t>Joriy va uzoq muddatli majburiyatlar</a:t>
            </a:r>
          </a:p>
          <a:p>
            <a:pPr>
              <a:spcAft>
                <a:spcPts val="600"/>
              </a:spcAft>
              <a:defRPr sz="1650">
                <a:solidFill>
                  <a:srgbClr val="25313A"/>
                </a:solidFill>
              </a:defRPr>
            </a:pPr>
            <a:r>
              <a:t>Uzoq muddatli aktivlar</a:t>
            </a:r>
          </a:p>
          <a:p>
            <a:pPr>
              <a:spcAft>
                <a:spcPts val="600"/>
              </a:spcAft>
              <a:defRPr sz="1650">
                <a:solidFill>
                  <a:srgbClr val="25313A"/>
                </a:solidFill>
              </a:defRPr>
            </a:pPr>
            <a:r>
              <a:t>Tez likvidli aktivlar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18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2A42"/>
                </a:solidFill>
              </a:defRPr>
            </a:pPr>
            <a:r>
              <a:t>Sarmoya va o‘z kapitali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14400"/>
            <a:ext cx="10789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2DA7AD"/>
                </a:solidFill>
              </a:defRPr>
            </a:pPr>
            <a:r>
              <a:t>12.3. Formulalar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55664"/>
            <a:ext cx="11064240" cy="18288"/>
          </a:xfrm>
          <a:prstGeom prst="rect">
            <a:avLst/>
          </a:prstGeom>
          <a:solidFill>
            <a:srgbClr val="DB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19">
                <a:solidFill>
                  <a:srgbClr val="5F6C75"/>
                </a:solidFill>
              </a:defRPr>
            </a:pPr>
            <a:r>
              <a:t>A.N. Xoliqulov — “Turistik korxonalar faoliyati tahlili” | 12-mavzu | 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417320"/>
            <a:ext cx="5257800" cy="4526280"/>
          </a:xfrm>
          <a:prstGeom prst="roundRect">
            <a:avLst/>
          </a:prstGeom>
          <a:solidFill>
            <a:srgbClr val="F2F7F8"/>
          </a:solidFill>
          <a:ln>
            <a:solidFill>
              <a:srgbClr val="DBE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417320"/>
            <a:ext cx="5257800" cy="566928"/>
          </a:xfrm>
          <a:prstGeom prst="rect">
            <a:avLst/>
          </a:prstGeom>
          <a:solidFill>
            <a:srgbClr val="187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" y="1536192"/>
            <a:ext cx="4800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Jami sarmoya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2121408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60">
                <a:solidFill>
                  <a:srgbClr val="25313A"/>
                </a:solidFill>
              </a:defRPr>
            </a:pPr>
            <a:r>
              <a:t>Korxona ixtiyoridagi barcha xo‘jalik mablag‘lari</a:t>
            </a:r>
          </a:p>
          <a:p>
            <a:pPr>
              <a:spcAft>
                <a:spcPts val="600"/>
              </a:spcAft>
              <a:defRPr sz="1660">
                <a:solidFill>
                  <a:srgbClr val="25313A"/>
                </a:solidFill>
              </a:defRPr>
            </a:pPr>
            <a:r>
              <a:t>Balans-netto yakuniga teng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417320"/>
            <a:ext cx="5257800" cy="4526280"/>
          </a:xfrm>
          <a:prstGeom prst="roundRect">
            <a:avLst/>
          </a:prstGeom>
          <a:solidFill>
            <a:srgbClr val="F2F7F8"/>
          </a:solidFill>
          <a:ln>
            <a:solidFill>
              <a:srgbClr val="DBE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63640" y="1417320"/>
            <a:ext cx="5257800" cy="566928"/>
          </a:xfrm>
          <a:prstGeom prst="rect">
            <a:avLst/>
          </a:prstGeom>
          <a:solidFill>
            <a:srgbClr val="12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73952" y="1536192"/>
            <a:ext cx="4800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O‘z kapitali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83096" y="2121408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60">
                <a:solidFill>
                  <a:srgbClr val="25313A"/>
                </a:solidFill>
              </a:defRPr>
            </a:pPr>
            <a:r>
              <a:t>Balans passivining o‘z mablag‘lari bo‘limi</a:t>
            </a:r>
          </a:p>
          <a:p>
            <a:pPr>
              <a:spcAft>
                <a:spcPts val="600"/>
              </a:spcAft>
              <a:defRPr sz="1660">
                <a:solidFill>
                  <a:srgbClr val="25313A"/>
                </a:solidFill>
              </a:defRPr>
            </a:pPr>
            <a:r>
              <a:t>Korxona mulkdorlariga tegishli manbalar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18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2A42"/>
                </a:solidFill>
              </a:defRPr>
            </a:pPr>
            <a:r>
              <a:t>Aylanmadagi o‘z mablag‘lari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14400"/>
            <a:ext cx="10789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2DA7AD"/>
                </a:solidFill>
              </a:defRPr>
            </a:pPr>
            <a:r>
              <a:t>12.3. Formulalar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55664"/>
            <a:ext cx="11064240" cy="18288"/>
          </a:xfrm>
          <a:prstGeom prst="rect">
            <a:avLst/>
          </a:prstGeom>
          <a:solidFill>
            <a:srgbClr val="DB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19">
                <a:solidFill>
                  <a:srgbClr val="5F6C75"/>
                </a:solidFill>
              </a:defRPr>
            </a:pPr>
            <a:r>
              <a:t>A.N. Xoliqulov — “Turistik korxonalar faoliyati tahlili” | 12-mavzu | 27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1508760"/>
            <a:ext cx="10424160" cy="1920240"/>
          </a:xfrm>
          <a:prstGeom prst="roundRect">
            <a:avLst/>
          </a:prstGeom>
          <a:solidFill>
            <a:srgbClr val="F2F7F8"/>
          </a:solidFill>
          <a:ln>
            <a:solidFill>
              <a:srgbClr val="DBE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856231"/>
            <a:ext cx="9966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122A42"/>
                </a:solidFill>
              </a:defRPr>
            </a:pPr>
            <a:r>
              <a:t>O‘AM = O‘z kapitali + Uzoq muddatli majburiyatlar − Uzoq muddatli aktivlar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840480"/>
            <a:ext cx="1024128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87A80"/>
                </a:solidFill>
              </a:defRPr>
            </a:pPr>
            <a:r>
              <a:t>Formula</a:t>
            </a:r>
          </a:p>
          <a:p>
            <a:pPr>
              <a:defRPr sz="1700">
                <a:solidFill>
                  <a:srgbClr val="25313A"/>
                </a:solidFill>
              </a:defRPr>
            </a:pPr>
            <a:r>
              <a:t>Shuningdek, O‘AM = Joriy aktivlar − Joriy majburiyatlar shaklida ham aniqlanishi mumkin.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18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2A42"/>
                </a:solidFill>
              </a:defRPr>
            </a:pPr>
            <a:r>
              <a:t>Harakatdagi sarmoya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14400"/>
            <a:ext cx="10789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2DA7AD"/>
                </a:solidFill>
              </a:defRPr>
            </a:pPr>
            <a:r>
              <a:t>12.3. Formulalar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55664"/>
            <a:ext cx="11064240" cy="18288"/>
          </a:xfrm>
          <a:prstGeom prst="rect">
            <a:avLst/>
          </a:prstGeom>
          <a:solidFill>
            <a:srgbClr val="DB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19">
                <a:solidFill>
                  <a:srgbClr val="5F6C75"/>
                </a:solidFill>
              </a:defRPr>
            </a:pPr>
            <a:r>
              <a:t>A.N. Xoliqulov — “Turistik korxonalar faoliyati tahlili” | 12-mavzu | 28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1508760"/>
            <a:ext cx="10424160" cy="1920240"/>
          </a:xfrm>
          <a:prstGeom prst="roundRect">
            <a:avLst/>
          </a:prstGeom>
          <a:solidFill>
            <a:srgbClr val="F2F7F8"/>
          </a:solidFill>
          <a:ln>
            <a:solidFill>
              <a:srgbClr val="DBE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856231"/>
            <a:ext cx="9966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122A42"/>
                </a:solidFill>
              </a:defRPr>
            </a:pPr>
            <a:r>
              <a:t>HS = O‘AM − Muddati o‘tgan debitorlik qarzi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840480"/>
            <a:ext cx="1024128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87A80"/>
                </a:solidFill>
              </a:defRPr>
            </a:pPr>
            <a:r>
              <a:t>Formula</a:t>
            </a:r>
          </a:p>
          <a:p>
            <a:pPr>
              <a:defRPr sz="1700">
                <a:solidFill>
                  <a:srgbClr val="25313A"/>
                </a:solidFill>
              </a:defRPr>
            </a:pPr>
            <a:r>
              <a:t>Muallif harakatdagi sarmoyani amalda aylanmada qatnashayotgan o‘z aylanma mablag‘lari sifatida izohlaydi.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18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2A42"/>
                </a:solidFill>
              </a:defRPr>
            </a:pPr>
            <a:r>
              <a:t>Jalb qilingan sarmoya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14400"/>
            <a:ext cx="10789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2DA7AD"/>
                </a:solidFill>
              </a:defRPr>
            </a:pPr>
            <a:r>
              <a:t>12.3. Formulalar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55664"/>
            <a:ext cx="11064240" cy="18288"/>
          </a:xfrm>
          <a:prstGeom prst="rect">
            <a:avLst/>
          </a:prstGeom>
          <a:solidFill>
            <a:srgbClr val="DB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19">
                <a:solidFill>
                  <a:srgbClr val="5F6C75"/>
                </a:solidFill>
              </a:defRPr>
            </a:pPr>
            <a:r>
              <a:t>A.N. Xoliqulov — “Turistik korxonalar faoliyati tahlili” | 12-mavzu | 29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1508760"/>
            <a:ext cx="10424160" cy="1920240"/>
          </a:xfrm>
          <a:prstGeom prst="roundRect">
            <a:avLst/>
          </a:prstGeom>
          <a:solidFill>
            <a:srgbClr val="F2F7F8"/>
          </a:solidFill>
          <a:ln>
            <a:solidFill>
              <a:srgbClr val="DBE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856231"/>
            <a:ext cx="9966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122A42"/>
                </a:solidFill>
              </a:defRPr>
            </a:pPr>
            <a:r>
              <a:t>JS = Uzoq muddatli majburiyatlar + Joriy majburiyatlar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840480"/>
            <a:ext cx="1024128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87A80"/>
                </a:solidFill>
              </a:defRPr>
            </a:pPr>
            <a:r>
              <a:t>Formula</a:t>
            </a:r>
          </a:p>
          <a:p>
            <a:pPr>
              <a:defRPr sz="1700">
                <a:solidFill>
                  <a:srgbClr val="25313A"/>
                </a:solidFill>
              </a:defRPr>
            </a:pPr>
            <a:r>
              <a:t>Bu ko‘rsatkich korxonaning tashqi manbalardan shakllangan jami qarz mablag‘larini ko‘rsatadi.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18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2A42"/>
                </a:solidFill>
              </a:defRPr>
            </a:pPr>
            <a:r>
              <a:t>Joriy aktivlar va joriy majburiyatlar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14400"/>
            <a:ext cx="10789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2DA7AD"/>
                </a:solidFill>
              </a:defRPr>
            </a:pPr>
            <a:r>
              <a:t>12.3. Formulalar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55664"/>
            <a:ext cx="11064240" cy="18288"/>
          </a:xfrm>
          <a:prstGeom prst="rect">
            <a:avLst/>
          </a:prstGeom>
          <a:solidFill>
            <a:srgbClr val="DB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19">
                <a:solidFill>
                  <a:srgbClr val="5F6C75"/>
                </a:solidFill>
              </a:defRPr>
            </a:pPr>
            <a:r>
              <a:t>A.N. Xoliqulov — “Turistik korxonalar faoliyati tahlili” | 12-mavzu | 30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417320"/>
            <a:ext cx="5257800" cy="4526280"/>
          </a:xfrm>
          <a:prstGeom prst="roundRect">
            <a:avLst/>
          </a:prstGeom>
          <a:solidFill>
            <a:srgbClr val="F2F7F8"/>
          </a:solidFill>
          <a:ln>
            <a:solidFill>
              <a:srgbClr val="DBE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417320"/>
            <a:ext cx="5257800" cy="566928"/>
          </a:xfrm>
          <a:prstGeom prst="rect">
            <a:avLst/>
          </a:prstGeom>
          <a:solidFill>
            <a:srgbClr val="187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" y="1536192"/>
            <a:ext cx="4800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Joriy aktivlar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2121408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60">
                <a:solidFill>
                  <a:srgbClr val="25313A"/>
                </a:solidFill>
              </a:defRPr>
            </a:pPr>
            <a:r>
              <a:t>Zaxiralar va xarajatlar</a:t>
            </a:r>
          </a:p>
          <a:p>
            <a:pPr>
              <a:spcAft>
                <a:spcPts val="600"/>
              </a:spcAft>
              <a:defRPr sz="1660">
                <a:solidFill>
                  <a:srgbClr val="25313A"/>
                </a:solidFill>
              </a:defRPr>
            </a:pPr>
            <a:r>
              <a:t>Pul mablag‘lari</a:t>
            </a:r>
          </a:p>
          <a:p>
            <a:pPr>
              <a:spcAft>
                <a:spcPts val="600"/>
              </a:spcAft>
              <a:defRPr sz="1660">
                <a:solidFill>
                  <a:srgbClr val="25313A"/>
                </a:solidFill>
              </a:defRPr>
            </a:pPr>
            <a:r>
              <a:t>Debitorlik qarzlari</a:t>
            </a:r>
          </a:p>
          <a:p>
            <a:pPr>
              <a:spcAft>
                <a:spcPts val="600"/>
              </a:spcAft>
              <a:defRPr sz="1660">
                <a:solidFill>
                  <a:srgbClr val="25313A"/>
                </a:solidFill>
              </a:defRPr>
            </a:pPr>
            <a:r>
              <a:t>Balans aktivining joriy qismi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417320"/>
            <a:ext cx="5257800" cy="4526280"/>
          </a:xfrm>
          <a:prstGeom prst="roundRect">
            <a:avLst/>
          </a:prstGeom>
          <a:solidFill>
            <a:srgbClr val="F2F7F8"/>
          </a:solidFill>
          <a:ln>
            <a:solidFill>
              <a:srgbClr val="DBE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63640" y="1417320"/>
            <a:ext cx="5257800" cy="566928"/>
          </a:xfrm>
          <a:prstGeom prst="rect">
            <a:avLst/>
          </a:prstGeom>
          <a:solidFill>
            <a:srgbClr val="12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73952" y="1536192"/>
            <a:ext cx="4800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Joriy majburiyatlar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83096" y="2121408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60">
                <a:solidFill>
                  <a:srgbClr val="25313A"/>
                </a:solidFill>
              </a:defRPr>
            </a:pPr>
            <a:r>
              <a:t>Bir yil ichida to‘lanishi lozim bo‘lgan qarzlar</a:t>
            </a:r>
          </a:p>
          <a:p>
            <a:pPr>
              <a:spcAft>
                <a:spcPts val="600"/>
              </a:spcAft>
              <a:defRPr sz="1660">
                <a:solidFill>
                  <a:srgbClr val="25313A"/>
                </a:solidFill>
              </a:defRPr>
            </a:pPr>
            <a:r>
              <a:t>Qisqa muddatli kreditlar</a:t>
            </a:r>
          </a:p>
          <a:p>
            <a:pPr>
              <a:spcAft>
                <a:spcPts val="600"/>
              </a:spcAft>
              <a:defRPr sz="1660">
                <a:solidFill>
                  <a:srgbClr val="25313A"/>
                </a:solidFill>
              </a:defRPr>
            </a:pPr>
            <a:r>
              <a:t>Olingan bo‘naklar</a:t>
            </a:r>
          </a:p>
          <a:p>
            <a:pPr>
              <a:spcAft>
                <a:spcPts val="600"/>
              </a:spcAft>
              <a:defRPr sz="1660">
                <a:solidFill>
                  <a:srgbClr val="25313A"/>
                </a:solidFill>
              </a:defRPr>
            </a:pPr>
            <a:r>
              <a:t>Boshqa qisqa muddatli majburiyatlar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18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2A42"/>
                </a:solidFill>
              </a:defRPr>
            </a:pPr>
            <a:r>
              <a:t>Tez likvidli aktivlar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14400"/>
            <a:ext cx="10789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2DA7AD"/>
                </a:solidFill>
              </a:defRPr>
            </a:pPr>
            <a:r>
              <a:t>12.3. Formulalar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55664"/>
            <a:ext cx="11064240" cy="18288"/>
          </a:xfrm>
          <a:prstGeom prst="rect">
            <a:avLst/>
          </a:prstGeom>
          <a:solidFill>
            <a:srgbClr val="DB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19">
                <a:solidFill>
                  <a:srgbClr val="5F6C75"/>
                </a:solidFill>
              </a:defRPr>
            </a:pPr>
            <a:r>
              <a:t>A.N. Xoliqulov — “Turistik korxonalar faoliyati tahlili” | 12-mavzu | 31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1508760"/>
            <a:ext cx="10424160" cy="1920240"/>
          </a:xfrm>
          <a:prstGeom prst="roundRect">
            <a:avLst/>
          </a:prstGeom>
          <a:solidFill>
            <a:srgbClr val="F2F7F8"/>
          </a:solidFill>
          <a:ln>
            <a:solidFill>
              <a:srgbClr val="DBE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856231"/>
            <a:ext cx="9966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122A42"/>
                </a:solidFill>
              </a:defRPr>
            </a:pPr>
            <a:r>
              <a:t>TLA = Pul mablag‘lari + (Debitorlik qarzi − Muddati o‘tgan qarz)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840480"/>
            <a:ext cx="1024128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87A80"/>
                </a:solidFill>
              </a:defRPr>
            </a:pPr>
            <a:r>
              <a:t>Formula</a:t>
            </a:r>
          </a:p>
          <a:p>
            <a:pPr>
              <a:defRPr sz="1700">
                <a:solidFill>
                  <a:srgbClr val="25313A"/>
                </a:solidFill>
              </a:defRPr>
            </a:pPr>
            <a:r>
              <a:t>Yaqin vaqt ichida joriy majburiyatlarni qoplash uchun ishlatilishi mumkin bo‘lgan aktivlar.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18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2A42"/>
                </a:solidFill>
              </a:defRPr>
            </a:pPr>
            <a:r>
              <a:t>12.2-jadval: mulkiy holatning asosiy natijalari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14400"/>
            <a:ext cx="10789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2DA7AD"/>
                </a:solidFill>
              </a:defRPr>
            </a:pPr>
            <a:r>
              <a:t>12.3. Amaliy tahlil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55664"/>
            <a:ext cx="11064240" cy="18288"/>
          </a:xfrm>
          <a:prstGeom prst="rect">
            <a:avLst/>
          </a:prstGeom>
          <a:solidFill>
            <a:srgbClr val="DB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19">
                <a:solidFill>
                  <a:srgbClr val="5F6C75"/>
                </a:solidFill>
              </a:defRPr>
            </a:pPr>
            <a:r>
              <a:t>A.N. Xoliqulov — “Turistik korxonalar faoliyati tahlili” | 12-mavzu | 32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325880"/>
          <a:ext cx="11064240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66060"/>
                <a:gridCol w="2766060"/>
                <a:gridCol w="2766060"/>
                <a:gridCol w="2766060"/>
              </a:tblGrid>
              <a:tr h="666205">
                <a:tc>
                  <a:txBody>
                    <a:bodyPr/>
                    <a:lstStyle/>
                    <a:p>
                      <a:pPr algn="ctr">
                        <a:defRPr sz="1080" b="1">
                          <a:solidFill>
                            <a:srgbClr val="FFFFFF"/>
                          </a:solidFill>
                        </a:defRPr>
                      </a:pPr>
                      <a:r>
                        <a:t>Ko‘rsatkich</a:t>
                      </a:r>
                    </a:p>
                  </a:txBody>
                  <a:tcPr anchor="ctr" marL="27432" marR="27432" marT="18288" marB="18288">
                    <a:solidFill>
                      <a:srgbClr val="122A4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 b="1">
                          <a:solidFill>
                            <a:srgbClr val="FFFFFF"/>
                          </a:solidFill>
                        </a:defRPr>
                      </a:pPr>
                      <a:r>
                        <a:t>Yil boshida</a:t>
                      </a:r>
                    </a:p>
                  </a:txBody>
                  <a:tcPr anchor="ctr" marL="27432" marR="27432" marT="18288" marB="18288">
                    <a:solidFill>
                      <a:srgbClr val="122A4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 b="1">
                          <a:solidFill>
                            <a:srgbClr val="FFFFFF"/>
                          </a:solidFill>
                        </a:defRPr>
                      </a:pPr>
                      <a:r>
                        <a:t>Yil oxirida</a:t>
                      </a:r>
                    </a:p>
                  </a:txBody>
                  <a:tcPr anchor="ctr" marL="27432" marR="27432" marT="18288" marB="18288">
                    <a:solidFill>
                      <a:srgbClr val="122A4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 b="1">
                          <a:solidFill>
                            <a:srgbClr val="FFFFFF"/>
                          </a:solidFill>
                        </a:defRPr>
                      </a:pPr>
                      <a:r>
                        <a:t>Farq</a:t>
                      </a:r>
                    </a:p>
                  </a:txBody>
                  <a:tcPr anchor="ctr" marL="27432" marR="27432" marT="18288" marB="18288">
                    <a:solidFill>
                      <a:srgbClr val="122A42"/>
                    </a:solidFill>
                  </a:tcPr>
                </a:tc>
              </a:tr>
              <a:tr h="666205">
                <a:tc>
                  <a:txBody>
                    <a:bodyPr/>
                    <a:lstStyle/>
                    <a:p>
                      <a:pPr algn="ctr">
                        <a:defRPr sz="1080" b="0">
                          <a:solidFill>
                            <a:srgbClr val="25313A"/>
                          </a:solidFill>
                        </a:defRPr>
                      </a:pPr>
                      <a:r>
                        <a:t>O‘z kapitali</a:t>
                      </a:r>
                    </a:p>
                  </a:txBody>
                  <a:tcPr anchor="ctr" marL="27432" marR="27432" marT="18288" marB="18288">
                    <a:solidFill>
                      <a:srgbClr val="F2F7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 b="0">
                          <a:solidFill>
                            <a:srgbClr val="25313A"/>
                          </a:solidFill>
                        </a:defRPr>
                      </a:pPr>
                      <a:r>
                        <a:t>19 882</a:t>
                      </a:r>
                    </a:p>
                  </a:txBody>
                  <a:tcPr anchor="ctr" marL="27432" marR="27432" marT="18288" marB="18288">
                    <a:solidFill>
                      <a:srgbClr val="F2F7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 b="0">
                          <a:solidFill>
                            <a:srgbClr val="25313A"/>
                          </a:solidFill>
                        </a:defRPr>
                      </a:pPr>
                      <a:r>
                        <a:t>21 703</a:t>
                      </a:r>
                    </a:p>
                  </a:txBody>
                  <a:tcPr anchor="ctr" marL="27432" marR="27432" marT="18288" marB="18288">
                    <a:solidFill>
                      <a:srgbClr val="F2F7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 b="0">
                          <a:solidFill>
                            <a:srgbClr val="25313A"/>
                          </a:solidFill>
                        </a:defRPr>
                      </a:pPr>
                      <a:r>
                        <a:t>+1 821</a:t>
                      </a:r>
                    </a:p>
                  </a:txBody>
                  <a:tcPr anchor="ctr" marL="27432" marR="27432" marT="18288" marB="18288">
                    <a:solidFill>
                      <a:srgbClr val="F2F7F8"/>
                    </a:solidFill>
                  </a:tcPr>
                </a:tc>
              </a:tr>
              <a:tr h="666205">
                <a:tc>
                  <a:txBody>
                    <a:bodyPr/>
                    <a:lstStyle/>
                    <a:p>
                      <a:pPr algn="ctr">
                        <a:defRPr sz="1080" b="0">
                          <a:solidFill>
                            <a:srgbClr val="25313A"/>
                          </a:solidFill>
                        </a:defRPr>
                      </a:pPr>
                      <a:r>
                        <a:t>Jalb qilingan sarmoya</a:t>
                      </a:r>
                    </a:p>
                  </a:txBody>
                  <a:tcPr anchor="ctr"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 b="0">
                          <a:solidFill>
                            <a:srgbClr val="25313A"/>
                          </a:solidFill>
                        </a:defRPr>
                      </a:pPr>
                      <a:r>
                        <a:t>7 365</a:t>
                      </a:r>
                    </a:p>
                  </a:txBody>
                  <a:tcPr anchor="ctr"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 b="0">
                          <a:solidFill>
                            <a:srgbClr val="25313A"/>
                          </a:solidFill>
                        </a:defRPr>
                      </a:pPr>
                      <a:r>
                        <a:t>7 834</a:t>
                      </a:r>
                    </a:p>
                  </a:txBody>
                  <a:tcPr anchor="ctr"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 b="0">
                          <a:solidFill>
                            <a:srgbClr val="25313A"/>
                          </a:solidFill>
                        </a:defRPr>
                      </a:pPr>
                      <a:r>
                        <a:t>+569</a:t>
                      </a:r>
                    </a:p>
                  </a:txBody>
                  <a:tcPr anchor="ctr" marL="27432" marR="27432" marT="18288" marB="18288">
                    <a:solidFill>
                      <a:srgbClr val="FFFFFF"/>
                    </a:solidFill>
                  </a:tcPr>
                </a:tc>
              </a:tr>
              <a:tr h="666205">
                <a:tc>
                  <a:txBody>
                    <a:bodyPr/>
                    <a:lstStyle/>
                    <a:p>
                      <a:pPr algn="ctr">
                        <a:defRPr sz="1080" b="0">
                          <a:solidFill>
                            <a:srgbClr val="25313A"/>
                          </a:solidFill>
                        </a:defRPr>
                      </a:pPr>
                      <a:r>
                        <a:t>Joriy aktivlar</a:t>
                      </a:r>
                    </a:p>
                  </a:txBody>
                  <a:tcPr anchor="ctr" marL="27432" marR="27432" marT="18288" marB="18288">
                    <a:solidFill>
                      <a:srgbClr val="F2F7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 b="0">
                          <a:solidFill>
                            <a:srgbClr val="25313A"/>
                          </a:solidFill>
                        </a:defRPr>
                      </a:pPr>
                      <a:r>
                        <a:t>14 120</a:t>
                      </a:r>
                    </a:p>
                  </a:txBody>
                  <a:tcPr anchor="ctr" marL="27432" marR="27432" marT="18288" marB="18288">
                    <a:solidFill>
                      <a:srgbClr val="F2F7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 b="0">
                          <a:solidFill>
                            <a:srgbClr val="25313A"/>
                          </a:solidFill>
                        </a:defRPr>
                      </a:pPr>
                      <a:r>
                        <a:t>16 566</a:t>
                      </a:r>
                    </a:p>
                  </a:txBody>
                  <a:tcPr anchor="ctr" marL="27432" marR="27432" marT="18288" marB="18288">
                    <a:solidFill>
                      <a:srgbClr val="F2F7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 b="0">
                          <a:solidFill>
                            <a:srgbClr val="25313A"/>
                          </a:solidFill>
                        </a:defRPr>
                      </a:pPr>
                      <a:r>
                        <a:t>+2 446</a:t>
                      </a:r>
                    </a:p>
                  </a:txBody>
                  <a:tcPr anchor="ctr" marL="27432" marR="27432" marT="18288" marB="18288">
                    <a:solidFill>
                      <a:srgbClr val="F2F7F8"/>
                    </a:solidFill>
                  </a:tcPr>
                </a:tc>
              </a:tr>
              <a:tr h="666205">
                <a:tc>
                  <a:txBody>
                    <a:bodyPr/>
                    <a:lstStyle/>
                    <a:p>
                      <a:pPr algn="ctr">
                        <a:defRPr sz="1080" b="0">
                          <a:solidFill>
                            <a:srgbClr val="25313A"/>
                          </a:solidFill>
                        </a:defRPr>
                      </a:pPr>
                      <a:r>
                        <a:t>O‘AM</a:t>
                      </a:r>
                    </a:p>
                  </a:txBody>
                  <a:tcPr anchor="ctr"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 b="0">
                          <a:solidFill>
                            <a:srgbClr val="25313A"/>
                          </a:solidFill>
                        </a:defRPr>
                      </a:pPr>
                      <a:r>
                        <a:t>6 950</a:t>
                      </a:r>
                    </a:p>
                  </a:txBody>
                  <a:tcPr anchor="ctr"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 b="0">
                          <a:solidFill>
                            <a:srgbClr val="25313A"/>
                          </a:solidFill>
                        </a:defRPr>
                      </a:pPr>
                      <a:r>
                        <a:t>8 732</a:t>
                      </a:r>
                    </a:p>
                  </a:txBody>
                  <a:tcPr anchor="ctr"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 b="0">
                          <a:solidFill>
                            <a:srgbClr val="25313A"/>
                          </a:solidFill>
                        </a:defRPr>
                      </a:pPr>
                      <a:r>
                        <a:t>+1 782</a:t>
                      </a:r>
                    </a:p>
                  </a:txBody>
                  <a:tcPr anchor="ctr" marL="27432" marR="27432" marT="18288" marB="18288">
                    <a:solidFill>
                      <a:srgbClr val="FFFFFF"/>
                    </a:solidFill>
                  </a:tcPr>
                </a:tc>
              </a:tr>
              <a:tr h="666205">
                <a:tc>
                  <a:txBody>
                    <a:bodyPr/>
                    <a:lstStyle/>
                    <a:p>
                      <a:pPr algn="ctr">
                        <a:defRPr sz="1080" b="0">
                          <a:solidFill>
                            <a:srgbClr val="25313A"/>
                          </a:solidFill>
                        </a:defRPr>
                      </a:pPr>
                      <a:r>
                        <a:t>Harakatdagi sarmoya</a:t>
                      </a:r>
                    </a:p>
                  </a:txBody>
                  <a:tcPr anchor="ctr" marL="27432" marR="27432" marT="18288" marB="18288">
                    <a:solidFill>
                      <a:srgbClr val="F2F7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 b="0">
                          <a:solidFill>
                            <a:srgbClr val="25313A"/>
                          </a:solidFill>
                        </a:defRPr>
                      </a:pPr>
                      <a:r>
                        <a:t>5 100</a:t>
                      </a:r>
                    </a:p>
                  </a:txBody>
                  <a:tcPr anchor="ctr" marL="27432" marR="27432" marT="18288" marB="18288">
                    <a:solidFill>
                      <a:srgbClr val="F2F7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 b="0">
                          <a:solidFill>
                            <a:srgbClr val="25313A"/>
                          </a:solidFill>
                        </a:defRPr>
                      </a:pPr>
                      <a:r>
                        <a:t>6 452</a:t>
                      </a:r>
                    </a:p>
                  </a:txBody>
                  <a:tcPr anchor="ctr" marL="27432" marR="27432" marT="18288" marB="18288">
                    <a:solidFill>
                      <a:srgbClr val="F2F7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 b="0">
                          <a:solidFill>
                            <a:srgbClr val="25313A"/>
                          </a:solidFill>
                        </a:defRPr>
                      </a:pPr>
                      <a:r>
                        <a:t>+1 352</a:t>
                      </a:r>
                    </a:p>
                  </a:txBody>
                  <a:tcPr anchor="ctr" marL="27432" marR="27432" marT="18288" marB="18288">
                    <a:solidFill>
                      <a:srgbClr val="F2F7F8"/>
                    </a:solidFill>
                  </a:tcPr>
                </a:tc>
              </a:tr>
              <a:tr h="666210">
                <a:tc>
                  <a:txBody>
                    <a:bodyPr/>
                    <a:lstStyle/>
                    <a:p>
                      <a:pPr algn="ctr">
                        <a:defRPr sz="1080" b="0">
                          <a:solidFill>
                            <a:srgbClr val="25313A"/>
                          </a:solidFill>
                        </a:defRPr>
                      </a:pPr>
                      <a:r>
                        <a:t>Tez likvidli aktivlar</a:t>
                      </a:r>
                    </a:p>
                  </a:txBody>
                  <a:tcPr anchor="ctr"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 b="0">
                          <a:solidFill>
                            <a:srgbClr val="25313A"/>
                          </a:solidFill>
                        </a:defRPr>
                      </a:pPr>
                      <a:r>
                        <a:t>750</a:t>
                      </a:r>
                    </a:p>
                  </a:txBody>
                  <a:tcPr anchor="ctr"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 b="0">
                          <a:solidFill>
                            <a:srgbClr val="25313A"/>
                          </a:solidFill>
                        </a:defRPr>
                      </a:pPr>
                      <a:r>
                        <a:t>1 553</a:t>
                      </a:r>
                    </a:p>
                  </a:txBody>
                  <a:tcPr anchor="ctr"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 b="0">
                          <a:solidFill>
                            <a:srgbClr val="25313A"/>
                          </a:solidFill>
                        </a:defRPr>
                      </a:pPr>
                      <a:r>
                        <a:t>+803</a:t>
                      </a:r>
                    </a:p>
                  </a:txBody>
                  <a:tcPr anchor="ctr" marL="27432" marR="27432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18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2A42"/>
                </a:solidFill>
              </a:defRPr>
            </a:pPr>
            <a:r>
              <a:t>12.2-jadval: xavfli tarkib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14400"/>
            <a:ext cx="10789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2DA7AD"/>
                </a:solidFill>
              </a:defRPr>
            </a:pPr>
            <a:r>
              <a:t>12.3. Amaliy tahlil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55664"/>
            <a:ext cx="11064240" cy="18288"/>
          </a:xfrm>
          <a:prstGeom prst="rect">
            <a:avLst/>
          </a:prstGeom>
          <a:solidFill>
            <a:srgbClr val="DB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19">
                <a:solidFill>
                  <a:srgbClr val="5F6C75"/>
                </a:solidFill>
              </a:defRPr>
            </a:pPr>
            <a:r>
              <a:t>A.N. Xoliqulov — “Turistik korxonalar faoliyati tahlili” | 12-mavzu | 33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04088" y="1783080"/>
            <a:ext cx="3474720" cy="2148840"/>
          </a:xfrm>
          <a:prstGeom prst="roundRect">
            <a:avLst/>
          </a:prstGeom>
          <a:solidFill>
            <a:srgbClr val="F2F7F8"/>
          </a:solidFill>
          <a:ln>
            <a:solidFill>
              <a:srgbClr val="DBE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3816" y="1993392"/>
            <a:ext cx="3255264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20" b="1">
                <a:solidFill>
                  <a:srgbClr val="5F6C75"/>
                </a:solidFill>
              </a:defRPr>
            </a:pPr>
            <a:r>
              <a:t>Zaxira va xarajatlar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6" y="2670048"/>
            <a:ext cx="3255264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122A42"/>
                </a:solidFill>
              </a:defRPr>
            </a:pPr>
            <a:r>
              <a:t>42,8%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160520"/>
            <a:ext cx="3328416" cy="9875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40">
                <a:solidFill>
                  <a:srgbClr val="25313A"/>
                </a:solidFill>
              </a:defRPr>
            </a:pPr>
            <a:r>
              <a:t>Jami aktivlarning katta qismi qiyinroq sotiladigan aktivlarda.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61688" y="1783080"/>
            <a:ext cx="3474720" cy="2148840"/>
          </a:xfrm>
          <a:prstGeom prst="roundRect">
            <a:avLst/>
          </a:prstGeom>
          <a:solidFill>
            <a:srgbClr val="F2F7F8"/>
          </a:solidFill>
          <a:ln>
            <a:solidFill>
              <a:srgbClr val="DBE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71416" y="1993392"/>
            <a:ext cx="3255264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20" b="1">
                <a:solidFill>
                  <a:srgbClr val="5F6C75"/>
                </a:solidFill>
              </a:defRPr>
            </a:pPr>
            <a:r>
              <a:t>Debitorlik qarzi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71416" y="2670048"/>
            <a:ext cx="3255264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122A42"/>
                </a:solidFill>
              </a:defRPr>
            </a:pPr>
            <a:r>
              <a:t>12,3%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34840" y="4160520"/>
            <a:ext cx="3328416" cy="9875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40">
                <a:solidFill>
                  <a:srgbClr val="25313A"/>
                </a:solidFill>
              </a:defRPr>
            </a:pPr>
            <a:r>
              <a:t>Debitorlik ulushi ham sezilarli.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19288" y="1783080"/>
            <a:ext cx="3474720" cy="2148840"/>
          </a:xfrm>
          <a:prstGeom prst="roundRect">
            <a:avLst/>
          </a:prstGeom>
          <a:solidFill>
            <a:srgbClr val="F2F7F8"/>
          </a:solidFill>
          <a:ln>
            <a:solidFill>
              <a:srgbClr val="DBE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29015" y="1993392"/>
            <a:ext cx="3255264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20" b="1">
                <a:solidFill>
                  <a:srgbClr val="5F6C75"/>
                </a:solidFill>
              </a:defRPr>
            </a:pPr>
            <a:r>
              <a:t>Tez likvidli aktivlar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29015" y="2670048"/>
            <a:ext cx="3255264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122A42"/>
                </a:solidFill>
              </a:defRPr>
            </a:pPr>
            <a:r>
              <a:t>5,3%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92440" y="4160520"/>
            <a:ext cx="3328416" cy="9875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40">
                <a:solidFill>
                  <a:srgbClr val="25313A"/>
                </a:solidFill>
              </a:defRPr>
            </a:pPr>
            <a:r>
              <a:t>Tez pulga aylanuvchi aktivlar ulushi past.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18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2A42"/>
                </a:solidFill>
              </a:defRPr>
            </a:pPr>
            <a:r>
              <a:t>12.4. Likvidlilik tushunchasi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14400"/>
            <a:ext cx="10789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2DA7AD"/>
                </a:solidFill>
              </a:defRPr>
            </a:pPr>
            <a:r>
              <a:t>12.4. Likvidlilik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55664"/>
            <a:ext cx="11064240" cy="18288"/>
          </a:xfrm>
          <a:prstGeom prst="rect">
            <a:avLst/>
          </a:prstGeom>
          <a:solidFill>
            <a:srgbClr val="DB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19">
                <a:solidFill>
                  <a:srgbClr val="5F6C75"/>
                </a:solidFill>
              </a:defRPr>
            </a:pPr>
            <a:r>
              <a:t>A.N. Xoliqulov — “Turistik korxonalar faoliyati tahlili” | 12-mavzu | 34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25880"/>
            <a:ext cx="1069848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50">
                <a:solidFill>
                  <a:srgbClr val="25313A"/>
                </a:solidFill>
              </a:defRPr>
            </a:pPr>
            <a:r>
              <a:t>Likvidlilik — korxonaning joriy aktivlari hisobidan qisqa muddatli majburiyatlarini bajarish qobiliyati.</a:t>
            </a:r>
          </a:p>
          <a:p>
            <a:pPr>
              <a:spcAft>
                <a:spcPts val="600"/>
              </a:spcAft>
              <a:defRPr sz="1850">
                <a:solidFill>
                  <a:srgbClr val="25313A"/>
                </a:solidFill>
              </a:defRPr>
            </a:pPr>
            <a:r>
              <a:t>Aktivlar pulga aylanadi; passivdagi majburiyatlar esa to‘lov orqali “so‘ndiriladi”.</a:t>
            </a:r>
          </a:p>
          <a:p>
            <a:pPr>
              <a:spcAft>
                <a:spcPts val="600"/>
              </a:spcAft>
              <a:defRPr sz="1850">
                <a:solidFill>
                  <a:srgbClr val="25313A"/>
                </a:solidFill>
              </a:defRPr>
            </a:pPr>
            <a:r>
              <a:t>Balans likvidligi korxonaning kreditorlar bilan hisob-kitob qilish imkoniyatini ifodalaydi.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18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2A42"/>
                </a:solidFill>
              </a:defRPr>
            </a:pPr>
            <a:r>
              <a:t>Likvidlik va to‘lov qobiliyati farqi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14400"/>
            <a:ext cx="10789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2DA7AD"/>
                </a:solidFill>
              </a:defRPr>
            </a:pPr>
            <a:r>
              <a:t>12.4. Likvidlilik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55664"/>
            <a:ext cx="11064240" cy="18288"/>
          </a:xfrm>
          <a:prstGeom prst="rect">
            <a:avLst/>
          </a:prstGeom>
          <a:solidFill>
            <a:srgbClr val="DB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19">
                <a:solidFill>
                  <a:srgbClr val="5F6C75"/>
                </a:solidFill>
              </a:defRPr>
            </a:pPr>
            <a:r>
              <a:t>A.N. Xoliqulov — “Turistik korxonalar faoliyati tahlili” | 12-mavzu | 35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417320"/>
            <a:ext cx="5257800" cy="4526280"/>
          </a:xfrm>
          <a:prstGeom prst="roundRect">
            <a:avLst/>
          </a:prstGeom>
          <a:solidFill>
            <a:srgbClr val="F2F7F8"/>
          </a:solidFill>
          <a:ln>
            <a:solidFill>
              <a:srgbClr val="DBE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417320"/>
            <a:ext cx="5257800" cy="566928"/>
          </a:xfrm>
          <a:prstGeom prst="rect">
            <a:avLst/>
          </a:prstGeom>
          <a:solidFill>
            <a:srgbClr val="187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" y="1536192"/>
            <a:ext cx="4800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Likvidlik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2121408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60">
                <a:solidFill>
                  <a:srgbClr val="25313A"/>
                </a:solidFill>
              </a:defRPr>
            </a:pPr>
            <a:r>
              <a:t>Qarzlarni to‘lash uchun aktivlar mavjudligini bildiradi</a:t>
            </a:r>
          </a:p>
          <a:p>
            <a:pPr>
              <a:spcAft>
                <a:spcPts val="600"/>
              </a:spcAft>
              <a:defRPr sz="1660">
                <a:solidFill>
                  <a:srgbClr val="25313A"/>
                </a:solidFill>
              </a:defRPr>
            </a:pPr>
            <a:r>
              <a:t>Aktivlarning pulga aylanish tezligiga bog‘liq</a:t>
            </a:r>
          </a:p>
          <a:p>
            <a:pPr>
              <a:spcAft>
                <a:spcPts val="600"/>
              </a:spcAft>
              <a:defRPr sz="1660">
                <a:solidFill>
                  <a:srgbClr val="25313A"/>
                </a:solidFill>
              </a:defRPr>
            </a:pPr>
            <a:r>
              <a:t>Nazariy qoplash imkoniyatini ko‘rsatadi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417320"/>
            <a:ext cx="5257800" cy="4526280"/>
          </a:xfrm>
          <a:prstGeom prst="roundRect">
            <a:avLst/>
          </a:prstGeom>
          <a:solidFill>
            <a:srgbClr val="F2F7F8"/>
          </a:solidFill>
          <a:ln>
            <a:solidFill>
              <a:srgbClr val="DBE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63640" y="1417320"/>
            <a:ext cx="5257800" cy="566928"/>
          </a:xfrm>
          <a:prstGeom prst="rect">
            <a:avLst/>
          </a:prstGeom>
          <a:solidFill>
            <a:srgbClr val="12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73952" y="1536192"/>
            <a:ext cx="4800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To‘lov qobiliyati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83096" y="2121408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60">
                <a:solidFill>
                  <a:srgbClr val="25313A"/>
                </a:solidFill>
              </a:defRPr>
            </a:pPr>
            <a:r>
              <a:t>Qarzni belgilangan muddatda real to‘lash imkoniyati</a:t>
            </a:r>
          </a:p>
          <a:p>
            <a:pPr>
              <a:spcAft>
                <a:spcPts val="600"/>
              </a:spcAft>
              <a:defRPr sz="1660">
                <a:solidFill>
                  <a:srgbClr val="25313A"/>
                </a:solidFill>
              </a:defRPr>
            </a:pPr>
            <a:r>
              <a:t>Yetarli pul va pul ekvivalentlari mavjud bo‘lishi zarur</a:t>
            </a:r>
          </a:p>
          <a:p>
            <a:pPr>
              <a:spcAft>
                <a:spcPts val="600"/>
              </a:spcAft>
              <a:defRPr sz="1660">
                <a:solidFill>
                  <a:srgbClr val="25313A"/>
                </a:solidFill>
              </a:defRPr>
            </a:pPr>
            <a:r>
              <a:t>Muddati o‘tgan kreditorlik qarzi bo‘lmasligi muhim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18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2A42"/>
                </a:solidFill>
              </a:defRPr>
            </a:pPr>
            <a:r>
              <a:t>Aktivlarning likvidlik guruhlari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14400"/>
            <a:ext cx="10789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2DA7AD"/>
                </a:solidFill>
              </a:defRPr>
            </a:pPr>
            <a:r>
              <a:t>12.4. Likvidlilik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55664"/>
            <a:ext cx="11064240" cy="18288"/>
          </a:xfrm>
          <a:prstGeom prst="rect">
            <a:avLst/>
          </a:prstGeom>
          <a:solidFill>
            <a:srgbClr val="DB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19">
                <a:solidFill>
                  <a:srgbClr val="5F6C75"/>
                </a:solidFill>
              </a:defRPr>
            </a:pPr>
            <a:r>
              <a:t>A.N. Xoliqulov — “Turistik korxonalar faoliyati tahlili” | 12-mavzu | 36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25880"/>
            <a:ext cx="1069848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20">
                <a:solidFill>
                  <a:srgbClr val="25313A"/>
                </a:solidFill>
              </a:defRPr>
            </a:pPr>
            <a:r>
              <a:t>A1 — eng likvid aktivlar: pul mablag‘lari va qisqa muddatli moliyaviy investitsiyalar</a:t>
            </a:r>
          </a:p>
          <a:p>
            <a:pPr>
              <a:spcAft>
                <a:spcPts val="600"/>
              </a:spcAft>
              <a:defRPr sz="1720">
                <a:solidFill>
                  <a:srgbClr val="25313A"/>
                </a:solidFill>
              </a:defRPr>
            </a:pPr>
            <a:r>
              <a:t>A2 — tez sotiladigan aktivlar: muddati o‘tmagan debitorlik va boshqa tezkor aktivlar</a:t>
            </a:r>
          </a:p>
          <a:p>
            <a:pPr>
              <a:spcAft>
                <a:spcPts val="600"/>
              </a:spcAft>
              <a:defRPr sz="1720">
                <a:solidFill>
                  <a:srgbClr val="25313A"/>
                </a:solidFill>
              </a:defRPr>
            </a:pPr>
            <a:r>
              <a:t>A3 — sekin sotiladigan aktivlar: zaxiralar, kelgusi davr xarajatlari va ayrim investitsiyalar</a:t>
            </a:r>
          </a:p>
          <a:p>
            <a:pPr>
              <a:spcAft>
                <a:spcPts val="600"/>
              </a:spcAft>
              <a:defRPr sz="1720">
                <a:solidFill>
                  <a:srgbClr val="25313A"/>
                </a:solidFill>
              </a:defRPr>
            </a:pPr>
            <a:r>
              <a:t>A4 — qiyin sotiladigan aktivlar: asosiy vositalar, nomoddiy aktivlar, tugallanmagan kapital qo‘yilmalar va muddati o‘tgan debitorlik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18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2A42"/>
                </a:solidFill>
              </a:defRPr>
            </a:pPr>
            <a:r>
              <a:t>Majburiyatlarning to‘lov muddati bo‘yicha guruhlari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14400"/>
            <a:ext cx="10789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2DA7AD"/>
                </a:solidFill>
              </a:defRPr>
            </a:pPr>
            <a:r>
              <a:t>12.4. Likvidlilik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55664"/>
            <a:ext cx="11064240" cy="18288"/>
          </a:xfrm>
          <a:prstGeom prst="rect">
            <a:avLst/>
          </a:prstGeom>
          <a:solidFill>
            <a:srgbClr val="DB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19">
                <a:solidFill>
                  <a:srgbClr val="5F6C75"/>
                </a:solidFill>
              </a:defRPr>
            </a:pPr>
            <a:r>
              <a:t>A.N. Xoliqulov — “Turistik korxonalar faoliyati tahlili” | 12-mavzu | 37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25880"/>
            <a:ext cx="1069848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25313A"/>
                </a:solidFill>
              </a:defRPr>
            </a:pPr>
            <a:r>
              <a:t>P1 — eng shoshilinch majburiyatlar: kreditorlik qarzlari va muddati o‘tgan qarzlar</a:t>
            </a:r>
          </a:p>
          <a:p>
            <a:pPr>
              <a:spcAft>
                <a:spcPts val="600"/>
              </a:spcAft>
              <a:defRPr sz="1800">
                <a:solidFill>
                  <a:srgbClr val="25313A"/>
                </a:solidFill>
              </a:defRPr>
            </a:pPr>
            <a:r>
              <a:t>P2 — qisqa muddatli passivlar: qisqa muddatli kredit va qarzlar</a:t>
            </a:r>
          </a:p>
          <a:p>
            <a:pPr>
              <a:spcAft>
                <a:spcPts val="600"/>
              </a:spcAft>
              <a:defRPr sz="1800">
                <a:solidFill>
                  <a:srgbClr val="25313A"/>
                </a:solidFill>
              </a:defRPr>
            </a:pPr>
            <a:r>
              <a:t>P3 — uzoq muddatli passivlar</a:t>
            </a:r>
          </a:p>
          <a:p>
            <a:pPr>
              <a:spcAft>
                <a:spcPts val="600"/>
              </a:spcAft>
              <a:defRPr sz="1800">
                <a:solidFill>
                  <a:srgbClr val="25313A"/>
                </a:solidFill>
              </a:defRPr>
            </a:pPr>
            <a:r>
              <a:t>P4 — doimiy passivlar: o‘z mablag‘lari manbalari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18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2A42"/>
                </a:solidFill>
              </a:defRPr>
            </a:pPr>
            <a:r>
              <a:t>Mutlaq likvid balans shartlari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14400"/>
            <a:ext cx="10789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2DA7AD"/>
                </a:solidFill>
              </a:defRPr>
            </a:pPr>
            <a:r>
              <a:t>12.4. Likvidlilik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55664"/>
            <a:ext cx="11064240" cy="18288"/>
          </a:xfrm>
          <a:prstGeom prst="rect">
            <a:avLst/>
          </a:prstGeom>
          <a:solidFill>
            <a:srgbClr val="DB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19">
                <a:solidFill>
                  <a:srgbClr val="5F6C75"/>
                </a:solidFill>
              </a:defRPr>
            </a:pPr>
            <a:r>
              <a:t>A.N. Xoliqulov — “Turistik korxonalar faoliyati tahlili” | 12-mavzu | 38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04088" y="1783080"/>
            <a:ext cx="2560320" cy="2148840"/>
          </a:xfrm>
          <a:prstGeom prst="roundRect">
            <a:avLst/>
          </a:prstGeom>
          <a:solidFill>
            <a:srgbClr val="F2F7F8"/>
          </a:solidFill>
          <a:ln>
            <a:solidFill>
              <a:srgbClr val="DBE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3816" y="1993392"/>
            <a:ext cx="2340864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20" b="1">
                <a:solidFill>
                  <a:srgbClr val="5F6C75"/>
                </a:solidFill>
              </a:defRPr>
            </a:pPr>
            <a:r>
              <a:t>A1 ≥ P1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6" y="2670048"/>
            <a:ext cx="2340864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122A42"/>
                </a:solidFill>
              </a:defRPr>
            </a:pPr>
            <a:r>
              <a:t>1-shart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160520"/>
            <a:ext cx="2414016" cy="9875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40">
                <a:solidFill>
                  <a:srgbClr val="25313A"/>
                </a:solidFill>
              </a:defRPr>
            </a:pPr>
            <a:r>
              <a:t>Eng likvid aktivlar eng shoshilinch majburiyatlarni qoplaydi.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47288" y="1783080"/>
            <a:ext cx="2560320" cy="2148840"/>
          </a:xfrm>
          <a:prstGeom prst="roundRect">
            <a:avLst/>
          </a:prstGeom>
          <a:solidFill>
            <a:srgbClr val="F2F7F8"/>
          </a:solidFill>
          <a:ln>
            <a:solidFill>
              <a:srgbClr val="DBE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57016" y="1993392"/>
            <a:ext cx="2340864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20" b="1">
                <a:solidFill>
                  <a:srgbClr val="5F6C75"/>
                </a:solidFill>
              </a:defRPr>
            </a:pPr>
            <a:r>
              <a:t>A2 ≥ P2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57016" y="2670048"/>
            <a:ext cx="2340864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122A42"/>
                </a:solidFill>
              </a:defRPr>
            </a:pPr>
            <a:r>
              <a:t>2-shart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20440" y="4160520"/>
            <a:ext cx="2414016" cy="9875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40">
                <a:solidFill>
                  <a:srgbClr val="25313A"/>
                </a:solidFill>
              </a:defRPr>
            </a:pPr>
            <a:r>
              <a:t>Tez sotiladigan aktivlar qisqa muddatli passivlarni qoplaydi.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90488" y="1783080"/>
            <a:ext cx="2560320" cy="2148840"/>
          </a:xfrm>
          <a:prstGeom prst="roundRect">
            <a:avLst/>
          </a:prstGeom>
          <a:solidFill>
            <a:srgbClr val="F2F7F8"/>
          </a:solidFill>
          <a:ln>
            <a:solidFill>
              <a:srgbClr val="DBE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0216" y="1993392"/>
            <a:ext cx="2340864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20" b="1">
                <a:solidFill>
                  <a:srgbClr val="5F6C75"/>
                </a:solidFill>
              </a:defRPr>
            </a:pPr>
            <a:r>
              <a:t>A3 ≥ P3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0216" y="2670048"/>
            <a:ext cx="2340864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122A42"/>
                </a:solidFill>
              </a:defRPr>
            </a:pPr>
            <a:r>
              <a:t>3-shart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4160520"/>
            <a:ext cx="2414016" cy="9875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40">
                <a:solidFill>
                  <a:srgbClr val="25313A"/>
                </a:solidFill>
              </a:defRPr>
            </a:pPr>
            <a:r>
              <a:t>Sekin sotiladigan aktivlar uzoq muddatli passivlarni qoplaydi.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933688" y="1783080"/>
            <a:ext cx="2560320" cy="2148840"/>
          </a:xfrm>
          <a:prstGeom prst="roundRect">
            <a:avLst/>
          </a:prstGeom>
          <a:solidFill>
            <a:srgbClr val="F2F7F8"/>
          </a:solidFill>
          <a:ln>
            <a:solidFill>
              <a:srgbClr val="DBE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43416" y="1993392"/>
            <a:ext cx="2340864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20" b="1">
                <a:solidFill>
                  <a:srgbClr val="5F6C75"/>
                </a:solidFill>
              </a:defRPr>
            </a:pPr>
            <a:r>
              <a:t>A4 ≤ P4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43416" y="2670048"/>
            <a:ext cx="2340864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122A42"/>
                </a:solidFill>
              </a:defRPr>
            </a:pPr>
            <a:r>
              <a:t>4-shart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06840" y="4160520"/>
            <a:ext cx="2414016" cy="9875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40">
                <a:solidFill>
                  <a:srgbClr val="25313A"/>
                </a:solidFill>
              </a:defRPr>
            </a:pPr>
            <a:r>
              <a:t>Qiyin sotiladigan aktivlar doimiy passivlardan oshib ketmasligi lozim.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18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2A42"/>
                </a:solidFill>
              </a:defRPr>
            </a:pPr>
            <a:r>
              <a:t>Qoplash koeffitsiyenti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14400"/>
            <a:ext cx="10789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2DA7AD"/>
                </a:solidFill>
              </a:defRPr>
            </a:pPr>
            <a:r>
              <a:t>12.4. Likvidlilik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55664"/>
            <a:ext cx="11064240" cy="18288"/>
          </a:xfrm>
          <a:prstGeom prst="rect">
            <a:avLst/>
          </a:prstGeom>
          <a:solidFill>
            <a:srgbClr val="DB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19">
                <a:solidFill>
                  <a:srgbClr val="5F6C75"/>
                </a:solidFill>
              </a:defRPr>
            </a:pPr>
            <a:r>
              <a:t>A.N. Xoliqulov — “Turistik korxonalar faoliyati tahlili” | 12-mavzu | 39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1508760"/>
            <a:ext cx="10424160" cy="1920240"/>
          </a:xfrm>
          <a:prstGeom prst="roundRect">
            <a:avLst/>
          </a:prstGeom>
          <a:solidFill>
            <a:srgbClr val="F2F7F8"/>
          </a:solidFill>
          <a:ln>
            <a:solidFill>
              <a:srgbClr val="DBE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856231"/>
            <a:ext cx="9966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122A42"/>
                </a:solidFill>
              </a:defRPr>
            </a:pPr>
            <a:r>
              <a:t>QK = Joriy aktivlar / Joriy majburiyatlar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840480"/>
            <a:ext cx="1024128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87A80"/>
                </a:solidFill>
              </a:defRPr>
            </a:pPr>
            <a:r>
              <a:t>Formula</a:t>
            </a:r>
          </a:p>
          <a:p>
            <a:pPr>
              <a:defRPr sz="1700">
                <a:solidFill>
                  <a:srgbClr val="25313A"/>
                </a:solidFill>
              </a:defRPr>
            </a:pPr>
            <a:r>
              <a:t>Kitobda 2,0 va undan yuqori qiymat me’yoriy deb ko‘rsatilgan; haddan tashqari yuqori qiymat ham zaxira yoki debitorlikning ortiqchaligini bildirishi mumkin.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18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2A42"/>
                </a:solidFill>
              </a:defRPr>
            </a:pPr>
            <a:r>
              <a:t>Tez likvidlilik koeffitsiyenti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14400"/>
            <a:ext cx="10789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2DA7AD"/>
                </a:solidFill>
              </a:defRPr>
            </a:pPr>
            <a:r>
              <a:t>12.4. Likvidlilik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55664"/>
            <a:ext cx="11064240" cy="18288"/>
          </a:xfrm>
          <a:prstGeom prst="rect">
            <a:avLst/>
          </a:prstGeom>
          <a:solidFill>
            <a:srgbClr val="DB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19">
                <a:solidFill>
                  <a:srgbClr val="5F6C75"/>
                </a:solidFill>
              </a:defRPr>
            </a:pPr>
            <a:r>
              <a:t>A.N. Xoliqulov — “Turistik korxonalar faoliyati tahlili” | 12-mavzu | 40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1508760"/>
            <a:ext cx="10424160" cy="1920240"/>
          </a:xfrm>
          <a:prstGeom prst="roundRect">
            <a:avLst/>
          </a:prstGeom>
          <a:solidFill>
            <a:srgbClr val="F2F7F8"/>
          </a:solidFill>
          <a:ln>
            <a:solidFill>
              <a:srgbClr val="DBE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856231"/>
            <a:ext cx="9966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122A42"/>
                </a:solidFill>
              </a:defRPr>
            </a:pPr>
            <a:r>
              <a:t>TLK = (Pul + Debitorlik − Muddati o‘tgan debitorlik) / Joriy majburiyatlar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840480"/>
            <a:ext cx="1024128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87A80"/>
                </a:solidFill>
              </a:defRPr>
            </a:pPr>
            <a:r>
              <a:t>Formula</a:t>
            </a:r>
          </a:p>
          <a:p>
            <a:pPr>
              <a:defRPr sz="1700">
                <a:solidFill>
                  <a:srgbClr val="25313A"/>
                </a:solidFill>
              </a:defRPr>
            </a:pPr>
            <a:r>
              <a:t>Kitobda 1,0 va undan yuqori qiymat normal deb ko‘rsatilgan. Banklar va kreditorlar uchun muhim ko‘rsatkich.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18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2A42"/>
                </a:solidFill>
              </a:defRPr>
            </a:pPr>
            <a:r>
              <a:t>Absolyut likvidlilik koeffitsiyenti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14400"/>
            <a:ext cx="10789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2DA7AD"/>
                </a:solidFill>
              </a:defRPr>
            </a:pPr>
            <a:r>
              <a:t>12.4. Likvidlilik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55664"/>
            <a:ext cx="11064240" cy="18288"/>
          </a:xfrm>
          <a:prstGeom prst="rect">
            <a:avLst/>
          </a:prstGeom>
          <a:solidFill>
            <a:srgbClr val="DB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19">
                <a:solidFill>
                  <a:srgbClr val="5F6C75"/>
                </a:solidFill>
              </a:defRPr>
            </a:pPr>
            <a:r>
              <a:t>A.N. Xoliqulov — “Turistik korxonalar faoliyati tahlili” | 12-mavzu | 41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1508760"/>
            <a:ext cx="10424160" cy="1920240"/>
          </a:xfrm>
          <a:prstGeom prst="roundRect">
            <a:avLst/>
          </a:prstGeom>
          <a:solidFill>
            <a:srgbClr val="F2F7F8"/>
          </a:solidFill>
          <a:ln>
            <a:solidFill>
              <a:srgbClr val="DBE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856231"/>
            <a:ext cx="9966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122A42"/>
                </a:solidFill>
              </a:defRPr>
            </a:pPr>
            <a:r>
              <a:t>ALK = Pul mablag‘lari / Joriy majburiyatlar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840480"/>
            <a:ext cx="1024128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87A80"/>
                </a:solidFill>
              </a:defRPr>
            </a:pPr>
            <a:r>
              <a:t>Formula</a:t>
            </a:r>
          </a:p>
          <a:p>
            <a:pPr>
              <a:defRPr sz="1700">
                <a:solidFill>
                  <a:srgbClr val="25313A"/>
                </a:solidFill>
              </a:defRPr>
            </a:pPr>
            <a:r>
              <a:t>Kitobda 0,20 va undan yuqori daraja normal deb ko‘rsatilgan. Eng tezkor to‘lov qobiliyatini ifodalaydi.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18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2A42"/>
                </a:solidFill>
              </a:defRPr>
            </a:pPr>
            <a:r>
              <a:t>Ishlatilayotgan sarmoya harakatchanligi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14400"/>
            <a:ext cx="10789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2DA7AD"/>
                </a:solidFill>
              </a:defRPr>
            </a:pPr>
            <a:r>
              <a:t>12.4. Likvidlilik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55664"/>
            <a:ext cx="11064240" cy="18288"/>
          </a:xfrm>
          <a:prstGeom prst="rect">
            <a:avLst/>
          </a:prstGeom>
          <a:solidFill>
            <a:srgbClr val="DB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19">
                <a:solidFill>
                  <a:srgbClr val="5F6C75"/>
                </a:solidFill>
              </a:defRPr>
            </a:pPr>
            <a:r>
              <a:t>A.N. Xoliqulov — “Turistik korxonalar faoliyati tahlili” | 12-mavzu | 42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1508760"/>
            <a:ext cx="10424160" cy="1920240"/>
          </a:xfrm>
          <a:prstGeom prst="roundRect">
            <a:avLst/>
          </a:prstGeom>
          <a:solidFill>
            <a:srgbClr val="F2F7F8"/>
          </a:solidFill>
          <a:ln>
            <a:solidFill>
              <a:srgbClr val="DBE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856231"/>
            <a:ext cx="9966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122A42"/>
                </a:solidFill>
              </a:defRPr>
            </a:pPr>
            <a:r>
              <a:t>Khar = Zaxira va xarajatlar / O‘z aylanma mablag‘lari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840480"/>
            <a:ext cx="1024128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87A80"/>
                </a:solidFill>
              </a:defRPr>
            </a:pPr>
            <a:r>
              <a:t>Formula</a:t>
            </a:r>
          </a:p>
          <a:p>
            <a:pPr>
              <a:defRPr sz="1700">
                <a:solidFill>
                  <a:srgbClr val="25313A"/>
                </a:solidFill>
              </a:defRPr>
            </a:pPr>
            <a:r>
              <a:t>Kitobda 0,50 dan oshmasligi normal deb izohlanadi. Yuqori qiymat o‘z kapitalining katta qismi erkin harakatlana olmaydigan shaklda ekanini bildiradi.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18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2A42"/>
                </a:solidFill>
              </a:defRPr>
            </a:pPr>
            <a:r>
              <a:t>Umumiy sarmoya harakatchanligi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14400"/>
            <a:ext cx="10789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2DA7AD"/>
                </a:solidFill>
              </a:defRPr>
            </a:pPr>
            <a:r>
              <a:t>12.4. Likvidlilik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55664"/>
            <a:ext cx="11064240" cy="18288"/>
          </a:xfrm>
          <a:prstGeom prst="rect">
            <a:avLst/>
          </a:prstGeom>
          <a:solidFill>
            <a:srgbClr val="DB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19">
                <a:solidFill>
                  <a:srgbClr val="5F6C75"/>
                </a:solidFill>
              </a:defRPr>
            </a:pPr>
            <a:r>
              <a:t>A.N. Xoliqulov — “Turistik korxonalar faoliyati tahlili” | 12-mavzu | 43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1508760"/>
            <a:ext cx="10424160" cy="1920240"/>
          </a:xfrm>
          <a:prstGeom prst="roundRect">
            <a:avLst/>
          </a:prstGeom>
          <a:solidFill>
            <a:srgbClr val="F2F7F8"/>
          </a:solidFill>
          <a:ln>
            <a:solidFill>
              <a:srgbClr val="DBE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856231"/>
            <a:ext cx="9966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122A42"/>
                </a:solidFill>
              </a:defRPr>
            </a:pPr>
            <a:r>
              <a:t>Kum = Joriy aktivlar / Jami sarmoya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840480"/>
            <a:ext cx="1024128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87A80"/>
                </a:solidFill>
              </a:defRPr>
            </a:pPr>
            <a:r>
              <a:t>Formula</a:t>
            </a:r>
          </a:p>
          <a:p>
            <a:pPr>
              <a:defRPr sz="1700">
                <a:solidFill>
                  <a:srgbClr val="25313A"/>
                </a:solidFill>
              </a:defRPr>
            </a:pPr>
            <a:r>
              <a:t>Kitobda 0,60 dan yuqori bo‘lishi normal deb ko‘rsatilgan. Mobil aktivlarning umumiy kapitaldagi ulushini bildiradi.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18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2A42"/>
                </a:solidFill>
              </a:defRPr>
            </a:pPr>
            <a:r>
              <a:t>12.3-jadval: likvidlik koeffitsiyentlari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14400"/>
            <a:ext cx="10789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2DA7AD"/>
                </a:solidFill>
              </a:defRPr>
            </a:pPr>
            <a:r>
              <a:t>12.4. Amaliy tahlil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55664"/>
            <a:ext cx="11064240" cy="18288"/>
          </a:xfrm>
          <a:prstGeom prst="rect">
            <a:avLst/>
          </a:prstGeom>
          <a:solidFill>
            <a:srgbClr val="DB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19">
                <a:solidFill>
                  <a:srgbClr val="5F6C75"/>
                </a:solidFill>
              </a:defRPr>
            </a:pPr>
            <a:r>
              <a:t>A.N. Xoliqulov — “Turistik korxonalar faoliyati tahlili” | 12-mavzu | 44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353312"/>
          <a:ext cx="11155680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31136"/>
                <a:gridCol w="2231136"/>
                <a:gridCol w="2231136"/>
                <a:gridCol w="2231136"/>
                <a:gridCol w="2231136"/>
              </a:tblGrid>
              <a:tr h="746760">
                <a:tc>
                  <a:txBody>
                    <a:bodyPr/>
                    <a:lstStyle/>
                    <a:p>
                      <a:pPr algn="ctr">
                        <a:defRPr sz="1070" b="1">
                          <a:solidFill>
                            <a:srgbClr val="FFFFFF"/>
                          </a:solidFill>
                        </a:defRPr>
                      </a:pPr>
                      <a:r>
                        <a:t>Ko‘rsatkich</a:t>
                      </a:r>
                    </a:p>
                  </a:txBody>
                  <a:tcPr anchor="ctr" marL="27432" marR="27432" marT="18288" marB="18288">
                    <a:solidFill>
                      <a:srgbClr val="122A4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70" b="1">
                          <a:solidFill>
                            <a:srgbClr val="FFFFFF"/>
                          </a:solidFill>
                        </a:defRPr>
                      </a:pPr>
                      <a:r>
                        <a:t>Yil boshida</a:t>
                      </a:r>
                    </a:p>
                  </a:txBody>
                  <a:tcPr anchor="ctr" marL="27432" marR="27432" marT="18288" marB="18288">
                    <a:solidFill>
                      <a:srgbClr val="122A4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70" b="1">
                          <a:solidFill>
                            <a:srgbClr val="FFFFFF"/>
                          </a:solidFill>
                        </a:defRPr>
                      </a:pPr>
                      <a:r>
                        <a:t>Yil oxirida</a:t>
                      </a:r>
                    </a:p>
                  </a:txBody>
                  <a:tcPr anchor="ctr" marL="27432" marR="27432" marT="18288" marB="18288">
                    <a:solidFill>
                      <a:srgbClr val="122A4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70" b="1">
                          <a:solidFill>
                            <a:srgbClr val="FFFFFF"/>
                          </a:solidFill>
                        </a:defRPr>
                      </a:pPr>
                      <a:r>
                        <a:t>Me’yor</a:t>
                      </a:r>
                    </a:p>
                  </a:txBody>
                  <a:tcPr anchor="ctr" marL="27432" marR="27432" marT="18288" marB="18288">
                    <a:solidFill>
                      <a:srgbClr val="122A4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70" b="1">
                          <a:solidFill>
                            <a:srgbClr val="FFFFFF"/>
                          </a:solidFill>
                        </a:defRPr>
                      </a:pPr>
                      <a:r>
                        <a:t>Farq</a:t>
                      </a:r>
                    </a:p>
                  </a:txBody>
                  <a:tcPr anchor="ctr" marL="27432" marR="27432" marT="18288" marB="18288">
                    <a:solidFill>
                      <a:srgbClr val="122A42"/>
                    </a:solidFill>
                  </a:tcPr>
                </a:tc>
              </a:tr>
              <a:tr h="746760">
                <a:tc>
                  <a:txBody>
                    <a:bodyPr/>
                    <a:lstStyle/>
                    <a:p>
                      <a:pPr algn="ctr">
                        <a:defRPr sz="1070" b="0">
                          <a:solidFill>
                            <a:srgbClr val="25313A"/>
                          </a:solidFill>
                        </a:defRPr>
                      </a:pPr>
                      <a:r>
                        <a:t>Qoplash koeffitsiyenti</a:t>
                      </a:r>
                    </a:p>
                  </a:txBody>
                  <a:tcPr anchor="ctr" marL="27432" marR="27432" marT="18288" marB="18288">
                    <a:solidFill>
                      <a:srgbClr val="F2F7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70" b="0">
                          <a:solidFill>
                            <a:srgbClr val="25313A"/>
                          </a:solidFill>
                        </a:defRPr>
                      </a:pPr>
                      <a:r>
                        <a:t>1,90</a:t>
                      </a:r>
                    </a:p>
                  </a:txBody>
                  <a:tcPr anchor="ctr" marL="27432" marR="27432" marT="18288" marB="18288">
                    <a:solidFill>
                      <a:srgbClr val="F2F7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70" b="0">
                          <a:solidFill>
                            <a:srgbClr val="25313A"/>
                          </a:solidFill>
                        </a:defRPr>
                      </a:pPr>
                      <a:r>
                        <a:t>2,10</a:t>
                      </a:r>
                    </a:p>
                  </a:txBody>
                  <a:tcPr anchor="ctr" marL="27432" marR="27432" marT="18288" marB="18288">
                    <a:solidFill>
                      <a:srgbClr val="F2F7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70" b="0">
                          <a:solidFill>
                            <a:srgbClr val="25313A"/>
                          </a:solidFill>
                        </a:defRPr>
                      </a:pPr>
                      <a:r>
                        <a:t>&gt;2,00</a:t>
                      </a:r>
                    </a:p>
                  </a:txBody>
                  <a:tcPr anchor="ctr" marL="27432" marR="27432" marT="18288" marB="18288">
                    <a:solidFill>
                      <a:srgbClr val="F2F7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70" b="0">
                          <a:solidFill>
                            <a:srgbClr val="25313A"/>
                          </a:solidFill>
                        </a:defRPr>
                      </a:pPr>
                      <a:r>
                        <a:t>+0,20</a:t>
                      </a:r>
                    </a:p>
                  </a:txBody>
                  <a:tcPr anchor="ctr" marL="27432" marR="27432" marT="18288" marB="18288">
                    <a:solidFill>
                      <a:srgbClr val="F2F7F8"/>
                    </a:solidFill>
                  </a:tcPr>
                </a:tc>
              </a:tr>
              <a:tr h="746760">
                <a:tc>
                  <a:txBody>
                    <a:bodyPr/>
                    <a:lstStyle/>
                    <a:p>
                      <a:pPr algn="ctr">
                        <a:defRPr sz="1070" b="0">
                          <a:solidFill>
                            <a:srgbClr val="25313A"/>
                          </a:solidFill>
                        </a:defRPr>
                      </a:pPr>
                      <a:r>
                        <a:t>Tez likvidlilik</a:t>
                      </a:r>
                    </a:p>
                  </a:txBody>
                  <a:tcPr anchor="ctr"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70" b="0">
                          <a:solidFill>
                            <a:srgbClr val="25313A"/>
                          </a:solidFill>
                        </a:defRPr>
                      </a:pPr>
                      <a:r>
                        <a:t>0,10</a:t>
                      </a:r>
                    </a:p>
                  </a:txBody>
                  <a:tcPr anchor="ctr"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70" b="0">
                          <a:solidFill>
                            <a:srgbClr val="25313A"/>
                          </a:solidFill>
                        </a:defRPr>
                      </a:pPr>
                      <a:r>
                        <a:t>0,20</a:t>
                      </a:r>
                    </a:p>
                  </a:txBody>
                  <a:tcPr anchor="ctr"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70" b="0">
                          <a:solidFill>
                            <a:srgbClr val="25313A"/>
                          </a:solidFill>
                        </a:defRPr>
                      </a:pPr>
                      <a:r>
                        <a:t>&gt;1,00</a:t>
                      </a:r>
                    </a:p>
                  </a:txBody>
                  <a:tcPr anchor="ctr"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70" b="0">
                          <a:solidFill>
                            <a:srgbClr val="25313A"/>
                          </a:solidFill>
                        </a:defRPr>
                      </a:pPr>
                      <a:r>
                        <a:t>+0,10</a:t>
                      </a:r>
                    </a:p>
                  </a:txBody>
                  <a:tcPr anchor="ctr" marL="27432" marR="27432" marT="18288" marB="18288">
                    <a:solidFill>
                      <a:srgbClr val="FFFFFF"/>
                    </a:solidFill>
                  </a:tcPr>
                </a:tc>
              </a:tr>
              <a:tr h="746760">
                <a:tc>
                  <a:txBody>
                    <a:bodyPr/>
                    <a:lstStyle/>
                    <a:p>
                      <a:pPr algn="ctr">
                        <a:defRPr sz="1070" b="0">
                          <a:solidFill>
                            <a:srgbClr val="25313A"/>
                          </a:solidFill>
                        </a:defRPr>
                      </a:pPr>
                      <a:r>
                        <a:t>Absolyut likvidlilik</a:t>
                      </a:r>
                    </a:p>
                  </a:txBody>
                  <a:tcPr anchor="ctr" marL="27432" marR="27432" marT="18288" marB="18288">
                    <a:solidFill>
                      <a:srgbClr val="F2F7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70" b="0">
                          <a:solidFill>
                            <a:srgbClr val="25313A"/>
                          </a:solidFill>
                        </a:defRPr>
                      </a:pPr>
                      <a:r>
                        <a:t>0,50</a:t>
                      </a:r>
                    </a:p>
                  </a:txBody>
                  <a:tcPr anchor="ctr" marL="27432" marR="27432" marT="18288" marB="18288">
                    <a:solidFill>
                      <a:srgbClr val="F2F7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70" b="0">
                          <a:solidFill>
                            <a:srgbClr val="25313A"/>
                          </a:solidFill>
                        </a:defRPr>
                      </a:pPr>
                      <a:r>
                        <a:t>0,40</a:t>
                      </a:r>
                    </a:p>
                  </a:txBody>
                  <a:tcPr anchor="ctr" marL="27432" marR="27432" marT="18288" marB="18288">
                    <a:solidFill>
                      <a:srgbClr val="F2F7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70" b="0">
                          <a:solidFill>
                            <a:srgbClr val="25313A"/>
                          </a:solidFill>
                        </a:defRPr>
                      </a:pPr>
                      <a:r>
                        <a:t>&gt;0,20</a:t>
                      </a:r>
                    </a:p>
                  </a:txBody>
                  <a:tcPr anchor="ctr" marL="27432" marR="27432" marT="18288" marB="18288">
                    <a:solidFill>
                      <a:srgbClr val="F2F7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70" b="0">
                          <a:solidFill>
                            <a:srgbClr val="25313A"/>
                          </a:solidFill>
                        </a:defRPr>
                      </a:pPr>
                      <a:r>
                        <a:t>−0,10</a:t>
                      </a:r>
                    </a:p>
                  </a:txBody>
                  <a:tcPr anchor="ctr" marL="27432" marR="27432" marT="18288" marB="18288">
                    <a:solidFill>
                      <a:srgbClr val="F2F7F8"/>
                    </a:solidFill>
                  </a:tcPr>
                </a:tc>
              </a:tr>
              <a:tr h="746760">
                <a:tc>
                  <a:txBody>
                    <a:bodyPr/>
                    <a:lstStyle/>
                    <a:p>
                      <a:pPr algn="ctr">
                        <a:defRPr sz="1070" b="0">
                          <a:solidFill>
                            <a:srgbClr val="25313A"/>
                          </a:solidFill>
                        </a:defRPr>
                      </a:pPr>
                      <a:r>
                        <a:t>Sarmoya harakatchanligi</a:t>
                      </a:r>
                    </a:p>
                  </a:txBody>
                  <a:tcPr anchor="ctr"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70" b="0">
                          <a:solidFill>
                            <a:srgbClr val="25313A"/>
                          </a:solidFill>
                        </a:defRPr>
                      </a:pPr>
                      <a:r>
                        <a:t>2,30</a:t>
                      </a:r>
                    </a:p>
                  </a:txBody>
                  <a:tcPr anchor="ctr"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70" b="0">
                          <a:solidFill>
                            <a:srgbClr val="25313A"/>
                          </a:solidFill>
                        </a:defRPr>
                      </a:pPr>
                      <a:r>
                        <a:t>2,00</a:t>
                      </a:r>
                    </a:p>
                  </a:txBody>
                  <a:tcPr anchor="ctr"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70" b="0">
                          <a:solidFill>
                            <a:srgbClr val="25313A"/>
                          </a:solidFill>
                        </a:defRPr>
                      </a:pPr>
                      <a:r>
                        <a:t>≤0,50</a:t>
                      </a:r>
                    </a:p>
                  </a:txBody>
                  <a:tcPr anchor="ctr"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70" b="0">
                          <a:solidFill>
                            <a:srgbClr val="25313A"/>
                          </a:solidFill>
                        </a:defRPr>
                      </a:pPr>
                      <a:r>
                        <a:t>−0,30</a:t>
                      </a:r>
                    </a:p>
                  </a:txBody>
                  <a:tcPr anchor="ctr" marL="27432" marR="27432" marT="18288" marB="18288">
                    <a:solidFill>
                      <a:srgbClr val="FFFFFF"/>
                    </a:solidFill>
                  </a:tcPr>
                </a:tc>
              </a:tr>
              <a:tr h="746760">
                <a:tc>
                  <a:txBody>
                    <a:bodyPr/>
                    <a:lstStyle/>
                    <a:p>
                      <a:pPr algn="ctr">
                        <a:defRPr sz="1070" b="0">
                          <a:solidFill>
                            <a:srgbClr val="25313A"/>
                          </a:solidFill>
                        </a:defRPr>
                      </a:pPr>
                      <a:r>
                        <a:t>Umumiy sarmoya harakatchanligi</a:t>
                      </a:r>
                    </a:p>
                  </a:txBody>
                  <a:tcPr anchor="ctr" marL="27432" marR="27432" marT="18288" marB="18288">
                    <a:solidFill>
                      <a:srgbClr val="F2F7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70" b="0">
                          <a:solidFill>
                            <a:srgbClr val="25313A"/>
                          </a:solidFill>
                        </a:defRPr>
                      </a:pPr>
                      <a:r>
                        <a:t>0,52</a:t>
                      </a:r>
                    </a:p>
                  </a:txBody>
                  <a:tcPr anchor="ctr" marL="27432" marR="27432" marT="18288" marB="18288">
                    <a:solidFill>
                      <a:srgbClr val="F2F7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70" b="0">
                          <a:solidFill>
                            <a:srgbClr val="25313A"/>
                          </a:solidFill>
                        </a:defRPr>
                      </a:pPr>
                      <a:r>
                        <a:t>0,56</a:t>
                      </a:r>
                    </a:p>
                  </a:txBody>
                  <a:tcPr anchor="ctr" marL="27432" marR="27432" marT="18288" marB="18288">
                    <a:solidFill>
                      <a:srgbClr val="F2F7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70" b="0">
                          <a:solidFill>
                            <a:srgbClr val="25313A"/>
                          </a:solidFill>
                        </a:defRPr>
                      </a:pPr>
                      <a:r>
                        <a:t>&gt;0,60</a:t>
                      </a:r>
                    </a:p>
                  </a:txBody>
                  <a:tcPr anchor="ctr" marL="27432" marR="27432" marT="18288" marB="18288">
                    <a:solidFill>
                      <a:srgbClr val="F2F7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70" b="0">
                          <a:solidFill>
                            <a:srgbClr val="25313A"/>
                          </a:solidFill>
                        </a:defRPr>
                      </a:pPr>
                      <a:r>
                        <a:t>+0,04</a:t>
                      </a:r>
                    </a:p>
                  </a:txBody>
                  <a:tcPr anchor="ctr" marL="27432" marR="27432" marT="18288" marB="18288">
                    <a:solidFill>
                      <a:srgbClr val="F2F7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18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2A42"/>
                </a:solidFill>
              </a:defRPr>
            </a:pPr>
            <a:r>
              <a:t>Qoplash koeffitsiyenti yaxshilangan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14400"/>
            <a:ext cx="10789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2DA7AD"/>
                </a:solidFill>
              </a:defRPr>
            </a:pPr>
            <a:r>
              <a:t>12.4. Amaliy tahlil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55664"/>
            <a:ext cx="11064240" cy="18288"/>
          </a:xfrm>
          <a:prstGeom prst="rect">
            <a:avLst/>
          </a:prstGeom>
          <a:solidFill>
            <a:srgbClr val="DB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19">
                <a:solidFill>
                  <a:srgbClr val="5F6C75"/>
                </a:solidFill>
              </a:defRPr>
            </a:pPr>
            <a:r>
              <a:t>A.N. Xoliqulov — “Turistik korxonalar faoliyati tahlili” | 12-mavzu | 45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04088" y="1783080"/>
            <a:ext cx="3474720" cy="2148840"/>
          </a:xfrm>
          <a:prstGeom prst="roundRect">
            <a:avLst/>
          </a:prstGeom>
          <a:solidFill>
            <a:srgbClr val="F2F7F8"/>
          </a:solidFill>
          <a:ln>
            <a:solidFill>
              <a:srgbClr val="DBE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3816" y="1993392"/>
            <a:ext cx="3255264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20" b="1">
                <a:solidFill>
                  <a:srgbClr val="5F6C75"/>
                </a:solidFill>
              </a:defRPr>
            </a:pPr>
            <a:r>
              <a:t>Yil boshida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6" y="2670048"/>
            <a:ext cx="3255264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122A42"/>
                </a:solidFill>
              </a:defRPr>
            </a:pPr>
            <a:r>
              <a:t>1,90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160520"/>
            <a:ext cx="3328416" cy="9875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40">
                <a:solidFill>
                  <a:srgbClr val="25313A"/>
                </a:solidFill>
              </a:defRPr>
            </a:pPr>
            <a:r>
              <a:t>Me’yor ostida.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61688" y="1783080"/>
            <a:ext cx="3474720" cy="2148840"/>
          </a:xfrm>
          <a:prstGeom prst="roundRect">
            <a:avLst/>
          </a:prstGeom>
          <a:solidFill>
            <a:srgbClr val="F2F7F8"/>
          </a:solidFill>
          <a:ln>
            <a:solidFill>
              <a:srgbClr val="DBE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71416" y="1993392"/>
            <a:ext cx="3255264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20" b="1">
                <a:solidFill>
                  <a:srgbClr val="5F6C75"/>
                </a:solidFill>
              </a:defRPr>
            </a:pPr>
            <a:r>
              <a:t>Yil oxirida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71416" y="2670048"/>
            <a:ext cx="3255264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122A42"/>
                </a:solidFill>
              </a:defRPr>
            </a:pPr>
            <a:r>
              <a:t>2,10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34840" y="4160520"/>
            <a:ext cx="3328416" cy="9875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40">
                <a:solidFill>
                  <a:srgbClr val="25313A"/>
                </a:solidFill>
              </a:defRPr>
            </a:pPr>
            <a:r>
              <a:t>Kitobdagi me’yor bo‘yicha qoniqarli.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19288" y="1783080"/>
            <a:ext cx="3474720" cy="2148840"/>
          </a:xfrm>
          <a:prstGeom prst="roundRect">
            <a:avLst/>
          </a:prstGeom>
          <a:solidFill>
            <a:srgbClr val="F2F7F8"/>
          </a:solidFill>
          <a:ln>
            <a:solidFill>
              <a:srgbClr val="DBE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29015" y="1993392"/>
            <a:ext cx="3255264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20" b="1">
                <a:solidFill>
                  <a:srgbClr val="5F6C75"/>
                </a:solidFill>
              </a:defRPr>
            </a:pPr>
            <a:r>
              <a:t>Me’yorga nisbatan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29015" y="2670048"/>
            <a:ext cx="3255264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122A42"/>
                </a:solidFill>
              </a:defRPr>
            </a:pPr>
            <a:r>
              <a:t>+0,10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92440" y="4160520"/>
            <a:ext cx="3328416" cy="9875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40">
                <a:solidFill>
                  <a:srgbClr val="25313A"/>
                </a:solidFill>
              </a:defRPr>
            </a:pPr>
            <a:r>
              <a:t>Aylanma aktivlar joriy majburiyatlarni ikki martadan ko‘proq qoplaydi.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18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2A42"/>
                </a:solidFill>
              </a:defRPr>
            </a:pPr>
            <a:r>
              <a:t>Lekin tez likvidlilik juda past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14400"/>
            <a:ext cx="10789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2DA7AD"/>
                </a:solidFill>
              </a:defRPr>
            </a:pPr>
            <a:r>
              <a:t>12.4. Amaliy tahlil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55664"/>
            <a:ext cx="11064240" cy="18288"/>
          </a:xfrm>
          <a:prstGeom prst="rect">
            <a:avLst/>
          </a:prstGeom>
          <a:solidFill>
            <a:srgbClr val="DB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19">
                <a:solidFill>
                  <a:srgbClr val="5F6C75"/>
                </a:solidFill>
              </a:defRPr>
            </a:pPr>
            <a:r>
              <a:t>A.N. Xoliqulov — “Turistik korxonalar faoliyati tahlili” | 12-mavzu | 46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04088" y="1783080"/>
            <a:ext cx="3474720" cy="2148840"/>
          </a:xfrm>
          <a:prstGeom prst="roundRect">
            <a:avLst/>
          </a:prstGeom>
          <a:solidFill>
            <a:srgbClr val="F2F7F8"/>
          </a:solidFill>
          <a:ln>
            <a:solidFill>
              <a:srgbClr val="DBE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3816" y="1993392"/>
            <a:ext cx="3255264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20" b="1">
                <a:solidFill>
                  <a:srgbClr val="5F6C75"/>
                </a:solidFill>
              </a:defRPr>
            </a:pPr>
            <a:r>
              <a:t>Yil boshida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6" y="2670048"/>
            <a:ext cx="3255264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122A42"/>
                </a:solidFill>
              </a:defRPr>
            </a:pPr>
            <a:r>
              <a:t>0,10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160520"/>
            <a:ext cx="3328416" cy="9875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40">
                <a:solidFill>
                  <a:srgbClr val="25313A"/>
                </a:solidFill>
              </a:defRPr>
            </a:pPr>
            <a:r>
              <a:t>Tezkor aktivlar juda kam.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61688" y="1783080"/>
            <a:ext cx="3474720" cy="2148840"/>
          </a:xfrm>
          <a:prstGeom prst="roundRect">
            <a:avLst/>
          </a:prstGeom>
          <a:solidFill>
            <a:srgbClr val="F2F7F8"/>
          </a:solidFill>
          <a:ln>
            <a:solidFill>
              <a:srgbClr val="DBE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71416" y="1993392"/>
            <a:ext cx="3255264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20" b="1">
                <a:solidFill>
                  <a:srgbClr val="5F6C75"/>
                </a:solidFill>
              </a:defRPr>
            </a:pPr>
            <a:r>
              <a:t>Yil oxirida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71416" y="2670048"/>
            <a:ext cx="3255264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122A42"/>
                </a:solidFill>
              </a:defRPr>
            </a:pPr>
            <a:r>
              <a:t>0,20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34840" y="4160520"/>
            <a:ext cx="3328416" cy="9875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40">
                <a:solidFill>
                  <a:srgbClr val="25313A"/>
                </a:solidFill>
              </a:defRPr>
            </a:pPr>
            <a:r>
              <a:t>Biroz yaxshilangan.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19288" y="1783080"/>
            <a:ext cx="3474720" cy="2148840"/>
          </a:xfrm>
          <a:prstGeom prst="roundRect">
            <a:avLst/>
          </a:prstGeom>
          <a:solidFill>
            <a:srgbClr val="F2F7F8"/>
          </a:solidFill>
          <a:ln>
            <a:solidFill>
              <a:srgbClr val="DBE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29015" y="1993392"/>
            <a:ext cx="3255264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20" b="1">
                <a:solidFill>
                  <a:srgbClr val="5F6C75"/>
                </a:solidFill>
              </a:defRPr>
            </a:pPr>
            <a:r>
              <a:t>Me’yor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29015" y="2670048"/>
            <a:ext cx="3255264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122A42"/>
                </a:solidFill>
              </a:defRPr>
            </a:pPr>
            <a:r>
              <a:t>&gt;1,00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92440" y="4160520"/>
            <a:ext cx="3328416" cy="9875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40">
                <a:solidFill>
                  <a:srgbClr val="25313A"/>
                </a:solidFill>
              </a:defRPr>
            </a:pPr>
            <a:r>
              <a:t>Me’yoriy darajadan ancha past.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18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2A42"/>
                </a:solidFill>
              </a:defRPr>
            </a:pPr>
            <a:r>
              <a:t>Ko‘rsatkichlar nega qarama-qarshi signal bermoqda?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14400"/>
            <a:ext cx="10789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2DA7AD"/>
                </a:solidFill>
              </a:defRPr>
            </a:pPr>
            <a:r>
              <a:t>12.4. Amaliy tahlil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55664"/>
            <a:ext cx="11064240" cy="18288"/>
          </a:xfrm>
          <a:prstGeom prst="rect">
            <a:avLst/>
          </a:prstGeom>
          <a:solidFill>
            <a:srgbClr val="DB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19">
                <a:solidFill>
                  <a:srgbClr val="5F6C75"/>
                </a:solidFill>
              </a:defRPr>
            </a:pPr>
            <a:r>
              <a:t>A.N. Xoliqulov — “Turistik korxonalar faoliyati tahlili” | 12-mavzu | 47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25880"/>
            <a:ext cx="1069848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900">
                <a:solidFill>
                  <a:srgbClr val="25313A"/>
                </a:solidFill>
              </a:defRPr>
            </a:pPr>
            <a:r>
              <a:t>Joriy aktivlar ko‘p, lekin ularning katta qismi zaxira va muddati o‘tgan debitorlikda.</a:t>
            </a:r>
          </a:p>
          <a:p>
            <a:pPr>
              <a:spcAft>
                <a:spcPts val="600"/>
              </a:spcAft>
              <a:defRPr sz="1900">
                <a:solidFill>
                  <a:srgbClr val="25313A"/>
                </a:solidFill>
              </a:defRPr>
            </a:pPr>
            <a:r>
              <a:t>Shu sababli umumiy qoplash koeffitsiyenti yaxshi ko‘rinsa ham, real tezkor to‘lov qobiliyati zaif.</a:t>
            </a:r>
          </a:p>
          <a:p>
            <a:pPr>
              <a:spcAft>
                <a:spcPts val="600"/>
              </a:spcAft>
              <a:defRPr sz="1900">
                <a:solidFill>
                  <a:srgbClr val="25313A"/>
                </a:solidFill>
              </a:defRPr>
            </a:pPr>
            <a:r>
              <a:t>Likvidlikni faqat bitta koeffitsiyent bilan baholash xato.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18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2A42"/>
                </a:solidFill>
              </a:defRPr>
            </a:pPr>
            <a:r>
              <a:t>To‘lov qobiliyatining 2 asosiy belgisi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14400"/>
            <a:ext cx="10789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2DA7AD"/>
                </a:solidFill>
              </a:defRPr>
            </a:pPr>
            <a:r>
              <a:t>12.4. To‘lov qobiliyati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55664"/>
            <a:ext cx="11064240" cy="18288"/>
          </a:xfrm>
          <a:prstGeom prst="rect">
            <a:avLst/>
          </a:prstGeom>
          <a:solidFill>
            <a:srgbClr val="DB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19">
                <a:solidFill>
                  <a:srgbClr val="5F6C75"/>
                </a:solidFill>
              </a:defRPr>
            </a:pPr>
            <a:r>
              <a:t>A.N. Xoliqulov — “Turistik korxonalar faoliyati tahlili” | 12-mavzu | 48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04088" y="1783080"/>
            <a:ext cx="5303520" cy="2148840"/>
          </a:xfrm>
          <a:prstGeom prst="roundRect">
            <a:avLst/>
          </a:prstGeom>
          <a:solidFill>
            <a:srgbClr val="F2F7F8"/>
          </a:solidFill>
          <a:ln>
            <a:solidFill>
              <a:srgbClr val="DBE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3816" y="1993392"/>
            <a:ext cx="5084064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20" b="1">
                <a:solidFill>
                  <a:srgbClr val="5F6C75"/>
                </a:solidFill>
              </a:defRPr>
            </a:pPr>
            <a:r>
              <a:t>Yetarli pul mavjudligi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6" y="2670048"/>
            <a:ext cx="5084064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122A42"/>
                </a:solidFill>
              </a:defRPr>
            </a:pPr>
            <a:r>
              <a:t>BOR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160520"/>
            <a:ext cx="5157216" cy="9875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40">
                <a:solidFill>
                  <a:srgbClr val="25313A"/>
                </a:solidFill>
              </a:defRPr>
            </a:pPr>
            <a:r>
              <a:t>Kreditorlik majburiyatlarini belgilangan muddatda to‘lash uchun yetarli pul va ekvivalentlar bo‘lishi kerak.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0488" y="1783080"/>
            <a:ext cx="5303520" cy="2148840"/>
          </a:xfrm>
          <a:prstGeom prst="roundRect">
            <a:avLst/>
          </a:prstGeom>
          <a:solidFill>
            <a:srgbClr val="F2F7F8"/>
          </a:solidFill>
          <a:ln>
            <a:solidFill>
              <a:srgbClr val="DBE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0216" y="1993392"/>
            <a:ext cx="5084064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20" b="1">
                <a:solidFill>
                  <a:srgbClr val="5F6C75"/>
                </a:solidFill>
              </a:defRPr>
            </a:pPr>
            <a:r>
              <a:t>Muddati o‘tgan qarzlar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0216" y="2670048"/>
            <a:ext cx="5084064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122A42"/>
                </a:solidFill>
              </a:defRPr>
            </a:pPr>
            <a:r>
              <a:t>YO‘Q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63640" y="4160520"/>
            <a:ext cx="5157216" cy="9875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40">
                <a:solidFill>
                  <a:srgbClr val="25313A"/>
                </a:solidFill>
              </a:defRPr>
            </a:pPr>
            <a:r>
              <a:t>Muddati o‘tgan kreditorlik qarzi bo‘lmasligi to‘lov qobiliyatining muhim belgisi.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18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2A42"/>
                </a:solidFill>
              </a:defRPr>
            </a:pPr>
            <a:r>
              <a:t>To‘lov koeffitsiyentlari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14400"/>
            <a:ext cx="10789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2DA7AD"/>
                </a:solidFill>
              </a:defRPr>
            </a:pPr>
            <a:r>
              <a:t>12.4. To‘lov qobiliyati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55664"/>
            <a:ext cx="11064240" cy="18288"/>
          </a:xfrm>
          <a:prstGeom prst="rect">
            <a:avLst/>
          </a:prstGeom>
          <a:solidFill>
            <a:srgbClr val="DB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19">
                <a:solidFill>
                  <a:srgbClr val="5F6C75"/>
                </a:solidFill>
              </a:defRPr>
            </a:pPr>
            <a:r>
              <a:t>A.N. Xoliqulov — “Turistik korxonalar faoliyati tahlili” | 12-mavzu | 49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25880"/>
            <a:ext cx="1069848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50">
                <a:solidFill>
                  <a:srgbClr val="25313A"/>
                </a:solidFill>
              </a:defRPr>
            </a:pPr>
            <a:r>
              <a:t>Eng shoshilinch majburiyatlarni to‘lash koeffitsiyenti = Eng likvid aktivlar / Eng shoshilinch majburiyatlar</a:t>
            </a:r>
          </a:p>
          <a:p>
            <a:pPr>
              <a:spcAft>
                <a:spcPts val="600"/>
              </a:spcAft>
              <a:defRPr sz="1750">
                <a:solidFill>
                  <a:srgbClr val="25313A"/>
                </a:solidFill>
              </a:defRPr>
            </a:pPr>
            <a:r>
              <a:t>Qisqa muddatli passivlarni to‘lash koeffitsiyenti = Tez sotiladigan aktivlar / Qisqa muddatli passivlar</a:t>
            </a:r>
          </a:p>
          <a:p>
            <a:pPr>
              <a:spcAft>
                <a:spcPts val="600"/>
              </a:spcAft>
              <a:defRPr sz="1750">
                <a:solidFill>
                  <a:srgbClr val="25313A"/>
                </a:solidFill>
              </a:defRPr>
            </a:pPr>
            <a:r>
              <a:t>Uzoq muddatli passivlarni to‘lash koeffitsiyenti = Sekin sotiladigan aktivlar / Uzoq muddatli passivlar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18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2A42"/>
                </a:solidFill>
              </a:defRPr>
            </a:pPr>
            <a:r>
              <a:t>12.4-jadval: “Turon” firmasining likvidlik balansi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14400"/>
            <a:ext cx="10789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2DA7AD"/>
                </a:solidFill>
              </a:defRPr>
            </a:pPr>
            <a:r>
              <a:t>12.4. Amaliy tahlil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55664"/>
            <a:ext cx="11064240" cy="18288"/>
          </a:xfrm>
          <a:prstGeom prst="rect">
            <a:avLst/>
          </a:prstGeom>
          <a:solidFill>
            <a:srgbClr val="DB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19">
                <a:solidFill>
                  <a:srgbClr val="5F6C75"/>
                </a:solidFill>
              </a:defRPr>
            </a:pPr>
            <a:r>
              <a:t>A.N. Xoliqulov — “Turistik korxonalar faoliyati tahlili” | 12-mavzu | 50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94360" y="1417320"/>
          <a:ext cx="1097280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  <a:gridCol w="2743200"/>
              </a:tblGrid>
              <a:tr h="841248">
                <a:tc>
                  <a:txBody>
                    <a:bodyPr/>
                    <a:lstStyle/>
                    <a:p>
                      <a:pPr algn="ctr">
                        <a:defRPr sz="1130" b="1">
                          <a:solidFill>
                            <a:srgbClr val="FFFFFF"/>
                          </a:solidFill>
                        </a:defRPr>
                      </a:pPr>
                      <a:r>
                        <a:t>Guruh</a:t>
                      </a:r>
                    </a:p>
                  </a:txBody>
                  <a:tcPr anchor="ctr" marL="27432" marR="27432" marT="18288" marB="18288">
                    <a:solidFill>
                      <a:srgbClr val="122A4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30" b="1">
                          <a:solidFill>
                            <a:srgbClr val="FFFFFF"/>
                          </a:solidFill>
                        </a:defRPr>
                      </a:pPr>
                      <a:r>
                        <a:t>Aktiv: yil oxiri</a:t>
                      </a:r>
                    </a:p>
                  </a:txBody>
                  <a:tcPr anchor="ctr" marL="27432" marR="27432" marT="18288" marB="18288">
                    <a:solidFill>
                      <a:srgbClr val="122A4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30" b="1">
                          <a:solidFill>
                            <a:srgbClr val="FFFFFF"/>
                          </a:solidFill>
                        </a:defRPr>
                      </a:pPr>
                      <a:r>
                        <a:t>Passiv: yil oxiri</a:t>
                      </a:r>
                    </a:p>
                  </a:txBody>
                  <a:tcPr anchor="ctr" marL="27432" marR="27432" marT="18288" marB="18288">
                    <a:solidFill>
                      <a:srgbClr val="122A4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30" b="1">
                          <a:solidFill>
                            <a:srgbClr val="FFFFFF"/>
                          </a:solidFill>
                        </a:defRPr>
                      </a:pPr>
                      <a:r>
                        <a:t>Natija</a:t>
                      </a:r>
                    </a:p>
                  </a:txBody>
                  <a:tcPr anchor="ctr" marL="27432" marR="27432" marT="18288" marB="18288">
                    <a:solidFill>
                      <a:srgbClr val="122A42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 algn="ctr">
                        <a:defRPr sz="1130" b="0">
                          <a:solidFill>
                            <a:srgbClr val="25313A"/>
                          </a:solidFill>
                        </a:defRPr>
                      </a:pPr>
                      <a:r>
                        <a:t>Eng likvid / P1</a:t>
                      </a:r>
                    </a:p>
                  </a:txBody>
                  <a:tcPr anchor="ctr" marL="27432" marR="27432" marT="18288" marB="18288">
                    <a:solidFill>
                      <a:srgbClr val="F2F7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30" b="0">
                          <a:solidFill>
                            <a:srgbClr val="25313A"/>
                          </a:solidFill>
                        </a:defRPr>
                      </a:pPr>
                      <a:r>
                        <a:t>304</a:t>
                      </a:r>
                    </a:p>
                  </a:txBody>
                  <a:tcPr anchor="ctr" marL="27432" marR="27432" marT="18288" marB="18288">
                    <a:solidFill>
                      <a:srgbClr val="F2F7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30" b="0">
                          <a:solidFill>
                            <a:srgbClr val="25313A"/>
                          </a:solidFill>
                        </a:defRPr>
                      </a:pPr>
                      <a:r>
                        <a:t>6 140</a:t>
                      </a:r>
                    </a:p>
                  </a:txBody>
                  <a:tcPr anchor="ctr" marL="27432" marR="27432" marT="18288" marB="18288">
                    <a:solidFill>
                      <a:srgbClr val="F2F7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30" b="0">
                          <a:solidFill>
                            <a:srgbClr val="25313A"/>
                          </a:solidFill>
                        </a:defRPr>
                      </a:pPr>
                      <a:r>
                        <a:t>yetishmaydi</a:t>
                      </a:r>
                    </a:p>
                  </a:txBody>
                  <a:tcPr anchor="ctr" marL="27432" marR="27432" marT="18288" marB="18288">
                    <a:solidFill>
                      <a:srgbClr val="F2F7F8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 algn="ctr">
                        <a:defRPr sz="1130" b="0">
                          <a:solidFill>
                            <a:srgbClr val="25313A"/>
                          </a:solidFill>
                        </a:defRPr>
                      </a:pPr>
                      <a:r>
                        <a:t>Tez sotiladigan / P2</a:t>
                      </a:r>
                    </a:p>
                  </a:txBody>
                  <a:tcPr anchor="ctr"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30" b="0">
                          <a:solidFill>
                            <a:srgbClr val="25313A"/>
                          </a:solidFill>
                        </a:defRPr>
                      </a:pPr>
                      <a:r>
                        <a:t>1 249</a:t>
                      </a:r>
                    </a:p>
                  </a:txBody>
                  <a:tcPr anchor="ctr"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30" b="0">
                          <a:solidFill>
                            <a:srgbClr val="25313A"/>
                          </a:solidFill>
                        </a:defRPr>
                      </a:pPr>
                      <a:r>
                        <a:t>1 820</a:t>
                      </a:r>
                    </a:p>
                  </a:txBody>
                  <a:tcPr anchor="ctr"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30" b="0">
                          <a:solidFill>
                            <a:srgbClr val="25313A"/>
                          </a:solidFill>
                        </a:defRPr>
                      </a:pPr>
                      <a:r>
                        <a:t>yetishmaydi</a:t>
                      </a:r>
                    </a:p>
                  </a:txBody>
                  <a:tcPr anchor="ctr" marL="27432" marR="27432" marT="18288" marB="18288">
                    <a:solidFill>
                      <a:srgbClr val="FFFFFF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 algn="ctr">
                        <a:defRPr sz="1130" b="0">
                          <a:solidFill>
                            <a:srgbClr val="25313A"/>
                          </a:solidFill>
                        </a:defRPr>
                      </a:pPr>
                      <a:r>
                        <a:t>Sekin sotiladigan / P3</a:t>
                      </a:r>
                    </a:p>
                  </a:txBody>
                  <a:tcPr anchor="ctr" marL="27432" marR="27432" marT="18288" marB="18288">
                    <a:solidFill>
                      <a:srgbClr val="F2F7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30" b="0">
                          <a:solidFill>
                            <a:srgbClr val="25313A"/>
                          </a:solidFill>
                        </a:defRPr>
                      </a:pPr>
                      <a:r>
                        <a:t>12 688</a:t>
                      </a:r>
                    </a:p>
                  </a:txBody>
                  <a:tcPr anchor="ctr" marL="27432" marR="27432" marT="18288" marB="18288">
                    <a:solidFill>
                      <a:srgbClr val="F2F7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30" b="0">
                          <a:solidFill>
                            <a:srgbClr val="25313A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 anchor="ctr" marL="27432" marR="27432" marT="18288" marB="18288">
                    <a:solidFill>
                      <a:srgbClr val="F2F7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30" b="0">
                          <a:solidFill>
                            <a:srgbClr val="25313A"/>
                          </a:solidFill>
                        </a:defRPr>
                      </a:pPr>
                      <a:r>
                        <a:t>ortiqcha</a:t>
                      </a:r>
                    </a:p>
                  </a:txBody>
                  <a:tcPr anchor="ctr" marL="27432" marR="27432" marT="18288" marB="18288">
                    <a:solidFill>
                      <a:srgbClr val="F2F7F8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 algn="ctr">
                        <a:defRPr sz="1130" b="0">
                          <a:solidFill>
                            <a:srgbClr val="25313A"/>
                          </a:solidFill>
                        </a:defRPr>
                      </a:pPr>
                      <a:r>
                        <a:t>Qiyin sotiladigan / P4</a:t>
                      </a:r>
                    </a:p>
                  </a:txBody>
                  <a:tcPr anchor="ctr"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30" b="0">
                          <a:solidFill>
                            <a:srgbClr val="25313A"/>
                          </a:solidFill>
                        </a:defRPr>
                      </a:pPr>
                      <a:r>
                        <a:t>15 296</a:t>
                      </a:r>
                    </a:p>
                  </a:txBody>
                  <a:tcPr anchor="ctr"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30" b="0">
                          <a:solidFill>
                            <a:srgbClr val="25313A"/>
                          </a:solidFill>
                        </a:defRPr>
                      </a:pPr>
                      <a:r>
                        <a:t>21 708</a:t>
                      </a:r>
                    </a:p>
                  </a:txBody>
                  <a:tcPr anchor="ctr"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30" b="0">
                          <a:solidFill>
                            <a:srgbClr val="25313A"/>
                          </a:solidFill>
                        </a:defRPr>
                      </a:pPr>
                      <a:r>
                        <a:t>P4 ustun</a:t>
                      </a:r>
                    </a:p>
                  </a:txBody>
                  <a:tcPr anchor="ctr" marL="27432" marR="27432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18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2A42"/>
                </a:solidFill>
              </a:defRPr>
            </a:pPr>
            <a:r>
              <a:t>“Turon”: yaqin muddatdagi to‘lov qobiliyati yetarli emas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14400"/>
            <a:ext cx="10789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2DA7AD"/>
                </a:solidFill>
              </a:defRPr>
            </a:pPr>
            <a:r>
              <a:t>12.4. Amaliy tahlil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55664"/>
            <a:ext cx="11064240" cy="18288"/>
          </a:xfrm>
          <a:prstGeom prst="rect">
            <a:avLst/>
          </a:prstGeom>
          <a:solidFill>
            <a:srgbClr val="DB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19">
                <a:solidFill>
                  <a:srgbClr val="5F6C75"/>
                </a:solidFill>
              </a:defRPr>
            </a:pPr>
            <a:r>
              <a:t>A.N. Xoliqulov — “Turistik korxonalar faoliyati tahlili” | 12-mavzu | 51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25880"/>
            <a:ext cx="1069848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25313A"/>
                </a:solidFill>
              </a:defRPr>
            </a:pPr>
            <a:r>
              <a:t>Eng likvid aktivlar eng shoshilinch majburiyatlarni qoplay olmaydi.</a:t>
            </a:r>
          </a:p>
          <a:p>
            <a:pPr>
              <a:spcAft>
                <a:spcPts val="600"/>
              </a:spcAft>
              <a:defRPr sz="1800">
                <a:solidFill>
                  <a:srgbClr val="25313A"/>
                </a:solidFill>
              </a:defRPr>
            </a:pPr>
            <a:r>
              <a:t>Tez sotiladigan aktivlar ham qisqa muddatli passivlardan kam.</a:t>
            </a:r>
          </a:p>
          <a:p>
            <a:pPr>
              <a:spcAft>
                <a:spcPts val="600"/>
              </a:spcAft>
              <a:defRPr sz="1800">
                <a:solidFill>
                  <a:srgbClr val="25313A"/>
                </a:solidFill>
              </a:defRPr>
            </a:pPr>
            <a:r>
              <a:t>Sekin sotiladigan aktivlar uzoq muddatli majburiyatlarni qoplash salohiyatiga ega.</a:t>
            </a:r>
          </a:p>
          <a:p>
            <a:pPr>
              <a:spcAft>
                <a:spcPts val="600"/>
              </a:spcAft>
              <a:defRPr sz="1800">
                <a:solidFill>
                  <a:srgbClr val="25313A"/>
                </a:solidFill>
              </a:defRPr>
            </a:pPr>
            <a:r>
              <a:t>Muallif firma umumiy ma’noda likvid, ammo ayni paytda to‘lovga qobiliyatli emas degan xulosaga keladi.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18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2A42"/>
                </a:solidFill>
              </a:defRPr>
            </a:pPr>
            <a:r>
              <a:t>Normativ yangilanish: “bankrotlik”dan “to‘lovga qobiliyatsizlik”ka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14400"/>
            <a:ext cx="10789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2DA7AD"/>
                </a:solidFill>
              </a:defRPr>
            </a:pPr>
            <a:r>
              <a:t>Normativ yangilanish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55664"/>
            <a:ext cx="11064240" cy="18288"/>
          </a:xfrm>
          <a:prstGeom prst="rect">
            <a:avLst/>
          </a:prstGeom>
          <a:solidFill>
            <a:srgbClr val="DB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19">
                <a:solidFill>
                  <a:srgbClr val="5F6C75"/>
                </a:solidFill>
              </a:defRPr>
            </a:pPr>
            <a:r>
              <a:t>A.N. Xoliqulov — “Turistik korxonalar faoliyati tahlili” | 12-mavzu | 52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25880"/>
            <a:ext cx="1069848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70">
                <a:solidFill>
                  <a:srgbClr val="25313A"/>
                </a:solidFill>
              </a:defRPr>
            </a:pPr>
            <a:r>
              <a:t>Kitobda 1998-yildagi “Bankrotlik to‘g‘risida”gi qonunga havola berilgan.</a:t>
            </a:r>
          </a:p>
          <a:p>
            <a:pPr>
              <a:spcAft>
                <a:spcPts val="600"/>
              </a:spcAft>
              <a:defRPr sz="1670">
                <a:solidFill>
                  <a:srgbClr val="25313A"/>
                </a:solidFill>
              </a:defRPr>
            </a:pPr>
            <a:r>
              <a:t>Amaldagi asosiy hujjat — 2022-yil 12-apreldagi O‘RQ-763-son “To‘lovga qobiliyatsizlik to‘g‘risida”gi Qonun.</a:t>
            </a:r>
          </a:p>
          <a:p>
            <a:pPr>
              <a:spcAft>
                <a:spcPts val="600"/>
              </a:spcAft>
              <a:defRPr sz="1670">
                <a:solidFill>
                  <a:srgbClr val="25313A"/>
                </a:solidFill>
              </a:defRPr>
            </a:pPr>
            <a:r>
              <a:t>2026-yil 6-maydagi PF-78-son Farmon bilan to‘lovga qobiliyatsizlik institutini yanada takomillashtirish bo‘yicha qo‘shimcha choralar belgilangan.</a:t>
            </a:r>
          </a:p>
          <a:p>
            <a:pPr>
              <a:spcAft>
                <a:spcPts val="600"/>
              </a:spcAft>
              <a:defRPr sz="1670">
                <a:solidFill>
                  <a:srgbClr val="25313A"/>
                </a:solidFill>
              </a:defRPr>
            </a:pPr>
            <a:r>
              <a:t>Shuning uchun amaliy huquqiy baholashda eski “bankrotlik” me’yorlari emas, amaldagi to‘lovga qobiliyatsizlik qonunchiligiga tayanish kerak.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18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2A42"/>
                </a:solidFill>
              </a:defRPr>
            </a:pPr>
            <a:r>
              <a:t>Likvidlik va to‘lov qobiliyatini yaxshilash yo‘llari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14400"/>
            <a:ext cx="10789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2DA7AD"/>
                </a:solidFill>
              </a:defRPr>
            </a:pPr>
            <a:r>
              <a:t>Boshqaruv tavsiyalari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55664"/>
            <a:ext cx="11064240" cy="18288"/>
          </a:xfrm>
          <a:prstGeom prst="rect">
            <a:avLst/>
          </a:prstGeom>
          <a:solidFill>
            <a:srgbClr val="DB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19">
                <a:solidFill>
                  <a:srgbClr val="5F6C75"/>
                </a:solidFill>
              </a:defRPr>
            </a:pPr>
            <a:r>
              <a:t>A.N. Xoliqulov — “Turistik korxonalar faoliyati tahlili” | 12-mavzu | 53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25880"/>
            <a:ext cx="1069848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50">
                <a:solidFill>
                  <a:srgbClr val="25313A"/>
                </a:solidFill>
              </a:defRPr>
            </a:pPr>
            <a:r>
              <a:t>Mahsulot va xizmatlarni sotish hajmini ko‘paytirish</a:t>
            </a:r>
          </a:p>
          <a:p>
            <a:pPr>
              <a:spcAft>
                <a:spcPts val="600"/>
              </a:spcAft>
              <a:defRPr sz="1750">
                <a:solidFill>
                  <a:srgbClr val="25313A"/>
                </a:solidFill>
              </a:defRPr>
            </a:pPr>
            <a:r>
              <a:t>Tugallanmagan ishlab chiqarish va tayyor mahsulot qoldiqlarini qisqartirish</a:t>
            </a:r>
          </a:p>
          <a:p>
            <a:pPr>
              <a:spcAft>
                <a:spcPts val="600"/>
              </a:spcAft>
              <a:defRPr sz="1750">
                <a:solidFill>
                  <a:srgbClr val="25313A"/>
                </a:solidFill>
              </a:defRPr>
            </a:pPr>
            <a:r>
              <a:t>Debitorlik va kreditorlik qarzlarini kamaytirish</a:t>
            </a:r>
          </a:p>
          <a:p>
            <a:pPr>
              <a:spcAft>
                <a:spcPts val="600"/>
              </a:spcAft>
              <a:defRPr sz="1750">
                <a:solidFill>
                  <a:srgbClr val="25313A"/>
                </a:solidFill>
              </a:defRPr>
            </a:pPr>
            <a:r>
              <a:t>Muddati o‘tgan qarzlarni o‘z vaqtida undirish va to‘lash</a:t>
            </a:r>
          </a:p>
          <a:p>
            <a:pPr>
              <a:spcAft>
                <a:spcPts val="600"/>
              </a:spcAft>
              <a:defRPr sz="1750">
                <a:solidFill>
                  <a:srgbClr val="25313A"/>
                </a:solidFill>
              </a:defRPr>
            </a:pPr>
            <a:r>
              <a:t>Joriy aktivlardagi o‘z aylanma mablag‘lari ulushini oshirish</a:t>
            </a:r>
          </a:p>
          <a:p>
            <a:pPr>
              <a:spcAft>
                <a:spcPts val="600"/>
              </a:spcAft>
              <a:defRPr sz="1750">
                <a:solidFill>
                  <a:srgbClr val="25313A"/>
                </a:solidFill>
              </a:defRPr>
            </a:pPr>
            <a:r>
              <a:t>Aylanma mablag‘lar aylanish tezligini oshirish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18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2A42"/>
                </a:solidFill>
              </a:defRPr>
            </a:pPr>
            <a:r>
              <a:t>Mustaqil topshiriq: moliyaviy barqarorlik koeffitsiyentlari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14400"/>
            <a:ext cx="10789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2DA7AD"/>
                </a:solidFill>
              </a:defRPr>
            </a:pPr>
            <a:r>
              <a:t>Mustahkamlash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55664"/>
            <a:ext cx="11064240" cy="18288"/>
          </a:xfrm>
          <a:prstGeom prst="rect">
            <a:avLst/>
          </a:prstGeom>
          <a:solidFill>
            <a:srgbClr val="DB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19">
                <a:solidFill>
                  <a:srgbClr val="5F6C75"/>
                </a:solidFill>
              </a:defRPr>
            </a:pPr>
            <a:r>
              <a:t>A.N. Xoliqulov — “Turistik korxonalar faoliyati tahlili” | 12-mavzu | 54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25880"/>
            <a:ext cx="1069848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25313A"/>
                </a:solidFill>
              </a:defRPr>
            </a:pPr>
            <a:r>
              <a:t>Moliyaviy mustaqillik koeffitsiyenti</a:t>
            </a:r>
          </a:p>
          <a:p>
            <a:pPr>
              <a:spcAft>
                <a:spcPts val="600"/>
              </a:spcAft>
              <a:defRPr sz="1700">
                <a:solidFill>
                  <a:srgbClr val="25313A"/>
                </a:solidFill>
              </a:defRPr>
            </a:pPr>
            <a:r>
              <a:t>Moliyaviy qaramlik koeffitsiyenti</a:t>
            </a:r>
          </a:p>
          <a:p>
            <a:pPr>
              <a:spcAft>
                <a:spcPts val="600"/>
              </a:spcAft>
              <a:defRPr sz="1700">
                <a:solidFill>
                  <a:srgbClr val="25313A"/>
                </a:solidFill>
              </a:defRPr>
            </a:pPr>
            <a:r>
              <a:t>Moliyaviy barqarorlik koeffitsiyenti</a:t>
            </a:r>
          </a:p>
          <a:p>
            <a:pPr>
              <a:spcAft>
                <a:spcPts val="600"/>
              </a:spcAft>
              <a:defRPr sz="1700">
                <a:solidFill>
                  <a:srgbClr val="25313A"/>
                </a:solidFill>
              </a:defRPr>
            </a:pPr>
            <a:r>
              <a:t>Qarzga olingan va o‘z mablag‘lari nisbati</a:t>
            </a:r>
          </a:p>
          <a:p>
            <a:pPr>
              <a:spcAft>
                <a:spcPts val="600"/>
              </a:spcAft>
              <a:defRPr sz="1700">
                <a:solidFill>
                  <a:srgbClr val="25313A"/>
                </a:solidFill>
              </a:defRPr>
            </a:pPr>
            <a:r>
              <a:t>Amortizatsiyani jamg‘arish koeffitsiyenti</a:t>
            </a:r>
          </a:p>
          <a:p>
            <a:pPr>
              <a:spcAft>
                <a:spcPts val="600"/>
              </a:spcAft>
              <a:defRPr sz="1700">
                <a:solidFill>
                  <a:srgbClr val="25313A"/>
                </a:solidFill>
              </a:defRPr>
            </a:pPr>
            <a:r>
              <a:t>O‘z aylanma mablag‘lari bilan ta’minlanish koeffitsiyenti</a:t>
            </a:r>
          </a:p>
          <a:p>
            <a:pPr>
              <a:spcAft>
                <a:spcPts val="600"/>
              </a:spcAft>
              <a:defRPr sz="1700">
                <a:solidFill>
                  <a:srgbClr val="25313A"/>
                </a:solidFill>
              </a:defRPr>
            </a:pPr>
            <a:r>
              <a:t>O‘z-o‘zini moliyalashtirish va uzoq muddatli qarz ko‘rsatkichlari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18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2A42"/>
                </a:solidFill>
              </a:defRPr>
            </a:pPr>
            <a:r>
              <a:t>Mustaqil topshiriq: balans likvidligini guruhlash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14400"/>
            <a:ext cx="10789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2DA7AD"/>
                </a:solidFill>
              </a:defRPr>
            </a:pPr>
            <a:r>
              <a:t>Mustahkamlash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55664"/>
            <a:ext cx="11064240" cy="18288"/>
          </a:xfrm>
          <a:prstGeom prst="rect">
            <a:avLst/>
          </a:prstGeom>
          <a:solidFill>
            <a:srgbClr val="DB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19">
                <a:solidFill>
                  <a:srgbClr val="5F6C75"/>
                </a:solidFill>
              </a:defRPr>
            </a:pPr>
            <a:r>
              <a:t>A.N. Xoliqulov — “Turistik korxonalar faoliyati tahlili” | 12-mavzu | 55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25880"/>
            <a:ext cx="1069848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50">
                <a:solidFill>
                  <a:srgbClr val="25313A"/>
                </a:solidFill>
              </a:defRPr>
            </a:pPr>
            <a:r>
              <a:t>A1 — o‘ta tez pulga aylanadigan aktivlar</a:t>
            </a:r>
          </a:p>
          <a:p>
            <a:pPr>
              <a:spcAft>
                <a:spcPts val="600"/>
              </a:spcAft>
              <a:defRPr sz="1650">
                <a:solidFill>
                  <a:srgbClr val="25313A"/>
                </a:solidFill>
              </a:defRPr>
            </a:pPr>
            <a:r>
              <a:t>A2 — tez sotiladigan aktivlar</a:t>
            </a:r>
          </a:p>
          <a:p>
            <a:pPr>
              <a:spcAft>
                <a:spcPts val="600"/>
              </a:spcAft>
              <a:defRPr sz="1650">
                <a:solidFill>
                  <a:srgbClr val="25313A"/>
                </a:solidFill>
              </a:defRPr>
            </a:pPr>
            <a:r>
              <a:t>A3 — sekin sotiladigan aktivlar</a:t>
            </a:r>
          </a:p>
          <a:p>
            <a:pPr>
              <a:spcAft>
                <a:spcPts val="600"/>
              </a:spcAft>
              <a:defRPr sz="1650">
                <a:solidFill>
                  <a:srgbClr val="25313A"/>
                </a:solidFill>
              </a:defRPr>
            </a:pPr>
            <a:r>
              <a:t>A4 — qiyin sotiladigan aktivlar</a:t>
            </a:r>
          </a:p>
          <a:p>
            <a:pPr>
              <a:spcAft>
                <a:spcPts val="600"/>
              </a:spcAft>
              <a:defRPr sz="1650">
                <a:solidFill>
                  <a:srgbClr val="25313A"/>
                </a:solidFill>
              </a:defRPr>
            </a:pPr>
            <a:r>
              <a:t>P1 — zudlik bilan to‘lanadigan majburiyatlar</a:t>
            </a:r>
          </a:p>
          <a:p>
            <a:pPr>
              <a:spcAft>
                <a:spcPts val="600"/>
              </a:spcAft>
              <a:defRPr sz="1650">
                <a:solidFill>
                  <a:srgbClr val="25313A"/>
                </a:solidFill>
              </a:defRPr>
            </a:pPr>
            <a:r>
              <a:t>P2 — qisqa muddatli majburiyatlar</a:t>
            </a:r>
          </a:p>
          <a:p>
            <a:pPr>
              <a:spcAft>
                <a:spcPts val="600"/>
              </a:spcAft>
              <a:defRPr sz="1650">
                <a:solidFill>
                  <a:srgbClr val="25313A"/>
                </a:solidFill>
              </a:defRPr>
            </a:pPr>
            <a:r>
              <a:t>P3 — uzoq muddatli majburiyatlar</a:t>
            </a:r>
          </a:p>
          <a:p>
            <a:pPr>
              <a:spcAft>
                <a:spcPts val="600"/>
              </a:spcAft>
              <a:defRPr sz="1650">
                <a:solidFill>
                  <a:srgbClr val="25313A"/>
                </a:solidFill>
              </a:defRPr>
            </a:pPr>
            <a:r>
              <a:t>P4 — doimiy passivlar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18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2A42"/>
                </a:solidFill>
              </a:defRPr>
            </a:pPr>
            <a:r>
              <a:t>Mustaqil topshiriq: to‘lov qobiliyati koeffitsiyentlari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14400"/>
            <a:ext cx="10789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2DA7AD"/>
                </a:solidFill>
              </a:defRPr>
            </a:pPr>
            <a:r>
              <a:t>Mustahkamlash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55664"/>
            <a:ext cx="11064240" cy="18288"/>
          </a:xfrm>
          <a:prstGeom prst="rect">
            <a:avLst/>
          </a:prstGeom>
          <a:solidFill>
            <a:srgbClr val="DB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19">
                <a:solidFill>
                  <a:srgbClr val="5F6C75"/>
                </a:solidFill>
              </a:defRPr>
            </a:pPr>
            <a:r>
              <a:t>A.N. Xoliqulov — “Turistik korxonalar faoliyati tahlili” | 12-mavzu | 56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25880"/>
            <a:ext cx="1069848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25313A"/>
                </a:solidFill>
              </a:defRPr>
            </a:pPr>
            <a:r>
              <a:t>Mutlaq to‘lov qobiliyati koeffitsiyenti</a:t>
            </a:r>
          </a:p>
          <a:p>
            <a:pPr>
              <a:spcAft>
                <a:spcPts val="600"/>
              </a:spcAft>
              <a:defRPr sz="1700">
                <a:solidFill>
                  <a:srgbClr val="25313A"/>
                </a:solidFill>
              </a:defRPr>
            </a:pPr>
            <a:r>
              <a:t>Oraliq (muddatli) to‘lov qobiliyati koeffitsiyenti</a:t>
            </a:r>
          </a:p>
          <a:p>
            <a:pPr>
              <a:spcAft>
                <a:spcPts val="600"/>
              </a:spcAft>
              <a:defRPr sz="1700">
                <a:solidFill>
                  <a:srgbClr val="25313A"/>
                </a:solidFill>
              </a:defRPr>
            </a:pPr>
            <a:r>
              <a:t>Joriy (umumiy) to‘lov qobiliyati koeffitsiyenti</a:t>
            </a:r>
          </a:p>
          <a:p>
            <a:pPr>
              <a:spcAft>
                <a:spcPts val="600"/>
              </a:spcAft>
              <a:defRPr sz="1700">
                <a:solidFill>
                  <a:srgbClr val="25313A"/>
                </a:solidFill>
              </a:defRPr>
            </a:pPr>
            <a:r>
              <a:t>Qoplash koeffitsiyenti</a:t>
            </a:r>
          </a:p>
          <a:p>
            <a:pPr>
              <a:spcAft>
                <a:spcPts val="600"/>
              </a:spcAft>
              <a:defRPr sz="1700">
                <a:solidFill>
                  <a:srgbClr val="25313A"/>
                </a:solidFill>
              </a:defRPr>
            </a:pPr>
            <a:r>
              <a:t>Debitorlik va kreditorlik qarzlari nisbati</a:t>
            </a:r>
          </a:p>
          <a:p>
            <a:pPr>
              <a:spcAft>
                <a:spcPts val="600"/>
              </a:spcAft>
              <a:defRPr sz="1700">
                <a:solidFill>
                  <a:srgbClr val="25313A"/>
                </a:solidFill>
              </a:defRPr>
            </a:pPr>
            <a:r>
              <a:t>Qisqa muddatli majburiyatlarni o‘z aylanma mablag‘lari bilan qoplash koeffitsiyenti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18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2A42"/>
                </a:solidFill>
              </a:defRPr>
            </a:pPr>
            <a:r>
              <a:t>Amaliy mini-keys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14400"/>
            <a:ext cx="10789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2DA7AD"/>
                </a:solidFill>
              </a:defRPr>
            </a:pPr>
            <a:r>
              <a:t>Mustahkamlash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55664"/>
            <a:ext cx="11064240" cy="18288"/>
          </a:xfrm>
          <a:prstGeom prst="rect">
            <a:avLst/>
          </a:prstGeom>
          <a:solidFill>
            <a:srgbClr val="DB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19">
                <a:solidFill>
                  <a:srgbClr val="5F6C75"/>
                </a:solidFill>
              </a:defRPr>
            </a:pPr>
            <a:r>
              <a:t>A.N. Xoliqulov — “Turistik korxonalar faoliyati tahlili” | 12-mavzu | 57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25880"/>
            <a:ext cx="1069848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25313A"/>
                </a:solidFill>
              </a:defRPr>
            </a:pPr>
            <a:r>
              <a:t>Turistik firmada joriy aktivlar — 1 800 mln so‘m, joriy majburiyatlar — 900 mln so‘m.</a:t>
            </a:r>
          </a:p>
          <a:p>
            <a:pPr>
              <a:spcAft>
                <a:spcPts val="600"/>
              </a:spcAft>
              <a:defRPr sz="1800">
                <a:solidFill>
                  <a:srgbClr val="25313A"/>
                </a:solidFill>
              </a:defRPr>
            </a:pPr>
            <a:r>
              <a:t>Pul mablag‘lari — 180 mln, debitorlik — 540 mln, shundan muddati o‘tgan — 90 mln.</a:t>
            </a:r>
          </a:p>
          <a:p>
            <a:pPr>
              <a:spcAft>
                <a:spcPts val="600"/>
              </a:spcAft>
              <a:defRPr sz="1800">
                <a:solidFill>
                  <a:srgbClr val="25313A"/>
                </a:solidFill>
              </a:defRPr>
            </a:pPr>
            <a:r>
              <a:t>Hisoblang: qoplash, tez likvidlilik va absolyut likvidlilik koeffitsiyentlari.</a:t>
            </a:r>
          </a:p>
          <a:p>
            <a:pPr>
              <a:spcAft>
                <a:spcPts val="600"/>
              </a:spcAft>
              <a:defRPr sz="1800">
                <a:solidFill>
                  <a:srgbClr val="25313A"/>
                </a:solidFill>
              </a:defRPr>
            </a:pPr>
            <a:r>
              <a:t>Natijalarni Xoliqulov kitobidagi me’yorlar bilan taqqoslang.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166360"/>
            <a:ext cx="102412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50" b="1">
                <a:solidFill>
                  <a:srgbClr val="187A80"/>
                </a:solidFill>
              </a:defRPr>
            </a:pPr>
            <a:r>
              <a:t>Nazorat uchun: QK = 2,00; TLK = (180+540−90)/900 = 0,70; ALK = 180/900 = 0,20.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18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2A42"/>
                </a:solidFill>
              </a:defRPr>
            </a:pPr>
            <a:r>
              <a:t>Tayanch iboralar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14400"/>
            <a:ext cx="10789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2DA7AD"/>
                </a:solidFill>
              </a:defRPr>
            </a:pPr>
            <a:r>
              <a:t>Yakun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55664"/>
            <a:ext cx="11064240" cy="18288"/>
          </a:xfrm>
          <a:prstGeom prst="rect">
            <a:avLst/>
          </a:prstGeom>
          <a:solidFill>
            <a:srgbClr val="DB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19">
                <a:solidFill>
                  <a:srgbClr val="5F6C75"/>
                </a:solidFill>
              </a:defRPr>
            </a:pPr>
            <a:r>
              <a:t>A.N. Xoliqulov — “Turistik korxonalar faoliyati tahlili” | 12-mavzu | 58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25880"/>
            <a:ext cx="1069848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50">
                <a:solidFill>
                  <a:srgbClr val="25313A"/>
                </a:solidFill>
              </a:defRPr>
            </a:pPr>
            <a:r>
              <a:t>Moliyaviy holat</a:t>
            </a:r>
          </a:p>
          <a:p>
            <a:pPr>
              <a:spcAft>
                <a:spcPts val="600"/>
              </a:spcAft>
              <a:defRPr sz="1650">
                <a:solidFill>
                  <a:srgbClr val="25313A"/>
                </a:solidFill>
              </a:defRPr>
            </a:pPr>
            <a:r>
              <a:t>Moliyaviy resurslar</a:t>
            </a:r>
          </a:p>
          <a:p>
            <a:pPr>
              <a:spcAft>
                <a:spcPts val="600"/>
              </a:spcAft>
              <a:defRPr sz="1650">
                <a:solidFill>
                  <a:srgbClr val="25313A"/>
                </a:solidFill>
              </a:defRPr>
            </a:pPr>
            <a:r>
              <a:t>Mulkiy holat</a:t>
            </a:r>
          </a:p>
          <a:p>
            <a:pPr>
              <a:spcAft>
                <a:spcPts val="600"/>
              </a:spcAft>
              <a:defRPr sz="1650">
                <a:solidFill>
                  <a:srgbClr val="25313A"/>
                </a:solidFill>
              </a:defRPr>
            </a:pPr>
            <a:r>
              <a:t>Likvidlilik</a:t>
            </a:r>
          </a:p>
          <a:p>
            <a:pPr>
              <a:spcAft>
                <a:spcPts val="600"/>
              </a:spcAft>
              <a:defRPr sz="1650">
                <a:solidFill>
                  <a:srgbClr val="25313A"/>
                </a:solidFill>
              </a:defRPr>
            </a:pPr>
            <a:r>
              <a:t>To‘lov qobiliyati</a:t>
            </a:r>
          </a:p>
          <a:p>
            <a:pPr>
              <a:spcAft>
                <a:spcPts val="600"/>
              </a:spcAft>
              <a:defRPr sz="1650">
                <a:solidFill>
                  <a:srgbClr val="25313A"/>
                </a:solidFill>
              </a:defRPr>
            </a:pPr>
            <a:r>
              <a:t>Moliyaviy barqarorlik</a:t>
            </a:r>
          </a:p>
          <a:p>
            <a:pPr>
              <a:spcAft>
                <a:spcPts val="600"/>
              </a:spcAft>
              <a:defRPr sz="1650">
                <a:solidFill>
                  <a:srgbClr val="25313A"/>
                </a:solidFill>
              </a:defRPr>
            </a:pPr>
            <a:r>
              <a:t>Aylanmadagi o‘z mablag‘lari</a:t>
            </a:r>
          </a:p>
          <a:p>
            <a:pPr>
              <a:spcAft>
                <a:spcPts val="600"/>
              </a:spcAft>
              <a:defRPr sz="1650">
                <a:solidFill>
                  <a:srgbClr val="25313A"/>
                </a:solidFill>
              </a:defRPr>
            </a:pPr>
            <a:r>
              <a:t>Harakatdagi sarmoya</a:t>
            </a:r>
          </a:p>
          <a:p>
            <a:pPr>
              <a:spcAft>
                <a:spcPts val="600"/>
              </a:spcAft>
              <a:defRPr sz="1650">
                <a:solidFill>
                  <a:srgbClr val="25313A"/>
                </a:solidFill>
              </a:defRPr>
            </a:pPr>
            <a:r>
              <a:t>Qoplash koeffitsiyenti</a:t>
            </a:r>
          </a:p>
          <a:p>
            <a:pPr>
              <a:spcAft>
                <a:spcPts val="600"/>
              </a:spcAft>
              <a:defRPr sz="1650">
                <a:solidFill>
                  <a:srgbClr val="25313A"/>
                </a:solidFill>
              </a:defRPr>
            </a:pPr>
            <a:r>
              <a:t>Tez va absolyut likvidlilik</a:t>
            </a:r>
          </a:p>
          <a:p>
            <a:pPr>
              <a:spcAft>
                <a:spcPts val="600"/>
              </a:spcAft>
              <a:defRPr sz="1650">
                <a:solidFill>
                  <a:srgbClr val="25313A"/>
                </a:solidFill>
              </a:defRPr>
            </a:pPr>
            <a:r>
              <a:t>A1–A4 va P1–P4 guruhlari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18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2A42"/>
                </a:solidFill>
              </a:defRPr>
            </a:pPr>
            <a:r>
              <a:t>Nazorat savollari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14400"/>
            <a:ext cx="10789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2DA7AD"/>
                </a:solidFill>
              </a:defRPr>
            </a:pPr>
            <a:r>
              <a:t>Yakun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55664"/>
            <a:ext cx="11064240" cy="18288"/>
          </a:xfrm>
          <a:prstGeom prst="rect">
            <a:avLst/>
          </a:prstGeom>
          <a:solidFill>
            <a:srgbClr val="DB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19">
                <a:solidFill>
                  <a:srgbClr val="5F6C75"/>
                </a:solidFill>
              </a:defRPr>
            </a:pPr>
            <a:r>
              <a:t>A.N. Xoliqulov — “Turistik korxonalar faoliyati tahlili” | 12-mavzu | 59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25880"/>
            <a:ext cx="1069848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20">
                <a:solidFill>
                  <a:srgbClr val="25313A"/>
                </a:solidFill>
              </a:defRPr>
            </a:pPr>
            <a:r>
              <a:t>Xo‘jalik yurituvchi subyektlarning mablag‘lari qanday vazifalarni bajaradi?</a:t>
            </a:r>
          </a:p>
          <a:p>
            <a:pPr>
              <a:spcAft>
                <a:spcPts val="600"/>
              </a:spcAft>
              <a:defRPr sz="1720">
                <a:solidFill>
                  <a:srgbClr val="25313A"/>
                </a:solidFill>
              </a:defRPr>
            </a:pPr>
            <a:r>
              <a:t>Moliyaviy holatni tahlil qilishning asosiy vazifalari nimalardan iborat?</a:t>
            </a:r>
          </a:p>
          <a:p>
            <a:pPr>
              <a:spcAft>
                <a:spcPts val="600"/>
              </a:spcAft>
              <a:defRPr sz="1720">
                <a:solidFill>
                  <a:srgbClr val="25313A"/>
                </a:solidFill>
              </a:defRPr>
            </a:pPr>
            <a:r>
              <a:t>Dastlabki baholashda rahbar qaysi ko‘rsatkichlarni aniqlashi kerak?</a:t>
            </a:r>
          </a:p>
          <a:p>
            <a:pPr>
              <a:spcAft>
                <a:spcPts val="600"/>
              </a:spcAft>
              <a:defRPr sz="1720">
                <a:solidFill>
                  <a:srgbClr val="25313A"/>
                </a:solidFill>
              </a:defRPr>
            </a:pPr>
            <a:r>
              <a:t>Korxonaning moliyaviy holati deganda nima tushuniladi?</a:t>
            </a:r>
          </a:p>
          <a:p>
            <a:pPr>
              <a:spcAft>
                <a:spcPts val="600"/>
              </a:spcAft>
              <a:defRPr sz="1720">
                <a:solidFill>
                  <a:srgbClr val="25313A"/>
                </a:solidFill>
              </a:defRPr>
            </a:pPr>
            <a:r>
              <a:t>Likvidlik va to‘lov qobiliyatining farqi nimada?</a:t>
            </a:r>
          </a:p>
          <a:p>
            <a:pPr>
              <a:spcAft>
                <a:spcPts val="600"/>
              </a:spcAft>
              <a:defRPr sz="1720">
                <a:solidFill>
                  <a:srgbClr val="25313A"/>
                </a:solidFill>
              </a:defRPr>
            </a:pPr>
            <a:r>
              <a:t>Likvidlikni baholash uchun qaysi koeffitsiyentlar hisoblanadi?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18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2A42"/>
                </a:solidFill>
              </a:defRPr>
            </a:pPr>
            <a:r>
              <a:t>Yakuniy xulosa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14400"/>
            <a:ext cx="10789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2DA7AD"/>
                </a:solidFill>
              </a:defRPr>
            </a:pPr>
            <a:r>
              <a:t>Yakun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55664"/>
            <a:ext cx="11064240" cy="18288"/>
          </a:xfrm>
          <a:prstGeom prst="rect">
            <a:avLst/>
          </a:prstGeom>
          <a:solidFill>
            <a:srgbClr val="DB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19">
                <a:solidFill>
                  <a:srgbClr val="5F6C75"/>
                </a:solidFill>
              </a:defRPr>
            </a:pPr>
            <a:r>
              <a:t>A.N. Xoliqulov — “Turistik korxonalar faoliyati tahlili” | 12-mavzu | 60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25880"/>
            <a:ext cx="1069848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80">
                <a:solidFill>
                  <a:srgbClr val="25313A"/>
                </a:solidFill>
              </a:defRPr>
            </a:pPr>
            <a:r>
              <a:t>Moliyaviy holatni baholash balans tuzilmasini ko‘rishdan boshlanib, mulkiy holat, likvidlik va to‘lov qobiliyatini chuqur tahlil qilish bilan davom etadi.</a:t>
            </a:r>
          </a:p>
          <a:p>
            <a:pPr>
              <a:spcAft>
                <a:spcPts val="600"/>
              </a:spcAft>
              <a:defRPr sz="1780">
                <a:solidFill>
                  <a:srgbClr val="25313A"/>
                </a:solidFill>
              </a:defRPr>
            </a:pPr>
            <a:r>
              <a:t>O‘z kapitalining yuqori ulushi moliyaviy barqarorlikni qo‘llab-quvvatlaydi, ammo aktivlar tarkibining sifati ham muhim.</a:t>
            </a:r>
          </a:p>
          <a:p>
            <a:pPr>
              <a:spcAft>
                <a:spcPts val="600"/>
              </a:spcAft>
              <a:defRPr sz="1780">
                <a:solidFill>
                  <a:srgbClr val="25313A"/>
                </a:solidFill>
              </a:defRPr>
            </a:pPr>
            <a:r>
              <a:t>Joriy aktivlar ko‘p bo‘lishining o‘zi yetarli emas: ularning qanchasi tez pulga aylanishi hal qiluvchi ahamiyatga ega.</a:t>
            </a:r>
          </a:p>
          <a:p>
            <a:pPr>
              <a:spcAft>
                <a:spcPts val="600"/>
              </a:spcAft>
              <a:defRPr sz="1780">
                <a:solidFill>
                  <a:srgbClr val="25313A"/>
                </a:solidFill>
              </a:defRPr>
            </a:pPr>
            <a:r>
              <a:t>Turistik korxona moliyaviy xavfsizligi uchun debitorlik, zaxiralar va qisqa muddatli majburiyatlar doimiy nazorat qilinishi lozim.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