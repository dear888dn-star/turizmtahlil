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/>
            </a:pPr>
            <a:r>
              <a:t>Kitobdagi 10.1-jadval ma’lumotlari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O‘sish sur’ati, %</c:v>
                </c:pt>
              </c:strCache>
            </c:strRef>
          </c:tx>
          <c:spPr>
            <a:solidFill>
              <a:srgbClr val="187A80"/>
            </a:solidFill>
          </c:spPr>
          <c:cat>
            <c:strRef>
              <c:f>Sheet1!$A$2:$A$5</c:f>
              <c:strCache>
                <c:ptCount val="4"/>
                <c:pt idx="0">
                  <c:v>Xaridorlar qarzi</c:v>
                </c:pt>
                <c:pt idx="1">
                  <c:v>Sof sotish</c:v>
                </c:pt>
                <c:pt idx="2">
                  <c:v>Jami debitorlik</c:v>
                </c:pt>
                <c:pt idx="3">
                  <c:v>Jami kreditorlik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173.4</c:v>
                </c:pt>
                <c:pt idx="1">
                  <c:v>165.1</c:v>
                </c:pt>
                <c:pt idx="2">
                  <c:v>161.4</c:v>
                </c:pt>
                <c:pt idx="3">
                  <c:v>101.4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070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A7AD"/>
                </a:solidFill>
              </a:defRPr>
            </a:pPr>
            <a:r>
              <a:t>10-MAVZU</a:t>
            </a:r>
          </a:p>
          <a:p>
            <a:pPr>
              <a:spcBef>
                <a:spcPts val="1000"/>
              </a:spcBef>
              <a:defRPr sz="3400" b="1">
                <a:solidFill>
                  <a:srgbClr val="FFFFFF"/>
                </a:solidFill>
              </a:defRPr>
            </a:pPr>
            <a:r>
              <a:t>Turistik korxonalarning debitorlik va kreditorlik qarzlarini ifodalovchi ko‘rsatkichlar, ularni aniqlash va tahlil qilish yo‘llari</a:t>
            </a:r>
          </a:p>
          <a:p>
            <a:pPr>
              <a:spcBef>
                <a:spcPts val="1800"/>
              </a:spcBef>
              <a:defRPr sz="1600">
                <a:solidFill>
                  <a:srgbClr val="DBE8EA"/>
                </a:solidFill>
              </a:defRPr>
            </a:pPr>
            <a:r>
              <a:t>A.N. Xoliqulov, “Turistik korxonalar faoliyati tahlili”, X bob, 176–190-betlar asosida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440680"/>
            <a:ext cx="822960" cy="73152"/>
          </a:xfrm>
          <a:prstGeom prst="rect">
            <a:avLst/>
          </a:prstGeom>
          <a:solidFill>
            <a:srgbClr val="2DA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5440680"/>
            <a:ext cx="822960" cy="73152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17520" y="5440680"/>
            <a:ext cx="822960" cy="73152"/>
          </a:xfrm>
          <a:prstGeom prst="rect">
            <a:avLst/>
          </a:prstGeom>
          <a:solidFill>
            <a:srgbClr val="C39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5440680"/>
            <a:ext cx="82296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Mavzuning maqsadi va o‘quv natijalari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480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Maqsad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470916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Debitorlik va kreditorlik qarzlarining iqtisodiy mazmunini tushunish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Qarzlarning tarkibi, dinamikasi va muddati o‘tgan qismini tahlil qilish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Asosiy koeffitsiyentlarni hisoblash va talqin qilish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480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361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O‘quv natijalari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70916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Qarzlar holatiga moliyaviy baho bera oladi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10.1 va 10.2-jadvallar mantig‘ini qo‘llaydi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Muammoli qarzlarni kamaytirish bo‘yicha boshqaruv tavsiyalari ishlab chiqadi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Mavzu rejasi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10.1. Debitorlik va kreditorlik qarzlarining mazmuni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Debitorlik va kreditorlik qarzlarining turlari va balansdagi o‘rni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10.2. Qarzlarni ifodalovchi ko‘rsatkichlar tizimi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10.1-jadval: qarzlar summasi va tarkibidagi o‘zgarishlar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10.2-jadval: koeffitsiyentlar asosida moliyaviy baholash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Qarzlar holatini yaxshilash yo‘llari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Hisob-kitob va moliya intizomi — asosiy shart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Bozor sharoitida barcha hisob-kitoblar ikki tomon tasdiqlagan shartnomalar asosida belgilangan muddatlarda bajarilishi kerak.</a:t>
            </a:r>
          </a:p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Majburiyatlarning buzilishi to‘lovlar zanjirida uzilishlar keltirib chiqaradi.</a:t>
            </a:r>
          </a:p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Natijada debitorlik va kreditorlik qarzlari ortib, korxonaning moliyaviy holati yomonlashishi mumkin.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“Debitor” va “kreditor” tushunchalari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480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Debitor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470916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Muayyan korxonadan qarzdor bo‘lgan shaxs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Korxona mablag‘lari vaqtincha boshqa shaxs tasarrufida bo‘ladi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Balans aktivida aks etadi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480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361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Kreditor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70916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Muayyan korxonani qarzdor qilgan shaxs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Korxona boshqa shaxs mablag‘laridan vaqtincha foydalanadi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Balans passivida majburiyat sifatida aks etadi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Bitta subyekt — ham debitor, ham kreditor bo‘lishi mumkin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Tovar yetkazib berildi, lekin puli to‘lanmadi: yetkazib beruvchi uchun bu — debitorlik qarzi.</a:t>
            </a:r>
          </a:p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Xaridor uchun ayni summa — kreditorlik qarzi.</a:t>
            </a:r>
          </a:p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Demak, bir xil xo‘jalik operatsiyasi ikki tomon balansida qarama-qarshi mazmunda aks etadi.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Qarzlarning iqtisodiy zarurligi va xavfi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480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Normal holatda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470916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Hisob-kitob davri tufayli vaqtinchalik yuzaga keladi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Ishlab chiqarish va xizmat jarayonining uzluksizligini qo‘llab-quvvatlaydi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Moliyaviy aylanishning tabiiy qismi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480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361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Me’yordan oshganda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70916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Likvidlik pasayadi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To‘lovga qobiliyatsizlik xavfi kuchayadi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Bankrotlik, foyda va rentabellik pasayishi mumkin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Debitorlik qarzlari: normal va normal bo‘lmagan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480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Normal debitorlik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470916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Gaz, elektr, transport, aloqa va materiallar uchun berilgan bo‘naklar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Hisobot topshirish muddati ichidagi hisobdor shaxslar qarzi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Shartnoma doirasidagi vaqtinchalik hisob-kitoblar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480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361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Normal bo‘lmagan debitorlik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70916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Kamomad, talon-toroj va o‘g‘riliklar bo‘yicha qarzlar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Assortiment yoki sifat nomuvofiqligi tufayli da’volar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Tan olingan yoki sud/hakam qarori bilan belgilangan qarzlar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Normal kreditorlik qarzlari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Mahsulot yetkazib beruvchilar oldidagi, to‘lov muddati hali kelmagan qarzlar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Mehnatga haq to‘lash bo‘yicha xodimlar oldidagi qarzlar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Ijtimoiy sug‘urta va ta’minot bo‘yicha qarzlar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Moddiy boyliklar qiymati bo‘yicha muddatli qarzlar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Soliqlar va boshqa majburiy to‘lovlar bo‘yicha qarzlar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Normal bo‘lmagan kreditorlik qarzlari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Moliyaviy intizom va hisob-kitob tartibi buzilganda vujudga keladi.</a:t>
            </a:r>
          </a:p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Muddati o‘tgan to‘lov hujjatlari bo‘yicha qarzlar bunga misol bo‘ladi.</a:t>
            </a:r>
          </a:p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Yetkazib berilgan boyliklar qiymati to‘langan hisoblar summasidan ortiq chiqishi ham qarz paydo bo‘lishiga olib kelishi mumkin.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Muddati o‘tgan qarzlar: kitobdagi mezon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828800"/>
            <a:ext cx="5294376" cy="2194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057400"/>
            <a:ext cx="50200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F6C75"/>
                </a:solidFill>
              </a:defRPr>
            </a:pPr>
            <a:r>
              <a:t>Kitobda ko‘rsatilgan mezon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743200"/>
            <a:ext cx="50200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90 kundan oshgan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160520"/>
            <a:ext cx="49651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Muallif tarixiy normativ hujjat asosida muddati o‘tgan qarzni 90 kundan ortiq deb izohlaydi.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828800"/>
            <a:ext cx="5294376" cy="2194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057400"/>
            <a:ext cx="50200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F6C75"/>
                </a:solidFill>
              </a:defRPr>
            </a:pPr>
            <a:r>
              <a:t>Da’vo muddati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743200"/>
            <a:ext cx="50200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3 yil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4160520"/>
            <a:ext cx="49651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Fuqarolik kodeksiga tayangan holda umumiy da’vo muddati 3 yil deb keltirilgan.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C75"/>
                </a:solidFill>
              </a:defRPr>
            </a:pPr>
            <a:r>
              <a:t>Eslatma: ushbu slaydda kitobdagi tarixiy normativ izohlar o‘quv material sifatida saqlangan.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Debitorlik qarzi — mablag‘larning immobilizatsiyasi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Debitorlik qarzi — korxona aylanmasidan chiqib qolgan va boshqa jismoniy yoki yuridik shaxslar tasarrufida turgan mablag‘lar.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Uning ortishi korxonaning o‘z pul resurslarini erkin ishlatish imkoniyatini cheklaydi.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Shu sababli debitorlik qarzi “mablag‘larni aylanmadan immobilizatsiya qilish” sifatida talqin etiladi.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Kreditorlik qarzi — vaqtincha jalb etilgan mablag‘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Kreditorlik qarzi — boshqa shaxslardan vaqtincha jalb etilgan mablag‘lar.</a:t>
            </a:r>
          </a:p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Ular korxona aylanmasida vaqtincha foydalaniladi.</a:t>
            </a:r>
          </a:p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To‘lov muddati kelganda tegishli summa aylanma mablag‘lardan chiqarilib, majburiyat so‘ndiriladi.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Debitorlik qarzi qaytarilganda balansda nima bo‘ladi?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Pul mablag‘lari yoki tovar-moddiy boyliklar ko‘payadi.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Debitorlik qarzi kamayadi.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Agar faqat aktivlar ichida almashinish bo‘lsa, balans yakuni o‘zgarmaydi.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Agar qarz berish tashqi kredit hisobidan moliyalashtirilgan bo‘lsa, aktiv va majburiyatlar bir vaqtda ko‘payishi mumkin.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Kreditorlik qarzi qaytarilganda balansda nima bo‘ladi?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Majburiyatlar summasi kamayadi.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Pul yoki boshqa aylanma aktivlar kamayadi.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Natijada balansning umumiy summasi tegishli miqdorda qisqarishi mumkin.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Qarz korxonaning o‘z mablag‘lari hisobidan so‘ndiriladi.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Kitobda keltirilgan axborot manbalari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480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Debitorlik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470916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Buxgalteriya balansi aktivining joriy aktivlar qismi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Kitobda 220–290-satrlar ko‘rsatilgan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2a-shakl ma’lumotnomasi tarixiy manba sifatida keltirilgan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480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361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Kreditorlik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70916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Balans passivining majburiyatlar qismi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Kitobda 450–530-satrlar ko‘rsatilgan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Qarz turlari bo‘yicha alohida tahlil tavsiya etiladi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Debitorlik qarzi tarkibi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Xaridorlar va buyurtmachilar bilan hisob-kitoblar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Bo‘nak to‘lovlari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Budjet bilan hisob-kitoblar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Xodimlar bilan hisob-kitoblar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Sho‘ba va uyushmaga kirgan korxonalar bilan hisob-kitoblar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Muassislar va boshqa debitorlar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Xaridorlar va buyurtmachilar qarzini tahlil qilish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Qarzning o‘sish sur’atini sof tushum o‘sishi bilan taqqoslash zarur.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Debitorlik qarzi sof tushumdan tezroq o‘ssa — to‘lov intizomi yoki xaridorlarning to‘lov qobiliyati bilan bog‘liq xavf mavjud.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Tayyor mahsulot qoldig‘i dinamikasi bilan solishtirish marketing holatini baholashga yordam beradi.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Bo‘nak to‘lovlari va ular bo‘yicha xavf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Yetkazib beriladigan moddiy boyliklar yoki bajariladigan ishlar uchun oldindan to‘langan mablag‘lar.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Bo‘naklar hajmining ortishi buyurtma bajarilmasligi yoki yetkazib berish kechikishi bilan bog‘liq bo‘lishi mumkin.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Bunday holat bo‘naklarning qaytmay qolish xavfini oshiradi.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Budjet va xodimlar bilan hisob-kitoblar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480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Budjet bilan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470916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Soliq va yig‘imlar bo‘yicha tegishli hisob-kitoblar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Asossiz o‘sish — hisob-kitobdagi xato yoki me’yorlarni yetarlicha bilmaslik belgisi bo‘lishi mumkin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480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361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Xodimlar bilan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70916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Xodimlarga berilgan ssuda va qarzlar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Moddiy zararlarni qoplash bo‘yicha qarzlar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Ijtimoiy dasturlar bilan bog‘liq qarzlar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Sho‘ba, uyushma va muassislar bilan hisob-kitoblar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Sho‘ba korxonalar bilan balanslararo hisob-kitoblar o‘zaro mos kelishi kerak.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Uyushma tarkibidagi korxonalar bilan joriy operatsiyalar alohida nazorat qilinadi.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Muassislar qarzi ustav kapitaliga ulushlarni o‘z vaqtida kiritmaslik natijasida vujudga kelishi mumkin.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Boshqa debitorlar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Hisobdor shaxslar qarzi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Tovar-moddiy boyliklarni qabul qilishdagi tafovutlar bo‘yicha qarzlar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Tan olingan yoki sud/arbitraj qarori bilan undiriladigan jarima, penya va neustoykalar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Boshqa moddalarda aks etmagan hisob-kitoblar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Kreditorlik qarzi tarkibi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Mahsulot yetkazib beruvchilar va pudratchilar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Budjetga qarzlar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Mehnatga haq to‘lash bo‘yicha qarzlar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Ijtimoiy sug‘urta va ta’minot bo‘yicha qarzlar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Sug‘urta va budjetdan tashqari to‘lovlar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Sho‘ba, uyushma korxonalari va boshqa kreditorlar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Yetkazib beruvchilar oldidagi qarz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Kelib tushgan boyliklar, bajarilgan ishlar va ko‘rsatilgan xizmatlar uchun qarzlar.</a:t>
            </a:r>
          </a:p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Muddati o‘tgan qismining ortishi to‘lovga qobiliyatsizlik belgisi bo‘lishi mumkin.</a:t>
            </a:r>
          </a:p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Bunday holat korxonaning moliyaviy ahvoli yomonlashayotganidan dalolat beradi.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Budjet va ish haqi bo‘yicha kreditorlik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480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Budjetga qarz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470916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Soliqlar va boshqa majburiy to‘lovlar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Ortishi — pul mablag‘lari yetishmasligi va to‘lov qobiliyati pasayishi belgisi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480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361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Mehnatga haq to‘lash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70916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Hisoblangan, ammo hali to‘lanmagan ish haqi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Ortishi — xodimlar oldidagi ijtimoiy majburiyatlar kechikayotganini ko‘rsatadi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Ijtimoiy sug‘urta va boshqa kreditorlar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Ijtimoiy sug‘urta, pensiya va boshqa ta’minot to‘lovlari bo‘yicha qarzlar korxonaning to‘lov imkoniyatini aks ettiradi.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Sug‘urta va maxsus fondlar bo‘yicha majburiyatlar alohida nazorat qilinadi.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“Boshqa kreditorlar” moddasiga boshqa guruhlarda aks etmagan hisob-kitoblar kiradi.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Qarzlarning paydo bo‘lish mexanizmi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10.1. Qarzlarning mazmuni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480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Debitorlik qarzi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470916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Pul yoki moddiy mablag‘larning chiqib ketishi bilan yuzaga keladi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Kamayishi — pul va aktivlarning qaytishi yoki qayta hisoblanishi bilan bog‘liq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480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3619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Kreditorlik qarzi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70916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Tashqaridan mablag‘ yoki resurs kelishi bilan vujudga keladi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Soliq, ish haqi kabi majburiyatlarning hisoblanishi orqali ham paydo bo‘ladi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10.2. Ko‘rsatkichlar tizimi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Qarzlarni tahlil qilish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50">
                <a:solidFill>
                  <a:srgbClr val="25313A"/>
                </a:solidFill>
              </a:defRPr>
            </a:pPr>
            <a:r>
              <a:t>Debitorlik va kreditorlik qarzlarining umumiy summasi</a:t>
            </a:r>
          </a:p>
          <a:p>
            <a:pPr>
              <a:spcAft>
                <a:spcPts val="700"/>
              </a:spcAft>
              <a:defRPr sz="1650">
                <a:solidFill>
                  <a:srgbClr val="25313A"/>
                </a:solidFill>
              </a:defRPr>
            </a:pPr>
            <a:r>
              <a:t>Ularning tarkibiy tuzilishi</a:t>
            </a:r>
          </a:p>
          <a:p>
            <a:pPr>
              <a:spcAft>
                <a:spcPts val="700"/>
              </a:spcAft>
              <a:defRPr sz="1650">
                <a:solidFill>
                  <a:srgbClr val="25313A"/>
                </a:solidFill>
              </a:defRPr>
            </a:pPr>
            <a:r>
              <a:t>Sarmoyani immobilizatsiyalash koeffitsiyenti</a:t>
            </a:r>
          </a:p>
          <a:p>
            <a:pPr>
              <a:spcAft>
                <a:spcPts val="700"/>
              </a:spcAft>
              <a:defRPr sz="1650">
                <a:solidFill>
                  <a:srgbClr val="25313A"/>
                </a:solidFill>
              </a:defRPr>
            </a:pPr>
            <a:r>
              <a:t>Aylanma mablag‘larni immobilizatsiyalash koeffitsiyenti</a:t>
            </a:r>
          </a:p>
          <a:p>
            <a:pPr>
              <a:spcAft>
                <a:spcPts val="700"/>
              </a:spcAft>
              <a:defRPr sz="1650">
                <a:solidFill>
                  <a:srgbClr val="25313A"/>
                </a:solidFill>
              </a:defRPr>
            </a:pPr>
            <a:r>
              <a:t>Jalb etilgan mablag‘lar koeffitsiyenti</a:t>
            </a:r>
          </a:p>
          <a:p>
            <a:pPr>
              <a:spcAft>
                <a:spcPts val="700"/>
              </a:spcAft>
              <a:defRPr sz="1650">
                <a:solidFill>
                  <a:srgbClr val="25313A"/>
                </a:solidFill>
              </a:defRPr>
            </a:pPr>
            <a:r>
              <a:t>Kreditorlik va debitorlik qarzlari nisbati koeffitsiyenti</a:t>
            </a:r>
          </a:p>
          <a:p>
            <a:pPr>
              <a:spcAft>
                <a:spcPts val="700"/>
              </a:spcAft>
              <a:defRPr sz="1650">
                <a:solidFill>
                  <a:srgbClr val="25313A"/>
                </a:solidFill>
              </a:defRPr>
            </a:pPr>
            <a:r>
              <a:t>Muddati o‘tgan debitorlik va kreditorlik qarzi koeffitsiyentlari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Qarzlar summasini tahlil qilish tamoyili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Qarzlarni tahlil qilish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50">
                <a:solidFill>
                  <a:srgbClr val="25313A"/>
                </a:solidFill>
              </a:defRPr>
            </a:pPr>
            <a:r>
              <a:t>Faqat qarz summasining o‘sishi yoki kamayishi bilan cheklanib bo‘lmaydi.</a:t>
            </a:r>
          </a:p>
          <a:p>
            <a:pPr>
              <a:spcAft>
                <a:spcPts val="700"/>
              </a:spcAft>
              <a:defRPr sz="1750">
                <a:solidFill>
                  <a:srgbClr val="25313A"/>
                </a:solidFill>
              </a:defRPr>
            </a:pPr>
            <a:r>
              <a:t>Qarzlarning o‘sish sur’atini sotish hajmi o‘sish sur’ati bilan taqqoslash kerak.</a:t>
            </a:r>
          </a:p>
          <a:p>
            <a:pPr>
              <a:spcAft>
                <a:spcPts val="700"/>
              </a:spcAft>
              <a:defRPr sz="1750">
                <a:solidFill>
                  <a:srgbClr val="25313A"/>
                </a:solidFill>
              </a:defRPr>
            </a:pPr>
            <a:r>
              <a:t>Debitorlik qarzi sotishdan tezroq o‘ssa — xaridorlarning to‘lov intizomi xavfi.</a:t>
            </a:r>
          </a:p>
          <a:p>
            <a:pPr>
              <a:spcAft>
                <a:spcPts val="700"/>
              </a:spcAft>
              <a:defRPr sz="1750">
                <a:solidFill>
                  <a:srgbClr val="25313A"/>
                </a:solidFill>
              </a:defRPr>
            </a:pPr>
            <a:r>
              <a:t>Kreditorlik qarzi sotishdan tezroq o‘ssa — korxonaning o‘z majburiyatlarini vaqtida bajarish qobiliyati pasayishi mumkin.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Qarzlar tarkibiy tuzilishini tahlil qilish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Qarzlarni tahlil qilish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Har bir qarz turi umumiy summada necha foiz ulushga ega ekanligi aniqlanadi.</a:t>
            </a:r>
          </a:p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Tarkibdagi o‘zgarishlar hisob-kitob va to‘lov intizomining holatini ko‘rsatadi.</a:t>
            </a:r>
          </a:p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Muddati o‘tgan qarzlar ulushi eng muhim xavf indikatorlaridan biri hisoblanadi.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10.1-jadval: debitorlik qarzi dinamikasi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31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239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marL="36576" marR="36576" marT="18288" marB="18288" anchor="ctr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Yil boshida</a:t>
                      </a:r>
                    </a:p>
                  </a:txBody>
                  <a:tcPr marL="36576" marR="36576" marT="18288" marB="18288" anchor="ctr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Yil oxirida</a:t>
                      </a:r>
                    </a:p>
                  </a:txBody>
                  <a:tcPr marL="36576" marR="36576" marT="18288" marB="18288" anchor="ctr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Farq</a:t>
                      </a:r>
                    </a:p>
                  </a:txBody>
                  <a:tcPr marL="36576" marR="36576" marT="18288" marB="18288" anchor="ctr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O‘sish, %</a:t>
                      </a:r>
                    </a:p>
                  </a:txBody>
                  <a:tcPr marL="36576" marR="36576" marT="18288" marB="18288" anchor="ctr">
                    <a:solidFill>
                      <a:srgbClr val="122A4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Xaridorlar va buyurtmachilar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1 224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2 123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+899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173,4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Budjet bilan hisob-kitoblar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−9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80,8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Boshqa debitorlar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974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1 465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+491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150,9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Jami debitorlik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2 249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3 631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+1 382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161,4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Muddati o‘tgan debitorlik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1 850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2 382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+532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128,8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10.1-jadval: kreditorlik qarzi dinamikasi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2014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marL="36576" marR="36576" marT="18288" marB="18288" anchor="ctr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Yil boshida</a:t>
                      </a:r>
                    </a:p>
                  </a:txBody>
                  <a:tcPr marL="36576" marR="36576" marT="18288" marB="18288" anchor="ctr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Yil oxirida</a:t>
                      </a:r>
                    </a:p>
                  </a:txBody>
                  <a:tcPr marL="36576" marR="36576" marT="18288" marB="18288" anchor="ctr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Farq</a:t>
                      </a:r>
                    </a:p>
                  </a:txBody>
                  <a:tcPr marL="36576" marR="36576" marT="18288" marB="18288" anchor="ctr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O‘sish, %</a:t>
                      </a:r>
                    </a:p>
                  </a:txBody>
                  <a:tcPr marL="36576" marR="36576" marT="18288" marB="18288" anchor="ctr">
                    <a:solidFill>
                      <a:srgbClr val="122A42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Yetkazib beruvchilar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2 244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2 511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+267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111,9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Budjetga qarz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3 342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2 685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−657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80,3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Mehnat va ijtimoiy ta’minot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202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220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+18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108,9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Boshqa kreditorlar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598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+457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424,1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Jami kreditorlik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5 929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6 014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+85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101,4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Muddati o‘tgan kreditorlik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2 650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2 534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−116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95,6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Asosiy natija: debitorlik kreditorlikdan tez o‘sgan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828800"/>
            <a:ext cx="3462528" cy="2194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057400"/>
            <a:ext cx="31882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F6C75"/>
                </a:solidFill>
              </a:defRPr>
            </a:pPr>
            <a:r>
              <a:t>Debitorlik o‘sishi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743200"/>
            <a:ext cx="318820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161,4%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160520"/>
            <a:ext cx="313334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Debitorlik qarzi 1 382 ming so‘mga oshgan.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1828800"/>
            <a:ext cx="3462528" cy="2194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057400"/>
            <a:ext cx="31882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F6C75"/>
                </a:solidFill>
              </a:defRPr>
            </a:pPr>
            <a:r>
              <a:t>Kreditorlik o‘sishi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2743200"/>
            <a:ext cx="318820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101,4%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3232" y="4160520"/>
            <a:ext cx="313334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Kreditorlik qarzi atigi 85 ming so‘mga oshgan.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2336" y="1828800"/>
            <a:ext cx="3462528" cy="2194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9496" y="2057400"/>
            <a:ext cx="31882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F6C75"/>
                </a:solidFill>
              </a:defRPr>
            </a:pPr>
            <a:r>
              <a:t>Yil oxiri farqi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9496" y="2743200"/>
            <a:ext cx="318820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2 383 ming so‘m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6928" y="4160520"/>
            <a:ext cx="313334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Kreditorlik qarzi yil oxirida debitorlikdan yuqori bo‘lib qolgan.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Sotish hajmi bilan taqqoslash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34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1508760"/>
          <a:ext cx="10058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Muddati o‘tgan qarzlarning salmog‘i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828800"/>
            <a:ext cx="5294376" cy="2194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057400"/>
            <a:ext cx="50200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F6C75"/>
                </a:solidFill>
              </a:defRPr>
            </a:pPr>
            <a:r>
              <a:t>Debitorlikdagi ulushi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743200"/>
            <a:ext cx="50200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65,6%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160520"/>
            <a:ext cx="49651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Yil oxirida muddati o‘tgan debitorlik qarzi jami debitorlikning qariyb uchdan ikki qismini tashkil etgan.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828800"/>
            <a:ext cx="5294376" cy="2194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057400"/>
            <a:ext cx="50200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F6C75"/>
                </a:solidFill>
              </a:defRPr>
            </a:pPr>
            <a:r>
              <a:t>Kreditorlikdagi ulushi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743200"/>
            <a:ext cx="50200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42,1%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4160520"/>
            <a:ext cx="49651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Muddati o‘tgan kreditorlik ulushi ham yuqori bo‘lib qolgan.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5313A"/>
                </a:solidFill>
              </a:defRPr>
            </a:pPr>
            <a:r>
              <a:t>Muallif bu holat likvidlik, to‘lov qobiliyati, moliyaviy barqarorlik, foyda va rentabellikka salbiy ta’sir ko‘rsatishini ta’kidlaydi.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Sarmoyani immobilizatsiyalash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Asosiy koeffitsiyentlar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0332720" cy="19659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22A42"/>
                </a:solidFill>
                <a:latin typeface="Cambria Math"/>
              </a:defRPr>
            </a:pPr>
            <a:r>
              <a:t>Ksim = Debitorlik qarzi / Jami sarmoya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101498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Mazmuni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Koeffitsiyent qancha katta bo‘lsa, jami sarmoyaning shuncha katta qismi debitorlik qarziga “bog‘lanib” qolgan bo‘ladi.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Aylanma mablag‘larni immobilizatsiyalash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Asosiy koeffitsiyentlar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0332720" cy="19659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22A42"/>
                </a:solidFill>
                <a:latin typeface="Cambria Math"/>
              </a:defRPr>
            </a:pPr>
            <a:r>
              <a:t>Kayl.im = Debitorlik qarzi / Aylanma mablag‘lar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101498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Mazmuni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Ko‘rsatkichning o‘sishi aylanma mablag‘larning kattaroq qismi boshqa shaxslar tasarrufida debitorlik qarzi shaklida turganini anglatadi.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Jalb etilgan mablag‘lar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Asosiy koeffitsiyentlar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0332720" cy="19659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22A42"/>
                </a:solidFill>
                <a:latin typeface="Cambria Math"/>
              </a:defRPr>
            </a:pPr>
            <a:r>
              <a:t>Kjm = Kreditorlik qarzi / Jami sarmoya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101498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Mazmuni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Koeffitsiyent kreditorlik qarzining korxona umumiy xo‘jalik mablag‘laridagi ulushini ifodalaydi.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Kreditorlik va debitorlik qarzlari nisbati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Asosiy koeffitsiyentlar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0332720" cy="19659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22A42"/>
                </a:solidFill>
                <a:latin typeface="Cambria Math"/>
              </a:defRPr>
            </a:pPr>
            <a:r>
              <a:t>Kk/d = Kreditorlik qarzi / Debitorlik qarzi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101498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Mazmuni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Koeffitsiyent 1 dan katta bo‘lsa kreditorlik qarzi debitorlikdan yuqori; 1 dan kichik bo‘lsa, aksincha.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Muddati o‘tgan debitorlik qarzi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Asosiy koeffitsiyentlar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0332720" cy="19659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22A42"/>
                </a:solidFill>
                <a:latin typeface="Cambria Math"/>
              </a:defRPr>
            </a:pPr>
            <a:r>
              <a:t>Kmod.deb = Muddati o‘tgan debitorlik / Jami debitorlik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101498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Mazmuni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Ko‘rsatkichning o‘sishi qarzlarni undirishdagi kamchiliklar va mijozlarning to‘lov intizomi buzilayotganini ko‘rsatadi.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Muddati o‘tgan kreditorlik qarzi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Asosiy koeffitsiyentlar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0332720" cy="19659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692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22A42"/>
                </a:solidFill>
                <a:latin typeface="Cambria Math"/>
              </a:defRPr>
            </a:pPr>
            <a:r>
              <a:t>Kmod.kred = Muddati o‘tgan kreditorlik / Jami kreditorlik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101498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Mazmuni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Ko‘rsatkichning o‘sishi korxonaning hisob-kitob intizomi, likvidligi va to‘lov qobiliyati bo‘yicha salbiy signal hisoblanadi.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10.2-jadval: koeffitsiyentlar dinamikasi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42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61872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marL="36576" marR="36576" marT="18288" marB="18288" anchor="ctr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Yil boshida</a:t>
                      </a:r>
                    </a:p>
                  </a:txBody>
                  <a:tcPr marL="36576" marR="36576" marT="18288" marB="18288" anchor="ctr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Yil oxirida</a:t>
                      </a:r>
                    </a:p>
                  </a:txBody>
                  <a:tcPr marL="36576" marR="36576" marT="18288" marB="18288" anchor="ctr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Farq</a:t>
                      </a:r>
                    </a:p>
                  </a:txBody>
                  <a:tcPr marL="36576" marR="36576" marT="18288" marB="18288" anchor="ctr">
                    <a:solidFill>
                      <a:srgbClr val="122A4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Sarmoya immobilizatsiyasi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0,08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0,12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+0,04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Aylanma mablag‘ immobilizatsiyasi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0,16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0,22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+0,06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O‘z mablag‘i immobilizatsiyasi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0,11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0,17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+0,06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Jalb etilgan mablag‘lar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0,22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0,20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−0,02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Kreditorlik / debitorlik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2,64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1,66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−0,98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Muddati o‘tgan debitorlik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0,82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0,66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−0,16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Muddati o‘tgan kreditorlik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0,45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0,42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−0,03</a:t>
                      </a:r>
                    </a:p>
                  </a:txBody>
                  <a:tcPr marL="36576" marR="36576" marT="18288" marB="18288" anchor="ctr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Immobilizatsiya koeffitsiyentlari nima dedi?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828800"/>
            <a:ext cx="3462528" cy="2194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057400"/>
            <a:ext cx="31882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F6C75"/>
                </a:solidFill>
              </a:defRPr>
            </a:pPr>
            <a:r>
              <a:t>Sarmoya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743200"/>
            <a:ext cx="318820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0,08 → 0,12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160520"/>
            <a:ext cx="313334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Debitorlik qarziga bog‘langan jami sarmoya ulushi oshgan.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1828800"/>
            <a:ext cx="3462528" cy="2194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057400"/>
            <a:ext cx="31882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F6C75"/>
                </a:solidFill>
              </a:defRPr>
            </a:pPr>
            <a:r>
              <a:t>Aylanma mablag‘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2743200"/>
            <a:ext cx="318820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0,16 → 0,22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3232" y="4160520"/>
            <a:ext cx="313334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Aylanma mablag‘lar immobilizatsiyasi kuchaygan.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2336" y="1828800"/>
            <a:ext cx="3462528" cy="2194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9496" y="2057400"/>
            <a:ext cx="31882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F6C75"/>
                </a:solidFill>
              </a:defRPr>
            </a:pPr>
            <a:r>
              <a:t>O‘z mablag‘i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9496" y="2743200"/>
            <a:ext cx="318820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0,11 → 0,17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6928" y="4160520"/>
            <a:ext cx="313334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O‘z mablag‘lari ham ko‘proq debitorlikka bog‘langan.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Jalb qilingan mablag‘lar ulushi kamaygan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828800"/>
            <a:ext cx="5294376" cy="2194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057400"/>
            <a:ext cx="50200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F6C75"/>
                </a:solidFill>
              </a:defRPr>
            </a:pPr>
            <a:r>
              <a:t>Jalb etilgan mablag‘lar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743200"/>
            <a:ext cx="50200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0,22 → 0,20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160520"/>
            <a:ext cx="49651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Kreditorlik qarzining jami sarmoyadagi ulushi biroz pasaygan.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828800"/>
            <a:ext cx="5294376" cy="2194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057400"/>
            <a:ext cx="50200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F6C75"/>
                </a:solidFill>
              </a:defRPr>
            </a:pPr>
            <a:r>
              <a:t>Kreditorlik / debitorlik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743200"/>
            <a:ext cx="50200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2,64 → 1,66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4160520"/>
            <a:ext cx="49651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Kreditorlikning debitorlikdan ustunligi qisqargan, ammo yil oxirida ham 1 dan yuqori.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Muddati o‘tgan qarzlar koeffitsiyenti kamaygan, ammo muammo saqlangan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828800"/>
            <a:ext cx="5294376" cy="2194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057400"/>
            <a:ext cx="50200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F6C75"/>
                </a:solidFill>
              </a:defRPr>
            </a:pPr>
            <a:r>
              <a:t>Debitorlik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743200"/>
            <a:ext cx="50200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0,82 → 0,66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160520"/>
            <a:ext cx="49651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Nisbiy ko‘rsatkich pasaygan bo‘lsa-da, 66% juda yuqori ulush bo‘lib qolmoqda.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828800"/>
            <a:ext cx="5294376" cy="219456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057400"/>
            <a:ext cx="50200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F6C75"/>
                </a:solidFill>
              </a:defRPr>
            </a:pPr>
            <a:r>
              <a:t>Kreditorlik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743200"/>
            <a:ext cx="50200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0,45 → 0,42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4160520"/>
            <a:ext cx="49651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313A"/>
                </a:solidFill>
              </a:defRPr>
            </a:pPr>
            <a:r>
              <a:t>Kreditorlikning muddati o‘tgan qismi 42% — to‘lov intizomi hanuz zaif.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Moliyaviy oqibatlar zanjiri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10.2. Tahlil natijalarini talqin qilish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377440" cy="1143000"/>
          </a:xfrm>
          <a:prstGeom prst="round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42032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Muddati o‘tgan qarzlar</a:t>
            </a:r>
          </a:p>
        </p:txBody>
      </p:sp>
      <p:sp>
        <p:nvSpPr>
          <p:cNvPr id="9" name="Chevron 8"/>
          <p:cNvSpPr/>
          <p:nvPr/>
        </p:nvSpPr>
        <p:spPr>
          <a:xfrm>
            <a:off x="2999232" y="2578608"/>
            <a:ext cx="320040" cy="502920"/>
          </a:xfrm>
          <a:prstGeom prst="chevron">
            <a:avLst/>
          </a:prstGeom>
          <a:solidFill>
            <a:srgbClr val="5F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2286000"/>
            <a:ext cx="2377440" cy="1143000"/>
          </a:xfrm>
          <a:prstGeom prst="roundRect">
            <a:avLst/>
          </a:prstGeom>
          <a:solidFill>
            <a:srgbClr val="C39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542032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Likvidlik pasayadi</a:t>
            </a:r>
          </a:p>
        </p:txBody>
      </p:sp>
      <p:sp>
        <p:nvSpPr>
          <p:cNvPr id="12" name="Chevron 11"/>
          <p:cNvSpPr/>
          <p:nvPr/>
        </p:nvSpPr>
        <p:spPr>
          <a:xfrm>
            <a:off x="5788152" y="2578608"/>
            <a:ext cx="320040" cy="502920"/>
          </a:xfrm>
          <a:prstGeom prst="chevron">
            <a:avLst/>
          </a:prstGeom>
          <a:solidFill>
            <a:srgbClr val="5F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79" y="2286000"/>
            <a:ext cx="2377440" cy="1143000"/>
          </a:xfrm>
          <a:prstGeom prst="round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542032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To‘lov qobiliyati yomonlashadi</a:t>
            </a:r>
          </a:p>
        </p:txBody>
      </p:sp>
      <p:sp>
        <p:nvSpPr>
          <p:cNvPr id="15" name="Chevron 14"/>
          <p:cNvSpPr/>
          <p:nvPr/>
        </p:nvSpPr>
        <p:spPr>
          <a:xfrm>
            <a:off x="8577072" y="2578608"/>
            <a:ext cx="320040" cy="502920"/>
          </a:xfrm>
          <a:prstGeom prst="chevron">
            <a:avLst/>
          </a:prstGeom>
          <a:solidFill>
            <a:srgbClr val="5F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15399" y="2286000"/>
            <a:ext cx="2377440" cy="1143000"/>
          </a:xfrm>
          <a:prstGeom prst="round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59" y="2542032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Moliyaviy barqarorlik pasayadi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Qarzlar holatini yaxshilash: shartnoma intizomi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Boshqaruv tavsiyalari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Yetkazib berish va xarid shartnomalarini o‘z vaqtida hamda to‘g‘ri tuzish.</a:t>
            </a:r>
          </a:p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To‘lov muddatlari, javobgarlik va hisob-kitob shartlarini aniq belgilash.</a:t>
            </a:r>
          </a:p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Hamkorlarning moliyaviy imkoniyatini shartnoma tuzishdan oldin baholash.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Hisob-kitob hujjatlarini to‘g‘ri rasmiylashtirish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Boshqaruv tavsiyalari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Hisob-kitob va to‘lov hujjatlarini o‘z vaqtida tayyorlash.</a:t>
            </a:r>
          </a:p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Yetkazib berish va xizmat ko‘rsatish operatsiyalarini darhol hisobga olish.</a:t>
            </a:r>
          </a:p>
          <a:p>
            <a:pPr>
              <a:spcAft>
                <a:spcPts val="700"/>
              </a:spcAft>
              <a:defRPr sz="2000">
                <a:solidFill>
                  <a:srgbClr val="25313A"/>
                </a:solidFill>
              </a:defRPr>
            </a:pPr>
            <a:r>
              <a:t>Debitorlik va kreditorlik qarzlarini muntazam solishtirib borish.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Hamkorlarning moliyaviy holatini o‘rganish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Boshqaruv tavsiyalari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Mahsulot yetkazib beruvchilar va xaridorlarning to‘lov qobiliyatini baholash.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Yirik yoki muddati o‘tgan qarzlar bo‘yicha alohida monitoring yuritish.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Qarzlar portfelini risk darajasi bo‘yicha guruhlash.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Sotish va xizmat sifatini yaxshilash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Boshqaruv tavsiyalari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Mahsulot va xizmatlar hajmini oshirish.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Sifatni yaxshilash orqali da’vo va to‘lov kechikishlarini kamaytirish.</a:t>
            </a:r>
          </a:p>
          <a:p>
            <a:pPr>
              <a:spcAft>
                <a:spcPts val="700"/>
              </a:spcAft>
              <a:defRPr sz="1900">
                <a:solidFill>
                  <a:srgbClr val="25313A"/>
                </a:solidFill>
              </a:defRPr>
            </a:pPr>
            <a:r>
              <a:t>Mijozlar bilan hisob-kitobni tezlashtiruvchi shartlarni qo‘llash.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Moliya xodimlari malakasi va doimiy tahlil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Boshqaruv tavsiyalari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850">
                <a:solidFill>
                  <a:srgbClr val="25313A"/>
                </a:solidFill>
              </a:defRPr>
            </a:pPr>
            <a:r>
              <a:t>Buxgalter, iqtisodchi va moliya xodimlari malakasini muntazam oshirish.</a:t>
            </a:r>
          </a:p>
          <a:p>
            <a:pPr>
              <a:spcAft>
                <a:spcPts val="700"/>
              </a:spcAft>
              <a:defRPr sz="1850">
                <a:solidFill>
                  <a:srgbClr val="25313A"/>
                </a:solidFill>
              </a:defRPr>
            </a:pPr>
            <a:r>
              <a:t>Qarzlar bo‘yicha tahlilni faqat hisobot davri oxirida emas, doimiy amalga oshirish.</a:t>
            </a:r>
          </a:p>
          <a:p>
            <a:pPr>
              <a:spcAft>
                <a:spcPts val="700"/>
              </a:spcAft>
              <a:defRPr sz="1850">
                <a:solidFill>
                  <a:srgbClr val="25313A"/>
                </a:solidFill>
              </a:defRPr>
            </a:pPr>
            <a:r>
              <a:t>Tahlil natijalarini menejerlarga tezkor boshqaruv qarorlari uchun taqdim etish.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Rahbar uchun nazorat paneli: 7 ta asosiy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Boshqaruv tavsiyalari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Jami debitorlik qarzi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Jami kreditorlik qarzi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Muddati o‘tgan debitorlik ulushi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Muddati o‘tgan kreditorlik ulushi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Debitorlikning sotish hajmiga nisbatan o‘sishi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Kreditorlik/debitorlik nisbati</a:t>
            </a:r>
          </a:p>
          <a:p>
            <a:pPr>
              <a:spcAft>
                <a:spcPts val="700"/>
              </a:spcAft>
              <a:defRPr sz="1700">
                <a:solidFill>
                  <a:srgbClr val="25313A"/>
                </a:solidFill>
              </a:defRPr>
            </a:pPr>
            <a:r>
              <a:t>Immobilizatsiya koeffitsiyentlari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Amaliy mini-keys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Turistik firma yil oxirida 420 mln so‘m debitorlik va 560 mln so‘m kreditorlik qarziga ega.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Muddati o‘tgan debitorlik — 126 mln so‘m; muddati o‘tgan kreditorlik — 112 mln so‘m.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Hisoblang: kreditorlik/debitorlik nisbati, muddati o‘tgan debitorlik va kreditorlik koeffitsiyentlari.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Natijalarni moliyaviy xavf nuqtai nazaridan izohlang.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7A80"/>
                </a:solidFill>
              </a:defRPr>
            </a:pPr>
            <a:r>
              <a:t>Nazorat uchun: 560/420 = 1,33; 126/420 = 0,30; 112/560 = 0,20.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Mavzu bo‘yicha tayanch tushunchalar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50">
                <a:solidFill>
                  <a:srgbClr val="25313A"/>
                </a:solidFill>
              </a:defRPr>
            </a:pPr>
            <a:r>
              <a:t>Debitorlik qarzi</a:t>
            </a:r>
          </a:p>
          <a:p>
            <a:pPr>
              <a:spcAft>
                <a:spcPts val="700"/>
              </a:spcAft>
              <a:defRPr sz="1650">
                <a:solidFill>
                  <a:srgbClr val="25313A"/>
                </a:solidFill>
              </a:defRPr>
            </a:pPr>
            <a:r>
              <a:t>Kreditorlik qarzi</a:t>
            </a:r>
          </a:p>
          <a:p>
            <a:pPr>
              <a:spcAft>
                <a:spcPts val="700"/>
              </a:spcAft>
              <a:defRPr sz="1650">
                <a:solidFill>
                  <a:srgbClr val="25313A"/>
                </a:solidFill>
              </a:defRPr>
            </a:pPr>
            <a:r>
              <a:t>Xaridorlar va buyurtmachilar</a:t>
            </a:r>
          </a:p>
          <a:p>
            <a:pPr>
              <a:spcAft>
                <a:spcPts val="700"/>
              </a:spcAft>
              <a:defRPr sz="1650">
                <a:solidFill>
                  <a:srgbClr val="25313A"/>
                </a:solidFill>
              </a:defRPr>
            </a:pPr>
            <a:r>
              <a:t>Bo‘nak to‘lovlari</a:t>
            </a:r>
          </a:p>
          <a:p>
            <a:pPr>
              <a:spcAft>
                <a:spcPts val="700"/>
              </a:spcAft>
              <a:defRPr sz="1650">
                <a:solidFill>
                  <a:srgbClr val="25313A"/>
                </a:solidFill>
              </a:defRPr>
            </a:pPr>
            <a:r>
              <a:t>Muddati o‘tgan qarzlar</a:t>
            </a:r>
          </a:p>
          <a:p>
            <a:pPr>
              <a:spcAft>
                <a:spcPts val="700"/>
              </a:spcAft>
              <a:defRPr sz="1650">
                <a:solidFill>
                  <a:srgbClr val="25313A"/>
                </a:solidFill>
              </a:defRPr>
            </a:pPr>
            <a:r>
              <a:t>Sarmoyani immobilizatsiyalash koeffitsiyenti</a:t>
            </a:r>
          </a:p>
          <a:p>
            <a:pPr>
              <a:spcAft>
                <a:spcPts val="700"/>
              </a:spcAft>
              <a:defRPr sz="1650">
                <a:solidFill>
                  <a:srgbClr val="25313A"/>
                </a:solidFill>
              </a:defRPr>
            </a:pPr>
            <a:r>
              <a:t>Aylanma mablag‘larni immobilizatsiyalash koeffitsiyenti</a:t>
            </a:r>
          </a:p>
          <a:p>
            <a:pPr>
              <a:spcAft>
                <a:spcPts val="700"/>
              </a:spcAft>
              <a:defRPr sz="1650">
                <a:solidFill>
                  <a:srgbClr val="25313A"/>
                </a:solidFill>
              </a:defRPr>
            </a:pPr>
            <a:r>
              <a:t>Jalb etilgan mablag‘lar koeffitsiyenti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A42"/>
                </a:solidFill>
              </a:defRPr>
            </a:pPr>
            <a:r>
              <a:t>Nazorat savollari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0138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75"/>
                </a:solidFill>
              </a:defRPr>
            </a:pPr>
            <a:r>
              <a:t>A.N. Xoliqulov — “Turistik korxonalar faoliyati tahlili” | 10-mavzu | 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Debitorlik qarzi deganda nimani tushunasiz?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Kreditorlik qarzi deganda nimani tushunasiz?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Debitorlik qarzining vujudga kelish sabablari nimalar?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Kreditorlik qarzi qanday sabablarga ko‘ra vujudga keladi?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Debitorlik va kreditorlik qarzlarini ifodalovchi asosiy ko‘rsatkichlarni sanang.</a:t>
            </a:r>
          </a:p>
          <a:p>
            <a:pPr>
              <a:spcAft>
                <a:spcPts val="700"/>
              </a:spcAft>
              <a:defRPr sz="1800">
                <a:solidFill>
                  <a:srgbClr val="25313A"/>
                </a:solidFill>
              </a:defRPr>
            </a:pPr>
            <a:r>
              <a:t>Muddati o‘tgan qarzlar korxonaning likvidligi va to‘lov qobiliyatiga qanday ta’sir qiladi?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