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11.1-jadval bo‘yicha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Pul oqimi koeffitsiyenti</c:v>
                </c:pt>
              </c:strCache>
            </c:strRef>
          </c:tx>
          <c:spPr>
            <a:solidFill>
              <a:srgbClr val="187A80"/>
            </a:solidFill>
          </c:spPr>
          <c:cat>
            <c:strRef>
              <c:f>Sheet1!$A$2:$A$5</c:f>
              <c:strCache>
                <c:ptCount val="4"/>
                <c:pt idx="0">
                  <c:v>Asosiy</c:v>
                </c:pt>
                <c:pt idx="1">
                  <c:v>Investitsiya</c:v>
                </c:pt>
                <c:pt idx="2">
                  <c:v>Moliyaviy</c:v>
                </c:pt>
                <c:pt idx="3">
                  <c:v>Jami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</c:v>
                </c:pt>
                <c:pt idx="1">
                  <c:v>1.09</c:v>
                </c:pt>
                <c:pt idx="2">
                  <c:v>1.64</c:v>
                </c:pt>
                <c:pt idx="3">
                  <c:v>0.99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A7AD"/>
                </a:solidFill>
              </a:defRPr>
            </a:pPr>
            <a:r>
              <a:t>11-MAVZU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</a:defRPr>
            </a:pPr>
            <a:r>
              <a:t>Turistik korxonalarning pul oqimlarini baholash va tahlil qilish yo‘llari</a:t>
            </a:r>
          </a:p>
          <a:p>
            <a:pPr>
              <a:spcBef>
                <a:spcPts val="1800"/>
              </a:spcBef>
              <a:defRPr sz="1600">
                <a:solidFill>
                  <a:srgbClr val="DBE8EA"/>
                </a:solidFill>
              </a:defRPr>
            </a:pPr>
            <a:r>
              <a:t>A.N. Xoliqulov, “Turistik korxonalar faoliyati tahlili”, 191–200-betlar asosida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486400"/>
            <a:ext cx="777240" cy="73152"/>
          </a:xfrm>
          <a:prstGeom prst="rect">
            <a:avLst/>
          </a:prstGeom>
          <a:solidFill>
            <a:srgbClr val="2DA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74519" y="5486400"/>
            <a:ext cx="777240" cy="73152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79" y="5486400"/>
            <a:ext cx="777240" cy="73152"/>
          </a:xfrm>
          <a:prstGeom prst="rect">
            <a:avLst/>
          </a:prstGeom>
          <a:solidFill>
            <a:srgbClr val="C39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77639" y="5486400"/>
            <a:ext cx="77724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Mavzuning maqsadi va o‘quv natijalari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Kirish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Maqsad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Pul oqimi tushunchasi va uning moliyaviy boshqaruvdagi rolini ochib berish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Pul tushumi va chiqimini tarkibiy hamda koeffitsiyent usulida tahlil qilish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Daromad bilan real pul tushumi o‘rtasidagi farqni tushuntirish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O‘quv natijalari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Operatsion, investitsion va moliyaviy pul oqimlarini ajrata oladi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Pul oqimi balans tenglamasi va koeffitsiyentlarini hisoblaydi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11.1-jadval asosida xulosa va tavsiyalar ishlab chiqadi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 rejasi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Kirish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11.1. Turistik korxonada pul mablag‘lari oqimi tushunchasi va ko‘rsatkichlari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Pul mablag‘lari, pul ekvivalentlari va pul oqimlari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Operatsion, investitsion va moliyaviy faoliyat oqimlari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11.2. Pul mablag‘lari tushumini tahlil qilish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11.3. Pul mablag‘larining chiqib ketishini tahlil qilish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11.1-jadval: “TURSERVIS” pul oqimlarini baholash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Daromad–pul tushumi va xarajat–pul to‘lovi tafovutlarini tahlil qilish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Pul mablag‘lari nega strategik ahamiyatga ega?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11.1. Pul oqimi tushunchasi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Turistik korxonaning moliyaviy holati pul mablag‘larining mavjudligi va harakatiga bevosita bog‘liq.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Pul yetishmasa vositachilar, budjet, xodimlar va kreditorlar bilan o‘z vaqtida hisob-kitob qilish qiyinlashadi.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Natijada kreditorlik qarzlari, jarimalar va foiz xarajatlari oshishi, to‘lov qobiliyati yomonlashishi mumkin.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Foyda bor, lekin pul yo‘q: bu qanday yuz beradi?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11.1. Pul oqimi tushunchasi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C39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Hisoblangan natija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Daromad va foyda hisobda tan olinishi mumkin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Sotuv amalga oshgan, lekin xaridor hali to‘lamagan bo‘lishi mumkin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Xarajat ham hisobda yoziladi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Real pul oqimi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Korxona hisobvarag‘iga amalda kelib tushgan pul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Haqiqatan to‘langan mablag‘lar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Real to‘lov qobiliyatini belgilaydi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Menejer uchun asosiy savol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11.1. Pul oqimi tushunchasi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Hisoblangan daromad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97480"/>
            <a:ext cx="32552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Daromad yozilgan bo‘lishi mumkin.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Amalda tushgan pul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97480"/>
            <a:ext cx="32552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Pul keyinroq kelishi mumkin.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Sarflash mumkin bo‘lgan mablag‘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97480"/>
            <a:ext cx="32552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REAL CASH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Boshqaruv qarori real pul qoldig‘iga tayangan holda qabul qilinadi.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Pul oqimlari to‘g‘risidagi hisobot nima beradi?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11.1. Pul oqimi tushunchasi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Pul mablag‘larining tushishi va sarflanishi haqida ma’lumot beradi.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Davr boshidagi va oxiridagi pul qoldiqlarini ko‘rsatadi.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Investitsiya va moliyaviy faoliyat natijasidagi pul oqimlarini ajratib beradi.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Rahbar, investor va kreditorlarga korxonaning pul yaratish va undan foydalanish qobiliyatini baholashga yordam beradi.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Pul oqimlari va boshqa moliyaviy hisobotlar bog‘liqligi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11.1. Pul oqimi tushunchasi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Pul oqimlari hisoboti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Real tushum va to‘lovlar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Davr bosh/oxiridagi pul qoldig‘i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Pul oqimlari yo‘nalishi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Boshqa hisobotlar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Moliyaviy natijalar: daromad va xarajatlar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Balans: debitorlik, kreditorlik, pul va boshqa aktivlar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Ular birgalikda o‘qilganda to‘liq moliyaviy manzara hosil bo‘ladi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Asosiy atamalar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11.1. Pul oqimi tushunchasi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Pul mablag‘lari — kassadagi naqd pul, talab qilib olinadigan depozitlar va bank hisobvaraqlaridagi mablag‘lar.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Pul ekvivalentlari — qisqa muddatli, yuqori likvidli va qiymat o‘zgarishi xavfi kichik investitsiyalar.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Pul oqimlari — pul mablag‘lari va ekvivalentlarining kirimi hamda chiqimi.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Operatsion faoliyat — daromad keltiruvchi asosiy faoliyat.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Investitsiya faoliyati — uzoq muddatli aktivlar va investitsiyalarni sotib olish/sotish.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Moliyaviy faoliyat — o‘z kapitali va qarz mablag‘lari miqdori hamda tarkibini o‘zgartiruvchi faoliyat.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Pul oqimini ifodalovchi asosiy ko‘rsatkichlar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11.1. Ko‘rsatkichlar tizimi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Pul mablag‘lari tushumi summasi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Pul mablag‘lari xarajati summasi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Tushum va xarajat tarkibi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Tushum va xarajat o‘rtasidagi saldo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Tushgan va sarflangan pul mablag‘lari nisbati koeffitsiyenti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Daromad–pul tushumi va xarajat–real to‘lov nisbatlari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Pul oqimi balans tenglamasi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11.1. Ko‘rsatkichlar tizimi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22A42"/>
                </a:solidFill>
              </a:defRPr>
            </a:pPr>
            <a:r>
              <a:t>PMQboshl + PMT = PMX + PMQoxir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Balans mantig‘i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Davr boshidagi pul qoldig‘i va davr davomida kelib tushgan pul mablag‘lari davrda sarflangan pul hamda davr oxiridagi qoldiqni qoplaydi.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Pul mablag‘lari doimiy harakatda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11.1. Ko‘rsatkichlar tizimi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2377440" cy="1188720"/>
          </a:xfrm>
          <a:prstGeom prst="round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51176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Boshlang‘ich qoldiq</a:t>
            </a:r>
          </a:p>
        </p:txBody>
      </p:sp>
      <p:sp>
        <p:nvSpPr>
          <p:cNvPr id="9" name="Chevron 8"/>
          <p:cNvSpPr/>
          <p:nvPr/>
        </p:nvSpPr>
        <p:spPr>
          <a:xfrm>
            <a:off x="3154680" y="2578608"/>
            <a:ext cx="292608" cy="457200"/>
          </a:xfrm>
          <a:prstGeom prst="chevron">
            <a:avLst/>
          </a:prstGeom>
          <a:solidFill>
            <a:srgbClr val="5F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02152" y="2240280"/>
            <a:ext cx="2377440" cy="1188720"/>
          </a:xfrm>
          <a:prstGeom prst="round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551176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Pul tushumi</a:t>
            </a:r>
          </a:p>
        </p:txBody>
      </p:sp>
      <p:sp>
        <p:nvSpPr>
          <p:cNvPr id="12" name="Chevron 11"/>
          <p:cNvSpPr/>
          <p:nvPr/>
        </p:nvSpPr>
        <p:spPr>
          <a:xfrm>
            <a:off x="5971032" y="2578608"/>
            <a:ext cx="292608" cy="457200"/>
          </a:xfrm>
          <a:prstGeom prst="chevron">
            <a:avLst/>
          </a:prstGeom>
          <a:solidFill>
            <a:srgbClr val="5F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8504" y="2240280"/>
            <a:ext cx="2377440" cy="1188720"/>
          </a:xfrm>
          <a:prstGeom prst="round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2551176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Pul xarajati</a:t>
            </a:r>
          </a:p>
        </p:txBody>
      </p:sp>
      <p:sp>
        <p:nvSpPr>
          <p:cNvPr id="15" name="Chevron 14"/>
          <p:cNvSpPr/>
          <p:nvPr/>
        </p:nvSpPr>
        <p:spPr>
          <a:xfrm>
            <a:off x="8787384" y="2578608"/>
            <a:ext cx="292608" cy="457200"/>
          </a:xfrm>
          <a:prstGeom prst="chevron">
            <a:avLst/>
          </a:prstGeom>
          <a:solidFill>
            <a:srgbClr val="5F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34856" y="2240280"/>
            <a:ext cx="2377440" cy="1188720"/>
          </a:xfrm>
          <a:prstGeom prst="round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6296" y="2551176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Oxirgi qoldiq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Pul oqimlarining uch asosiy yo‘nalishi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11.1. Pul oqimi turlari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Operatsion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97480"/>
            <a:ext cx="32552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Asosiy faoliyat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Mijozlardan tushum, yetkazib beruvchi va xodimlarga to‘lovlar.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Investitsion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97480"/>
            <a:ext cx="32552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Aktiv va investitsiyalar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Uzoq muddatli aktivlarni sotib olish va sotish.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Moliyaviy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97480"/>
            <a:ext cx="32552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Kapital va qarz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Kredit, qarz, kapital, moliyaviy ijara va boshqa moliyalashtirish oqimlari.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Operatsion faoliyatdan pul oqimlari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11.1. Pul oqimi turlari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Kirimlar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Xaridorlardan olingan pul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Royalti va boshqa operatsion tushumlar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Asosiy xizmatlardan pul tushumi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Chiqimlar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Yetkazib beruvchilarga to‘lovlar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Xodimlarga va ular nomidan to‘lovlar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Operatsion faoliyatga tegishli soliqlar va boshqa to‘lovlar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Investitsiya faoliyatidan pul oqimlari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11.1. Pul oqimi turlari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Kirimlar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Nomoddiy aktivlarni sotish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Uzoq muddatli moddiy aktivlarni sotish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Investitsiyalarni realizatsiya qilish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Chiqimlar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Nomoddiy aktivlarni sotib olish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Asosiy vositalar va boshqa uzoq muddatli aktivlarni sotib olish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Qimmatli qog‘ozlar va boshqa investitsiyalar uchun to‘lovlar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Moliyaviy faoliyatdan pul oqimlari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11.1. Pul oqimi turlari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Kirimlar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Aksiyalar chiqarishdan tushum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Uzoq va qisqa muddatli qarzlar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Moliyalashtirish bilan bog‘liq boshqa tushumlar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Chiqimlar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Qarzlarni qaytarish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Moliyaviy ijara to‘lovlari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Kapital tuzilmasini o‘zgartiruvchi boshqa to‘lovlar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Amaldagi 9-son BHMS: 2025-yildan yangi tahrir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Normativ yangilanish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9-son BHMS “Pul oqimlari to‘g‘risidagi hisobot”ning yangi tahriri 2025-yil 1-yanvardan kuchga kirgan.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Hisobot pul tushumlari va to‘lovlarini operatsion, investitsiya va moliyaviy faoliyat bo‘yicha uch asosiy toifaga ajratadi.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Pul ekvivalentlari, odatda, uch oy yoki undan kam muddatli yuqori likvidli investitsiyalar sifatida aniqlangan.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Kitobdagi 4-shakl va ayrim satr raqamlari tarixiy metodik material sifatida saqlanadi; amaliyotda amaldagi BHMSga tayanish lozim.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Operatsion pul oqimini taqdim etishning 2 usuli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Normativ yangilanish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Bevosita usul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Yalpi pul tushumlari va yalpi to‘lovlarning asosiy turlari ochib beriladi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Pulning qayerdan kelgani va qayerga sarflangani to‘g‘ridan-to‘g‘ri ko‘rinadi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Bilvosita usul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Sof foyda (zarar)dan boshlanadi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Pulsiz operatsiyalar va aylanma kapitaldagi o‘zgarishlar bilan tuzatiladi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Investitsion/moliyaviy moddalarning ta’siri ajratiladi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11.2. Pul mablag‘lari tushumini tahlil qilish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11.2. Pul tushumi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Pul tushumi korxona ixtiyoriga amalda kelib tushgan mablag‘larni anglatadi.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Tahlilda tushumlarning summasi, tarkibi va ulushidagi o‘zgarishlar o‘rganiladi.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Har bir o‘zgarishning sababi aniqlanib, ijobiy yoki salbiy tendensiyalar bo‘yicha boshqaruv xulosasi chiqariladi.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Xaridorlardan olingan pul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11.2. Pul tushumi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Jo‘natilgan mahsulot, bajarilgan ish va ko‘rsatilgan xizmatlar uchun amalda kelib tushgan mablag‘lar.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Turistik korxona uchun eng muhim operatsion pul manbalaridan biri.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Sotish daromadi bilan aynan teng bo‘lishi shart emas — debitorlik qarzi farqni yuzaga keltiradi.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Boshqa pul tushumlari va royalti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11.2. Pul tushumi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Boshqa tushumlar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Vositachilik yig‘imlari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Turli xizmat haqlari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Boshqa operatsion daromadlar bo‘yicha real tushum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Royalti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Aktivlardan foydalanish huquqi uchun tushum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Mualliflik va intellektual mulk bilan bog‘liq to‘lovlar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Kitobda ayrim ijara va foydalanish to‘lovlari ham misol sifatida keltiriladi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Olingan foizlar va dividendlar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11.2. Pul tushumi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Foizlar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Berilgan qarz va kreditlar bo‘yicha olingan pul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Moliyaviy daromadning real pul ko‘rinishi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Dividendlar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Aksiyalar va ulushlardan olingan pul tushumi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Hisoblangan dividend bilan real tushgan dividend farq qilishi mumkin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Aktivlarni sotishdan tushumlar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11.2. Pul tushumi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Nomoddiy aktivlarni sotishdan kelgan pul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Uzoq muddatli moddiy aktivlarni sotishdan kelgan pul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Bunday tushumlar asosiy xizmat daromadidan alohida tahlil qilinadi.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Ularning barqarorligi operatsion tushumlar kabi yuqori bo‘lmasligi mumkin.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Investitsiyalar va qarzlardan tushum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11.2. Pul tushumi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Qimmatli qog‘ozlar yoki investitsiyalarni sotishdan tushum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Banklar va boshqa yuridik shaxslardan olingan uzoq yoki qisqa muddatli qarzlar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Bunday tushumlar korxonaning pul salohiyatini oshiradi, lekin qarz jalb etilgan bo‘lsa keyingi to‘lov majburiyatini ham yaratadi.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Kapital va ijara bilan bog‘liq tushumlar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11.2. Pul tushumi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Aksiyalar chiqarish yoki kapitalga badallar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O‘z kapitalini ko‘paytiruvchi pul oqimi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Ijara va moliyalashtirish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Ijara bilan bog‘liq pul tushumlari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Moliyaviy faoliyatning mazmuniga qarab tegishli toifaga ajratiladi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Pul tushumi ≠ daromad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11.2. Pul tushumi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Daromad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97480"/>
            <a:ext cx="50840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Hisoblangan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51572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Xizmat ko‘rsatilganda tan olinishi mumkin.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Pul tushumi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2697480"/>
            <a:ext cx="50840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Amalda kelib tushgan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160520"/>
            <a:ext cx="51572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Mijoz pulni keyinroq to‘lashi mumkin.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63440"/>
            <a:ext cx="10149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87A80"/>
                </a:solidFill>
              </a:defRPr>
            </a:pPr>
            <a:r>
              <a:t>Shuning uchun tahlilda daromadlar bilan real tushumlarni aralashtirib yubormaslik kerak.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11.3. Pul mablag‘larining chiqib ketishi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11.3. Pul chiqimi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Hisobot davrida turli operatsiyalarni qoplash uchun sarflangan real pul mablag‘lari pul chiqimi hisoblanadi.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Chiqimlar ham faoliyat yo‘nalishi va iqtisodiy mazmuni bo‘yicha tahlil qilinadi.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Tushumlardan ortiqcha chiqim pul qoldig‘ining kamayishiga olib keladi.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Yetkazib beruvchilarga to‘langan pul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11.3. Pul chiqimi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Moddiy boyliklar va xizmatlar uchun to‘langan mablag‘lar.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Asosiy vosita yoki nomoddiy aktiv sotib olish to‘lovlari bundan alohida, investitsion oqim sifatida qaraladi.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Yetkazib beruvchilarga to‘lovlarning kechikishi kreditorlik qarzini oshiradi.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Xodimlarga va ular nomidan to‘langan mablag‘lar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11.3. Pul chiqimi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Ish haqi va mukofotlar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Xodimlar bilan bog‘liq boshqa to‘lovlar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Tegishli fondlar va majburiy ajratmalar bilan bog‘liq pul to‘lovlari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Turistik xizmatlarda mehnat omili yuqori bo‘lgani uchun bu oqim muhim operatsion chiqim hisoblanadi.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Foiz va dividend to‘lovlari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11.3. Pul chiqimi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Foizlar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Bank krediti va qarz mablag‘laridan foydalanish uchun to‘lov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Qarz yukini va moliyalashtirish qiymatini aks ettiradi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Dividendlar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Mulkdorlar va aksiyadorlarga taqsimlanadigan pul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Sof foyda mavjud bo‘lsa ham real pul yetarli bo‘lishi zarur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Soliqlar bo‘yicha pul chiqimlari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11.3. Pul chiqimi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Foyda (daromad) solig‘i bo‘yicha to‘lovlar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Boshqa soliqlar, yig‘imlar va majburiy to‘lovlar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Hisoblangan soliq summasi bilan real to‘langan summa har doim bir vaqtda mos kelmasligi mumkin.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Shu sababli soliq xarajatlari va soliq pul oqimlari alohida taqqoslanadi.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Aktivlarni sotib olish uchun pul chiqimi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11.3. Pul chiqimi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Nomoddiy aktivlar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Litsenziya, dasturiy ta’minot va boshqa nomoddiy aktivlar uchun real to‘lovlar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Investitsion oqim sifatida qaraladi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Uzoq muddatli moddiy aktivlar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Bino, inshoot, uskunalar va boshqa asosiy vositalar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Kelajakdagi xizmat ko‘rsatish salohiyatini oshiradi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Qimmatli qog‘ozlar va investitsiyalar uchun to‘lovlar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11.3. Pul chiqimi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Qimmatli qog‘ozlarni sotib olish uchun to‘lovlar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Vositachilik va birja xarajatlari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Kapital xarakterdagi ayrim investitsion to‘lovlar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Tahlilda bunday chiqim kelajakdagi daromad yaratish salohiyati bilan baholanadi.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Ijara majburiyatlari bo‘yicha to‘lovlar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11.3. Pul chiqimi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Ijaraga beruvchiga to‘langan pul mablag‘lari va ularning ekvivalentlari.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Moliyaviy ijara bo‘yicha to‘lovlar amaldagi standartlarda moliyaviy faoliyat bilan bog‘liq pul oqimlari sifatida alohida ko‘rib chiqilishi mumkin.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Turistik korxonalarda transport, bino va uskunalarni ijaraga olish pul oqimiga sezilarli ta’sir qilishi mumkin.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Xorijiy valyutadagi pul oqimlari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11.3. Pul chiqimi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Kitobda xorijiy valyutadagi operatsiyalar operatsiya sanasidagi Markaziy bank kursida so‘mga qayta hisoblanishi qayd etilgan.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Amaldagi 9-son BHMS ham xorijiy valyutadagi pul oqimlarini operatsiya amalga oshirilgan sanadagi Markaziy bank kursida aks ettirishni belgilaydi.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Realizatsiya qilinmagan kurs farqlari pul oqimi hisoblanmaydi.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11.1-jadval: “TURSERVIS” pul oqimi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11.3.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36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8912" y="1353312"/>
          <a:ext cx="112928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262"/>
                <a:gridCol w="1613262"/>
                <a:gridCol w="1613262"/>
                <a:gridCol w="1613262"/>
                <a:gridCol w="1613262"/>
                <a:gridCol w="1613262"/>
                <a:gridCol w="1613268"/>
              </a:tblGrid>
              <a:tr h="896112">
                <a:tc>
                  <a:txBody>
                    <a:bodyPr/>
                    <a:lstStyle/>
                    <a:p>
                      <a:pPr algn="ctr">
                        <a:defRPr sz="1040" b="1">
                          <a:solidFill>
                            <a:srgbClr val="FFFFFF"/>
                          </a:solidFill>
                        </a:defRPr>
                      </a:pPr>
                      <a:r>
                        <a:t>Faoliyat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1">
                          <a:solidFill>
                            <a:srgbClr val="FFFFFF"/>
                          </a:solidFill>
                        </a:defRPr>
                      </a:pPr>
                      <a:r>
                        <a:t>Kirim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1">
                          <a:solidFill>
                            <a:srgbClr val="FFFFFF"/>
                          </a:solidFill>
                        </a:defRPr>
                      </a:pPr>
                      <a:r>
                        <a:t>Kirim ulushi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1">
                          <a:solidFill>
                            <a:srgbClr val="FFFFFF"/>
                          </a:solidFill>
                        </a:defRPr>
                      </a:pPr>
                      <a:r>
                        <a:t>Chiqim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1">
                          <a:solidFill>
                            <a:srgbClr val="FFFFFF"/>
                          </a:solidFill>
                        </a:defRPr>
                      </a:pPr>
                      <a:r>
                        <a:t>Chiqim ulushi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1">
                          <a:solidFill>
                            <a:srgbClr val="FFFFFF"/>
                          </a:solidFill>
                        </a:defRPr>
                      </a:pPr>
                      <a:r>
                        <a:t>Saldo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1">
                          <a:solidFill>
                            <a:srgbClr val="FFFFFF"/>
                          </a:solidFill>
                        </a:defRPr>
                      </a:pPr>
                      <a:r>
                        <a:t>Koeff.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Asosiy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19 962,6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99,6%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20 026,9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99,7%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−64,3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0,99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Investitsiya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38,7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0,2%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35,4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0,2%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+3,3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1,09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Moliyaviy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35,7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0,2%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21,7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0,1%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+14,0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1,64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Jami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20 037,0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20 084,0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−47,0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0,99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“TURSERVIS”: umumiy pul oqimi natijasi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11.3.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Jami kirim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97480"/>
            <a:ext cx="32552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20 037,0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Hisobot davridagi jami pul tushumi.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Jami chiqim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97480"/>
            <a:ext cx="32552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20 084,0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Hisobot davridagi jami pul sarfi.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Sof pul oqimi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97480"/>
            <a:ext cx="32552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−47,0 ming so‘m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Chiqim kirimdan 47 ming so‘m ko‘p — pul qoldig‘i kamaygan.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Pul oqimi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11.3.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22A42"/>
                </a:solidFill>
              </a:defRPr>
            </a:pPr>
            <a:r>
              <a:t>Kpo = Pul tushumi / Pul chiqimi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Hisoblash formulasi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Koeffitsiyent 1 dan yuqori bo‘lsa kirim chiqimni qoplaydi; 1 dan past bo‘lsa chiqimlar tushumdan ortiq.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Faoliyatlar kesimida pul oqimi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11.3.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39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Asosiy faoliyatda pul oqimi saldosi manfiy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11.3.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Asosiy faoliyat kirimi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97480"/>
            <a:ext cx="32552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19 962,6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Asosiy faoliyat jami kirimning 99,6%ini beradi.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Asosiy faoliyat chiqimi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97480"/>
            <a:ext cx="32552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20 026,9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Asosiy faoliyat jami chiqimning 99,7%ini tashkil etadi.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Saldo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97480"/>
            <a:ext cx="32552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−64,3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Operatsion oqim salbiy bo‘lgani uchun alohida e’tibor talab qiladi.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Investitsiya va moliyaviy faoliyat ijobiy saldo bergan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11.3.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Investitsiya saldosi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97480"/>
            <a:ext cx="50840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+3,3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51572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Kirim chiqimdan biroz yuqori.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Moliyaviy saldo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2697480"/>
            <a:ext cx="50840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+14,0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160520"/>
            <a:ext cx="51572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Moliyaviy faoliyatda kirim chiqimdan ancha yuqori.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B23A3A"/>
                </a:solidFill>
              </a:defRPr>
            </a:pPr>
            <a:r>
              <a:t>Ammo bu ijobiy saldolar asosiy faoliyatdagi −64,3 ming so‘mlik salbiy oqimni to‘liq qoplay olmagan.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Pul oqimi tarkibi: 99,7% asosiy faoliyat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11.3.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Asosiy faoliyat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97480"/>
            <a:ext cx="32552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99,7%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Chiqimlarning mutlaq katta qismi operatsion faoliyatga tegishli.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Investitsiya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97480"/>
            <a:ext cx="32552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0,2%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Investitsion chiqim ulushi juda kichik.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Moliyaviy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97480"/>
            <a:ext cx="32552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0,1%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Moliyaviy chiqim ulushi ham kichik.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Daromadni real pul tushumi bilan taqqoslash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Hisoblash tamoyillari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Hisoblash usulida daromad xizmat ko‘rsatilganda tan olinadi, pul kelib tushgan vaqtda emas.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Shu sababli yozilgan daromad bilan real pul tushumi o‘rtasida vaqt tafovuti bo‘lishi mumkin.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Farq debitorlik qarzi dinamikasi bilan bog‘liq bo‘ladi.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Kitobdagi misol: 200 mln so‘m sotuv, 180 mln so‘m tushum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Hisoblash tamoyillari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Sof sotish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97480"/>
            <a:ext cx="32552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200 mln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Hisoblangan daromad.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Xaridorlardan tushgan pul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97480"/>
            <a:ext cx="32552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180 mln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Real tushgan pul.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5F6C75"/>
                </a:solidFill>
              </a:defRPr>
            </a:pPr>
            <a:r>
              <a:t>Farq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97480"/>
            <a:ext cx="3255264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20 mln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Debitorlik qarzi shu miqdorga oshgan.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Daromadlar tushish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Hisoblash tamoyillari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22A42"/>
                </a:solidFill>
              </a:defRPr>
            </a:pPr>
            <a:r>
              <a:t>Kdt = 180 / 200 = 0,90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Kitobdagi misol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Sotishdan tan olingan daromadning 90 foizi hisobot davrida real pul shaklida kelib tushgan.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Yetkazib beruvchilar bo‘yicha xarajat va to‘lov farqi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Hisoblash tamoyillari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Sotib olingan tovar va xizmatlar bo‘yicha hisoblangan qarz real to‘langan pul bilan taqqoslanadi.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Hisoblangan majburiyat to‘lovdan yuqori bo‘lsa kreditorlik qarzi ortadi.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Aksincha, to‘lovlar yuqori bo‘lsa oldingi davr qarzlari qisqarishi mumkin.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Dividendlar bo‘yicha hisoblangan va real pul oqimi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Hisoblash tamoyillari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Hisoblangan dividend daromadi bilan amalda olingan dividend pulini taqqoslash kerak.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Farq debitorlik yoki kreditorlik qarzidagi o‘zgarishlarga olib kelishi mumkin.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Bu yondashuv foydaning “qog‘ozdagi” va “puldagi” qismiga baho berishga yordam beradi.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Foizlar bo‘yicha hisoblangan va real pul oqimi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Hisoblash tamoyillari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Olingan foiz daromadi real tushgan foiz puli bilan solishtiriladi.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To‘langan foiz xarajati real to‘lovlar bilan taqqoslanadi.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Tafovutlar tegishli debitorlik yoki kreditorlik majburiyatlarini shakllantiradi.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Pul oqimini tahlil qilishning boshqaruv ahamiyati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Boshqaruv xulosalari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Ishlab chiqarish va xizmat ko‘rsatishni kengaytirish uchun qancha real pul mavjudligini aniqlash.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Kutilmagan noqulay vaziyatlarni oldindan ko‘rish.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To‘lov qobiliyati va likvidlik bo‘yicha strategiya ishlab chiqish.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Qarz, investitsiya va dividend siyosatini pul oqimlariga moslashtirish.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Turistik korxona uchun pul oqimi monitoringi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Boshqaruv xulosalari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Kunlik va haftalik pul kirim-chiqim rejasini yuritish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Debitorlardan tushum muddatlarini nazorat qilish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Yetkazib beruvchi va xodimlar to‘lovlarini ustuvorlashtirish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Mavsumiy turizm sababli yuzaga keladigan pul bo‘shliqlarini oldindan prognoz qilish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Investitsiya loyihalarini operatsion pul oqimi bilan muvofiqlashtirish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Pul oqimi tahlilining 5 bosqichi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Boshqaruv xulosalari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51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325880"/>
            <a:ext cx="566928" cy="566928"/>
          </a:xfrm>
          <a:prstGeom prst="ellipse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35607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307592"/>
            <a:ext cx="9326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313A"/>
                </a:solidFill>
              </a:defRPr>
            </a:pPr>
            <a:r>
              <a:t>1. Ma’lumotlarni yig‘ish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258568"/>
            <a:ext cx="566928" cy="566928"/>
          </a:xfrm>
          <a:prstGeom prst="ellipse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68296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240279"/>
            <a:ext cx="9326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313A"/>
                </a:solidFill>
              </a:defRPr>
            </a:pPr>
            <a:r>
              <a:t>2. Oqimlarni tasniflash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91256"/>
            <a:ext cx="566928" cy="566928"/>
          </a:xfrm>
          <a:prstGeom prst="ellipse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00984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172968"/>
            <a:ext cx="9326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313A"/>
                </a:solidFill>
              </a:defRPr>
            </a:pPr>
            <a:r>
              <a:t>3. Kirim–chiqimni taqqoslash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123944"/>
            <a:ext cx="566928" cy="566928"/>
          </a:xfrm>
          <a:prstGeom prst="ellipse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3367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105656"/>
            <a:ext cx="9326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313A"/>
                </a:solidFill>
              </a:defRPr>
            </a:pPr>
            <a:r>
              <a:t>4. Koeffitsiyentlarni hisoblash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056632"/>
            <a:ext cx="566928" cy="566928"/>
          </a:xfrm>
          <a:prstGeom prst="ellipse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166360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038344"/>
            <a:ext cx="9326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313A"/>
                </a:solidFill>
              </a:defRPr>
            </a:pPr>
            <a:r>
              <a:t>5. Xulosa va tavsiya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Amaliy mini-keys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Mustahkamlash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Turistik firma hisobot davrida 1 250 mln so‘m pul tushumi va 1 180 mln so‘m pul chiqimiga ega.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Operatsion oqim: +40 mln; investitsion oqim: −90 mln; moliyaviy oqim: +120 mln.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Hisoblang: umumiy sof pul oqimi va pul oqimi koeffitsiyenti.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Natijani moliyaviy barqarorlik nuqtai nazaridan izohlang.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7A80"/>
                </a:solidFill>
              </a:defRPr>
            </a:pPr>
            <a:r>
              <a:t>Nazorat uchun: sof oqim = +70 mln so‘m; koeffitsiyent = 1 250 / 1 180 ≈ 1,06.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Kitobdagi mustaqil topshiriq mantig‘i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Mustahkamlash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Operatsion faoliyatning sof pul kirimi/chiqimini sof tushum bilan taqqoslash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Investitsion sof pul oqimini asosiy faoliyat foydasi bilan solishtirish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Moliyaviy sof pul oqimini umumxo‘jalik foydasi bilan taqqoslash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To‘langan soliqlarni operatsion sof pul oqimi va hisoblangan soliqlar bilan solishtirish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Pul va pul ekvivalentlarining sof o‘sishi/kamayishini sof foyda hamda yil boshidagi pul bilan baholash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Tayanch iboralar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Pul oqimlari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Pul mablag‘lari va pul ekvivalentlari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Operatsion faoliyat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Investitsiya faoliyati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Moliyaviy faoliyat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Royalti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Pul oqimi saldosi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Pul oqimi koeffitsiyenti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Hisoblangan daromad va real tushum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Bevosita va bilvosita usullar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Takrorlash uchun savollar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Pul mablag‘larini tahlil qilishning ahamiyati nimadan iborat?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Pul mablag‘lari harakatini qanday prognozlash mumkin?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Pul mablag‘lari harakatini o‘rganishda tahlilning asosiy vazifalari nimalardan iborat?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Pul oqimini tahlil etishning bevosita usuli mohiyatini tushuntiring.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Pul oqimini tahlil etishning bilvosita usuli mohiyatini tushuntiring.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 bo‘yicha yakuniy xulosa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11-mavzu | 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Foyda korxonaning iqtisodiy natijasini, pul oqimi esa real to‘lov imkoniyatini ifodalaydi.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Turistik korxona uchun eng barqaror manba — asosiy faoliyatdan ijobiy va yetarli pul oqimi.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Pul tushumi va chiqimini faoliyat turlari bo‘yicha tahlil qilish likvidlik, to‘lov qobiliyati va investitsiya imkoniyatlarini boshqarishga xizmat qiladi.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Pul oqimi tahlili daromad, xarajat, debitorlik va kreditorlik qarzlari bilan birgalikda olib borilgandagina to‘liq moliyaviy xulosa beradi.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