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TURISTIK KORXONALAR FAOLIYATI TAHLILI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237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A.N. Xoliqulov, 2024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49224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Manba: A.N. Xoliqulov. “Turistik korxonalar faoliyati tahlili”, 2024, 100–111-betlar.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4E4"/>
                </a:solidFill>
              </a:rPr>
              <a:t>5-MAVZU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2880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Turistik korxonalar buxgalteriya balansini iqtisodiy o‘qish va tezkor tahlil qilish usullari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3232" y="5257800"/>
            <a:ext cx="2103120" cy="0"/>
          </a:xfrm>
          <a:prstGeom prst="line">
            <a:avLst/>
          </a:prstGeom>
          <a:noFill/>
          <a:ln w="508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8745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A.N. Xoliqulovning 2024-yilgi o‘quv qo‘llanmasi asosida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0" y="2926080"/>
            <a:ext cx="612648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</a:rPr>
              <a:t>5.1. Balansni iqtisodiy o‘qish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</a:rPr>
              <a:t>5.2. Moliyaviy holatni tezkor tahlil qilish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</a:rPr>
              <a:t>5.3. Balans tahlilining olti bosqichi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846320" y="5074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DDEFEF"/>
          </a:solidFill>
          <a:ln w="12700">
            <a:solidFill>
              <a:srgbClr val="DDEF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51206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16D"/>
                </a:solidFill>
              </a:rPr>
              <a:t>100–111-betlar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maqsadi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68680" y="1645920"/>
            <a:ext cx="1042416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Buxgalteriya balansini “iqtisodiy o‘qish” mazmunini tushunish.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 va passivlarning tarkibi hamda dinamikasidan dastlabki xulosalar chiqarish.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Balans likvidligini A1–A4 va P1–P4 guruhlari orqali baholash.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Tezkor tahlilning mantiqiy ketma-ketligini o‘zlashtirish.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Balans tahlilining olti bosqichini amaliy ko‘rsatkichlar bilan bog‘lash.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rejasi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3486912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2295144"/>
            <a:ext cx="334060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5.1. Iqtisodiy o‘qish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200144" y="245973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3024" y="2148840"/>
            <a:ext cx="3486912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56176" y="2295144"/>
            <a:ext cx="334060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5.2. Tezkor tahlil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851648" y="245973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34528" y="2148840"/>
            <a:ext cx="3486912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07680" y="2295144"/>
            <a:ext cx="334060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5.3. Olti bosqich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3977640"/>
            <a:ext cx="10058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16D"/>
                </a:solidFill>
              </a:rPr>
              <a:t>Asosiy g‘oya: balansdagi raqamlarni shunchaki ko‘rish emas, balki ular ortidagi moliyaviy holatni anglash.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61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9D8D8"/>
                </a:solidFill>
              </a:rPr>
              <a:t>5.1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49808" y="19659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Buxgalteriya balansini iqtisodiy o‘qish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3337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EEE"/>
                </a:solidFill>
              </a:rPr>
              <a:t>Balans ko‘rsatkichlari orqali korxonaning moliyaviy resurslari, ularning shakllanishi va taqsimotini anglash.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4572000"/>
            <a:ext cx="2926080" cy="0"/>
          </a:xfrm>
          <a:prstGeom prst="line">
            <a:avLst/>
          </a:prstGeom>
          <a:noFill/>
          <a:ln w="508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Buxgalteriya balansi — korxonaning “oynasi”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Balans nimani ko‘rsatadi?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Korxona mablag‘larining tarkibi, ularning manbalari, hisobot davri boshidagi va oxiridagi holat hamda moliyaviy o‘zgarishlar.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600200"/>
            <a:ext cx="73152" cy="4251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Nega “o‘qish” kerak?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Balans raqamlaridan foydalanib korxonaning moliyaviy holati, resurslar joylashuvi va majburiyatlarni bajarish imkoniyati haqida tez xulosa chiqarish uchun.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Balansni iqtisodiy o‘qish tushunchasi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0332720" cy="1965960"/>
          </a:xfrm>
          <a:prstGeom prst="roundRect">
            <a:avLst>
              <a:gd name="adj" fmla="val 3721"/>
            </a:avLst>
          </a:prstGeom>
          <a:solidFill>
            <a:srgbClr val="E9F4F4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2212848"/>
            <a:ext cx="969264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Turistik korxona balansini o‘qish — balansda aks etgan ko‘rsatkichlar va raqamlar yordamida moliyaviy resurslar hamda xo‘jalik mablag‘larining shakllanishi, taqsimoti va korxonaning hisobot davridagi moliyaviy holatini ko‘ra olishdir.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37560" y="425196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10712" y="4297680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95B"/>
                </a:solidFill>
              </a:rPr>
              <a:t>RAQAM → MA’NO → XULOSA → QAROR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Balansni kimlar o‘qiydi va nima uchun?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45920"/>
            <a:ext cx="73152" cy="182880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1051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Rahbar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286000"/>
            <a:ext cx="310896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Moliyaviy holatga baho beradi, hisobotni imzolashdan oldin haqqoniyligini tekshiradi.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52544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52544" y="1645920"/>
            <a:ext cx="73152" cy="1828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81051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Investor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2286000"/>
            <a:ext cx="310896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Investitsiya muhiti, xavf va mablag‘ kiritish imkoniyatini baholaydi.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19288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9288" y="1645920"/>
            <a:ext cx="73152" cy="1828800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181051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Auditor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0456" y="2286000"/>
            <a:ext cx="310896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Hisobotdagi xato va kamchiliklarni, muhim og‘ishlarni aniqlaydi.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514600" y="3794760"/>
            <a:ext cx="7132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3794760"/>
            <a:ext cx="73152" cy="1508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5768" y="3959352"/>
            <a:ext cx="678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Tahlilchi / yuqori tashkilot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15768" y="4434840"/>
            <a:ext cx="676656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Umumlashtirilgan hisobotning to‘g‘ri shakllanganligini tekshiradi va xulosalar beradi.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Korxona moliyasini baholashdagi asosiy yo‘nalishlar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1520" y="205740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220370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Moliyaviy resurslar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87268" y="236829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0148" y="205740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43300" y="220370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Raqobatbardoshlik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25896" y="236829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08776" y="205740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220370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Moliyaviy barqarorlik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764524" y="236829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47404" y="205740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20556" y="220370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Majburiyatlarni bajarish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4023360"/>
            <a:ext cx="10241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Xoliqulov bu ko‘rsatkichlarni korxona moliyaviy faoliyatini baholashning o‘zaro bog‘liq tarkibiy jihatlari sifatida ko‘rsatadi.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holatni baholashda nimalar o‘rganiladi?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68680" y="1645920"/>
            <a:ext cx="1042416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Korxona aktivlari va ularning moliyalashtirish manbalari.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To‘lov qobiliyati va likvidlik darajasi.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Moliyaviy natijalar va moliyaviy barqarorlik.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Ish faolligi hamda resurslardan foydalanish samaradorligi.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Dastlabki baholash va batafsil tahlilning o‘zaro ketma-ketligi.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Dastlabki va batafsil baholash farqi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Dastlabki baholash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Moliyaviy hisobotlarni iqtisodiy o‘qish orqali tezkor xulosa olinadi. Maqsad — muhim tendensiyalar va “signal”larni ko‘rish.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600200"/>
            <a:ext cx="73152" cy="4251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Batafsil baholash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Hisobotlar chuqur tahlil qilinadi: koeffitsientlar, omillar, likvidlik, barqarorlik, ish faolligi va boshqa ko‘rsatkichlar hisoblanadi.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Rahbar dastlabki baholashda nimalarni aniqlashi mumkin?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4698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Xo‘jalik mablag‘larining umumiy summasi va yil davomida o‘zgarishi.</a:t>
            </a:r>
            <a:endParaRPr lang="en-US" sz="1820" dirty="0"/>
          </a:p>
          <a:p>
            <a:pPr marL="228600" indent="-228600"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 mablag‘lari va qarz mablag‘lari manbalari, ularning o‘zaro nisbati.</a:t>
            </a:r>
            <a:endParaRPr lang="en-US" sz="1820" dirty="0"/>
          </a:p>
          <a:p>
            <a:pPr marL="228600" indent="-228600"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 mablag‘lari manbalari bilan uzoq muddatli aktivlarning nisbatini.</a:t>
            </a:r>
            <a:endParaRPr lang="en-US" sz="1820" dirty="0"/>
          </a:p>
          <a:p>
            <a:pPr marL="228600" indent="-228600"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Majburiyatlar bilan joriy aktivlarning nisbatini.</a:t>
            </a:r>
            <a:endParaRPr lang="en-US" sz="1820" dirty="0"/>
          </a:p>
          <a:p>
            <a:pPr marL="228600" indent="-228600"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Debitorlik va kreditorlik qarzlarining holati hamda dinamikasini.</a:t>
            </a:r>
            <a:endParaRPr lang="en-US" sz="1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tahlilining ikki darajasi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1520" y="2240280"/>
            <a:ext cx="5312664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2386584"/>
            <a:ext cx="51663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1. Asosiy samaradorlik ko‘rsatkichlari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25896" y="25511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2240280"/>
            <a:ext cx="5312664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1928" y="2386584"/>
            <a:ext cx="51663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2. Moliyaviy koeffitsientlar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101498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6B7280"/>
                </a:solidFill>
              </a:rPr>
              <a:t>Kitobda balans tahlilini avvalo umumiy ko‘rsatkichlar, keyin esa moliyaviy koeffitsientlar asosida chuqurlashtirish tavsiya etiladi.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Gorizontal tahlil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68680" y="1645920"/>
            <a:ext cx="105156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Balans moddalari bo‘yicha mutlaq va nisbiy o‘zgarishlarni aniqlash hamda ularning vaqt bo‘yicha dinamikasiga baho berish.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88920"/>
          <a:ext cx="10287000" cy="2240280"/>
        </p:xfrm>
        <a:graphic>
          <a:graphicData uri="http://schemas.openxmlformats.org/drawingml/2006/table">
            <a:tbl>
              <a:tblPr/>
              <a:tblGrid>
                <a:gridCol w="2926080"/>
                <a:gridCol w="1691640"/>
                <a:gridCol w="1691640"/>
                <a:gridCol w="1371600"/>
                <a:gridCol w="2011680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Davr boshi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Davr oxiri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Farq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O‘sish sur’ati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Aktivlar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1 000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1 180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118%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Debitorlik qarzi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165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+45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137.5%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Pul mablag‘lari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−20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77.8%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212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Misol — usulni tushuntirish uchun tuzilgan.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Vertikal tahlil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68680" y="1645920"/>
            <a:ext cx="105156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Har bir balans moddasining aktivlar yoki passivlar umumiy summasidagi ulushini aniqlash va tarkibiy o‘zgarishlarni baholash.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920240" y="2971800"/>
            <a:ext cx="3566160" cy="658368"/>
          </a:xfrm>
          <a:prstGeom prst="rect">
            <a:avLst/>
          </a:prstGeom>
          <a:solidFill>
            <a:srgbClr val="B9DEDE"/>
          </a:solidFill>
          <a:ln w="12700">
            <a:solidFill>
              <a:srgbClr val="B9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2971800"/>
            <a:ext cx="4937760" cy="658368"/>
          </a:xfrm>
          <a:prstGeom prst="rect">
            <a:avLst/>
          </a:prstGeom>
          <a:solidFill>
            <a:srgbClr val="F4C8A8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31363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42% — uzoq muddatli aktivlar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31363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58% — joriy aktivlar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4251960"/>
            <a:ext cx="9784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16D"/>
                </a:solidFill>
              </a:rPr>
              <a:t>Asosiy savol: “Tarkib qanday va uning o‘zgarishi nimani anglatadi?”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Tezkor tahlil oldidan tekshiriladigan jihatlar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68680" y="1645920"/>
            <a:ext cx="1046988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Balansning to‘g‘ri rasmiylashtirilganligi.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Hisob-kitoblarning arifmetik va mantiqiy to‘g‘riligi.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Korxona nomi, hisobot sanasi va rekvizitlarning aniqligi.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Balans umumiy hajmining o‘zgarishi va uning sabablarini aniqlash.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Muhim aktiv va passiv moddalardagi keskin o‘zgarishlarni ajratish.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aktivlarni o‘qish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Asosiy vositalar ulushi yuqori bo‘lsa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Ustama xarajatlarning sezilarli bo‘lishi va tushumlarga yuqori bog‘liqlik kuzatilishi mumkin. Moliyaviy barqarorlik uchun xususiy kapital ulushining yetarli bo‘lishi muhim.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600200"/>
            <a:ext cx="73152" cy="4251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Uzoq muddatli moliyaviy qo‘yilmalar oshsa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Korxona mablag‘larining bir qismi tashqi investitsion faoliyatga yo‘naltirilmoqda. Bunda asosiy faoliyat va investitsion faoliyat rentabelligini solishtirish lozim.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Joriy aktivlarni o‘qish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73152" cy="192024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562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Zaxiralar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331720"/>
            <a:ext cx="310896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Faoliyat ko‘lami va xizmat ko‘rsatish jarayonidagi mablag‘lar bandligini ko‘rsatadi.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52544" y="16916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52544" y="1691640"/>
            <a:ext cx="73152" cy="1920240"/>
          </a:xfrm>
          <a:prstGeom prst="rect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8562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Debitorlik qarzlari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2331720"/>
            <a:ext cx="310896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O‘sishi, ayniqsa uzoq muddatli qismi, to‘lovlar bilan bog‘liq muammolar signaliga aylanishi mumkin.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19288" y="16916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9288" y="1691640"/>
            <a:ext cx="73152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18562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Pul mablag‘lari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0456" y="2331720"/>
            <a:ext cx="310896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Joriy to‘lovlar va qisqa muddatli majburiyatlarni bajarish imkoniyatini ifodalaydi.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4160520"/>
            <a:ext cx="10241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Joriy aktivlar tarkibi korxonaning operatsion jarayoni va iste’molchilar bilan hisob-kitoblar haqida dastlabki tasavvur beradi.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Passivlarni o‘qish: xususiy va jalb qilingan kapital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3108960" cy="1097280"/>
          </a:xfrm>
          <a:prstGeom prst="chevron">
            <a:avLst/>
          </a:prstGeom>
          <a:solidFill>
            <a:srgbClr val="DDEFEF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616D"/>
                </a:solidFill>
              </a:rPr>
              <a:t>Xususiy kapital o‘sish sur’ati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251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&gt;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892040" y="2011680"/>
            <a:ext cx="3108960" cy="1097280"/>
          </a:xfrm>
          <a:prstGeom prst="chevron">
            <a:avLst/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223113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95B"/>
                </a:solidFill>
              </a:rPr>
              <a:t>Jalb qilingan mablag‘lar o‘sish sur’ati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3794760"/>
            <a:ext cx="8183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</a:rPr>
              <a:t>→ Moliyaviy barqarorlik mustahkamlanishining ijobiy belgisi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Passivlarda muhim signallar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41248" y="1645920"/>
            <a:ext cx="10515600" cy="4434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Zaxiralar, fondlar va taqsimlanmagan foyda ulushining oshishi — faoliyat samaradorligi oshganidan dalolat berishi mumkin.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Uzoq muddatli majburiyatlar ulushining ortishi — qisqa muddatli to‘lov xavfini yumshatishi mumkin.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Qisqa muddatli kreditorlik qarzlarining shiddat bilan o‘sishi — to‘lov intizomi va aylanma tezligi bo‘yicha xavf signali.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Jalb qilingan mablag‘larga haddan tashqari qaramlik — to‘lovga layoqatlilikni pasaytirishi mumkin.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Aktivlarni likvidlik darajasi bo‘yicha guruhlash</a:t>
            </a:r>
            <a:endParaRPr lang="en-US" sz="25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691640"/>
          <a:ext cx="10789920" cy="429768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667512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Guruh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Mazmuni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Misollar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A1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Doimiy (eng yuqori) likvidli aktivlar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Pul mablag‘lari, qisqa muddatli moliyaviy qo‘yilmalar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A2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Tez likvidli aktivlar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Tayyor mahsulot, jo‘natilgan tovarlar, 1 yilgacha debitorlik qarzlari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A3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Sekin likvidli aktivlar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Ishlab chiqarish zaxiralari, tugallanmagan ishlab chiqarish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A4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Qiyin likvidlanadigan aktivlar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Asosiy vositalar, nomoddiy aktivlar, uzoq muddatli moliyaviy qo‘yilmalar, tugallanmagan qurilish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Passivlarni to‘lov muddatiga ko‘ra guruhlash</a:t>
            </a:r>
            <a:endParaRPr lang="en-US" sz="25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691640"/>
          <a:ext cx="10789920" cy="429768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667512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Guruh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Mazmuni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Misollar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P1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Shoshilinch to‘lov talab qilinadigan majburiyatlar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Muddati kelgan kreditorlik qarzlari va bank kreditlari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P2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Qisqa muddatli passivlar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Qisqa muddatli bank kreditlari va qarz majburiyatlari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P3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Uzoq muddatli passivlar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Uzoq muddatli kreditlar va qarz mablag‘lari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P4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Doimiy passivlar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 mablag‘lari manbalari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Mutlaq likvid balans sharti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EEF6F6"/>
          </a:solidFill>
          <a:ln w="1524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08483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16D"/>
                </a:solidFill>
              </a:rPr>
              <a:t>A1 &gt; P1      A2 &gt; P2      A3 &gt; P3      A4 &lt; P4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52728" y="2633472"/>
            <a:ext cx="9656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Kitobda keltirilgan balans likvidligi taqqoslash mezoni.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5840" y="3703320"/>
            <a:ext cx="101498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</a:rPr>
              <a:t>Birinchi uchta tengsizlik qisqa va uzoq muddatli majburiyatlarni mos likvid aktivlar bilan qoplash imkoniyatini ko‘rsatadi. A4 &lt; P4 esa moliyaviy barqarorlikning minimal sharti sifatida talqin qilinadi.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Likvidlik tengsizliklarini talqin qilish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73152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5623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A1 &gt; P1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331720"/>
            <a:ext cx="22860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Eng tez likvid aktivlar shoshilinch majburiyatlarni qoplaydi.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01568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1691640"/>
            <a:ext cx="73152" cy="182880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185623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A2 &gt; P2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02736" y="2331720"/>
            <a:ext cx="22860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Tez likvid aktivlar qisqa muddatli majburiyatlardan yuqori.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63056" y="1691640"/>
            <a:ext cx="73152" cy="1828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85623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A3 &gt; P3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4224" y="2331720"/>
            <a:ext cx="22860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Sekin likvid aktivlar uzoq muddatli majburiyatlarni qoplash imkonini beradi.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24544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24544" y="1691640"/>
            <a:ext cx="73152" cy="1828800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185623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A4 &lt; P4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25712" y="2331720"/>
            <a:ext cx="22860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Doimiy kapital qiyin likvidlanadigan aktivlardan ortiq bo‘lishi kerak.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3B3B"/>
                </a:solidFill>
              </a:rPr>
              <a:t>Tengsizliklardan biri bajarilmasa, bu balans likvidligining mutlaq holatdan chetlanayotganini ko‘rsatadi.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61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9D8D8"/>
                </a:solidFill>
              </a:rPr>
              <a:t>5.2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49808" y="19659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Moliyaviy holatni balans bo‘yicha tezkor tahlil qilish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3337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EEE"/>
                </a:solidFill>
              </a:rPr>
              <a:t>Maqsad — salbiy tendensiyalarni erta aniqlash va moliyaviy holatning umumiy parametrlarini tez baholash.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4572000"/>
            <a:ext cx="2926080" cy="0"/>
          </a:xfrm>
          <a:prstGeom prst="line">
            <a:avLst/>
          </a:prstGeom>
          <a:noFill/>
          <a:ln w="508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Tezkor tahlilning mohiyati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3327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Tezkor tahlil — balansdagi ko‘rsatkichlar guruhi bo‘yicha nomaqbul holatlar, “nozik” jihatlar va kelib chiqishi mumkin bo‘lgan salbiy oqibatlarni o‘z vaqtida aniqlashga qaratilgan dastlabki tahlildir.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403250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Taqqoslash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87268" y="419709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0148" y="388620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3300" y="403250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Tarkibni baholash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25896" y="419709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388620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403250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Dinamika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764524" y="419709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47404" y="388620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0556" y="403250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Xavf signali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Tezkor tahlil nimadan boshlanadi?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16D"/>
                </a:solidFill>
              </a:rPr>
              <a:t>Korxona kapitalining umumiy qiymati va uning o‘zgarish tendensiyasidan.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Kapital kamayishi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Xo‘jalik mablag‘lari qisqarishi, to‘lov qobiliyati pasayishi, joriy faoliyat uchun moliyalashtirish yetishmasligi va jarayonlarning to‘xtash xavfini bildirishi mumkin.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00200"/>
            <a:ext cx="73152" cy="4251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Kapital ko‘payishi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Har doim ham ijobiy emas. O‘sishning manbasi aniqlanadi: real faoliyat kengayishimi, qayta baholashmi, narx/inflatsiya ta’sirimi yoki qarzlarning ortishimi?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summasi o‘sishini to‘g‘ri talqin qilish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2157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Balans o‘sdi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87268" y="23225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0148" y="2011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43300" y="2157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O‘sish manbasini aniqlash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25896" y="23225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08776" y="2011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2157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Daromad va foyda bilan solishtirish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764524" y="23225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47404" y="2011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20556" y="2157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Xulosa chiqarish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102870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3395B"/>
                </a:solidFill>
              </a:rPr>
              <a:t>Balans hajmining o‘sishi faqat real biznes faolligi va natijadorlik bilan qo‘llab-quvvatlanganda barqaror ijobiy signalga aylanadi.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O‘sish sur’atlarini solishtirish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Kitob tavsiyasi: sotishdan tushgan daromad va foyda dinamikasini aktivlar dinamikasi bilan solishtirish.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0" y="4937760"/>
            <a:ext cx="82296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606040"/>
            <a:ext cx="1143000" cy="2331720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22585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112%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Aktivlar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3154680"/>
            <a:ext cx="1143000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8072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108%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Daromad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9520" y="3840480"/>
            <a:ext cx="1143000" cy="1097280"/>
          </a:xfrm>
          <a:prstGeom prst="rect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34930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103%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Sof foyda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2514600"/>
            <a:ext cx="10149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C23B3B"/>
                </a:solidFill>
              </a:rPr>
              <a:t>Agar daromad va foyda o‘sishi aktivlar o‘sishidan ortda qolsa, umumiy natijadorlik pasayishi mumkin.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Joriy aktivlar o‘sishi nimani anglatadi?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Ijobiy ehtimol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Tez likvidlanadigan aktivlarning ulushi oshib, kapital aylanish tezligi ko‘tarilishi mumkin. Bu qisqa muddatda moliyaviy holatni mustahkamlashi ehtimol.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600200"/>
            <a:ext cx="73152" cy="4251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Ehtiyot bo‘lish kerak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O‘sish zaxiralar yoki debitorlik qarzlari hisobiga bo‘lsa, mablag‘larning aylanishi sekinlashishi va likvidlik bosimi paydo bo‘lishi mumkin.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Tezkor tahlilda alohida kuzatiladigan modda va ko‘rsatkichlar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2157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Tovar-moddiy zaxiralar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87268" y="23225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0148" y="2011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43300" y="2157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Tayyor mahsulotlar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25896" y="23225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08776" y="2011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2157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Debitorlik qarzi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764524" y="23225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47404" y="2011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20556" y="2157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Pul mablag‘lari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103327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616D"/>
                </a:solidFill>
              </a:rPr>
              <a:t>Ularning “haddan tashqari” ko‘payishi yoki kamayishi tezkor tahlilni talab qiluvchi signal sifatida ko‘riladi.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Passivlar tezkor tahlilida asosiy savol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EEF6F6"/>
          </a:solidFill>
          <a:ln w="1524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2084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16D"/>
                </a:solidFill>
              </a:rPr>
              <a:t>Jalb qilingan mablag‘lar o‘sishi  &gt;  O‘z mablag‘lari o‘sishi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07008" y="2633472"/>
            <a:ext cx="9747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Bunday holat qarz mablag‘lariga qaramlikning kuchayishi va to‘lovga layoqatlilikning pasayishi xavfini bildirishi mumkin.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5840" y="3749040"/>
            <a:ext cx="101498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</a:rPr>
              <a:t>Xususiy kapital tarkibida taqsimlanmagan foyda, rezerv kapitali va boshqa zaxira fondlarining mavjudligi — ichki moliyalashtirish manbalarining shakllanishi uchun muhim.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561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9D8D8"/>
                </a:solidFill>
              </a:rPr>
              <a:t>5.3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49808" y="19659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Balans tahlilining olti bosqichi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3337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EEE"/>
                </a:solidFill>
              </a:rPr>
              <a:t>Balansdagi “kasallangan” moddalardan boshlab moliyaviy holatni diagnostika qilishgacha bo‘lgan kompleks ketma-ketlik.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4572000"/>
            <a:ext cx="2926080" cy="0"/>
          </a:xfrm>
          <a:prstGeom prst="line">
            <a:avLst/>
          </a:prstGeom>
          <a:noFill/>
          <a:ln w="508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Dastlab “kasallangan” moddalarni aniqlash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1-guruh: salbiy holatni bevosita ko‘rsatadi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Qoplanmagan zarar, muddati o‘tgan kredit va qarzlar, muddati o‘tgan kreditorlik majburiyatlari va boshqalar.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600200"/>
            <a:ext cx="73152" cy="4251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2-guruh: takrorlanuvchi kamchiliklarni ko‘rsatadi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Muddati o‘tgan debitorlik qarzi, korxona zarariga olib borilgan majburiyatlar, jarimalar, penya va shu kabi holatlar.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Olti bosqich — umumiy xarita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2340864"/>
            <a:ext cx="15148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1. Dinamika va tarkib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74392" y="250545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57272" y="219456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0424" y="2340864"/>
            <a:ext cx="15148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2. Moliyaviy barqarorlik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00144" y="250545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3024" y="219456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6176" y="2340864"/>
            <a:ext cx="15148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3. Likvidlik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25896" y="250545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08776" y="219456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2340864"/>
            <a:ext cx="15148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4. Aktivlar holati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851648" y="250545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4528" y="219456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7680" y="2340864"/>
            <a:ext cx="15148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5. Ish faolligi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677400" y="250545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60280" y="219456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33432" y="2340864"/>
            <a:ext cx="15148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6. Diagnostika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0120" y="4251960"/>
            <a:ext cx="10241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Har bir bosqich oldingisidagi xulosani chuqurlashtiradi va boshqaruv qarori uchun dalil bazasini kengaytiradi.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1-bosqich: dinamika va tarkibiy o‘zgarishlar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68680" y="1645920"/>
            <a:ext cx="105156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Balansning muhim moddalari o‘sish sur’atlari aniqlanadi.</a:t>
            </a:r>
            <a:endParaRPr lang="en-US" sz="1820" dirty="0"/>
          </a:p>
          <a:p>
            <a:pPr marL="228600" indent="-228600"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Ular sotishdan olingan tushumning o‘sish sur’ati bilan taqqoslanadi.</a:t>
            </a:r>
            <a:endParaRPr lang="en-US" sz="1820" dirty="0"/>
          </a:p>
          <a:p>
            <a:pPr marL="228600" indent="-228600"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 va passivdagi alohida guruhlarning ulushi vertikal tahlil orqali baholanadi.</a:t>
            </a:r>
            <a:endParaRPr lang="en-US" sz="1820" dirty="0"/>
          </a:p>
          <a:p>
            <a:pPr marL="228600" indent="-228600"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Tarkibiy siljishlar va ularning iqtisodiy mazmuni aniqlanadi.</a:t>
            </a:r>
            <a:endParaRPr lang="en-US" sz="1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“Ijobiy” balans uchun kitobda keltirilgan 6 ta mezon</a:t>
            </a:r>
            <a:endParaRPr lang="en-US" sz="25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35640" cy="4526280"/>
        </p:xfrm>
        <a:graphic>
          <a:graphicData uri="http://schemas.openxmlformats.org/drawingml/2006/table">
            <a:tbl>
              <a:tblPr/>
              <a:tblGrid>
                <a:gridCol w="640080"/>
                <a:gridCol w="10195560"/>
              </a:tblGrid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№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Mezon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Balans jami o‘sadi; o‘sish inflyatsiyadan yuqori, lekin sotishdan daromad o‘sishidan past.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Joriy aktivlar o‘sish sur’ati uzoq muddatli aktivlar va qisqa muddatli majburiyatlar o‘sishidan yuqori.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Uzoq muddatli moliyalashtirish manbalari o‘sishi uzoq muddatli aktivlar o‘sishidan yuqori.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Xususiy kapital ulushi balans jami summasining 50%idan kam emas.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Debitorlik va kreditorlik qarzlar hajmi, ulushi va o‘sish sur’atlari ma’lum darajada mutanosib.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Balansda qoplanmagan zarar mavjud emas.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6108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Eslatma: mezonlar Xoliqulov kitobida keltirilgan metodik orientirlar sifatida berildi.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2-bosqich: moliyaviy barqarorlik tahlili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616D"/>
                </a:solidFill>
              </a:rPr>
              <a:t>Mutlaq ko‘rsatkichlar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4400" y="1993392"/>
            <a:ext cx="47548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Xususiy kapital (sof aktivlar).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 aylanma mablag‘lari.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 aylanma mablag‘lari.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21792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</a:rPr>
              <a:t>Nisbiy ko‘rsatkichlar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993392"/>
            <a:ext cx="47548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Moliyaviy mustaqillik koeffitsienti.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Moliyaviy qaramlik koeffitsienti.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Moliyaviy leveraj va ta’minlanganlik koeffitsientlari.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60120" y="4800600"/>
            <a:ext cx="102870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3395B"/>
                </a:solidFill>
              </a:rPr>
              <a:t>Maqsad — korxonaning o‘z va jalb qilingan mablag‘lar muvozanatini baholash.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barqarorlik: asosiy formulalar (1)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77240" y="1645920"/>
            <a:ext cx="10652760" cy="1188720"/>
          </a:xfrm>
          <a:prstGeom prst="roundRect">
            <a:avLst>
              <a:gd name="adj" fmla="val 6154"/>
            </a:avLst>
          </a:prstGeom>
          <a:solidFill>
            <a:srgbClr val="EEF6F6"/>
          </a:solidFill>
          <a:ln w="1524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90195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16D"/>
                </a:solidFill>
              </a:rPr>
              <a:t>O‘AM = O‘M − UMA + DQ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2450592"/>
            <a:ext cx="10067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O‘AM — o‘z aylanma mablag‘lari; O‘M — o‘z mablag‘lari; UMA — uzoq muddatli aktivlar; DQ — debitorlik qarzlari.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3154680"/>
            <a:ext cx="10652760" cy="1188720"/>
          </a:xfrm>
          <a:prstGeom prst="roundRect">
            <a:avLst>
              <a:gd name="adj" fmla="val 6154"/>
            </a:avLst>
          </a:prstGeom>
          <a:solidFill>
            <a:srgbClr val="EEF6F6"/>
          </a:solidFill>
          <a:ln w="15240">
            <a:solidFill>
              <a:srgbClr val="A7D4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1071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16D"/>
                </a:solidFill>
              </a:rPr>
              <a:t>SAM = O‘M + UJM − UMA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9848" y="3959352"/>
            <a:ext cx="10067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SAM — sof aylanma mablag‘lari; UJM — uzoq muddatli jalb qilingan mablag‘lar.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4663440"/>
            <a:ext cx="10652760" cy="1188720"/>
          </a:xfrm>
          <a:prstGeom prst="roundRect">
            <a:avLst>
              <a:gd name="adj" fmla="val 6154"/>
            </a:avLst>
          </a:prstGeom>
          <a:solidFill>
            <a:srgbClr val="EEF6F6"/>
          </a:solidFill>
          <a:ln w="15240">
            <a:solidFill>
              <a:srgbClr val="A7D4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91947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16D"/>
                </a:solidFill>
              </a:rPr>
              <a:t>SAM = UA − QJM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69848" y="5468112"/>
            <a:ext cx="10067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Muqobil ifoda: UA — aylanma aktivlar; QJM — qisqa muddatli jalb qilingan mablag‘lar.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barqarorlik: asosiy formulalar (2)</a:t>
            </a:r>
            <a:endParaRPr lang="en-US" sz="25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200"/>
          <a:ext cx="10881360" cy="4526280"/>
        </p:xfrm>
        <a:graphic>
          <a:graphicData uri="http://schemas.openxmlformats.org/drawingml/2006/table">
            <a:tbl>
              <a:tblPr/>
              <a:tblGrid>
                <a:gridCol w="2788920"/>
                <a:gridCol w="2286000"/>
                <a:gridCol w="580644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Formula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Mazmuni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Moliyaviy mustaqillik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Kavt = XK / A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Aktivlarning qanchasi xususiy kapital bilan moliyalashtirilganini ko‘rsatadi.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Moliyaviy qaramlik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Kmq = JM / A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Aktivlarda jalb qilingan mablag‘lar ulushi.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Moliyaviy leveraj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Kqo‘ = JM / O‘M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Qarz mablag‘larining o‘z mablag‘lariga nisbati.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 mablag‘lari harakatchanligi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Ko‘mm = O‘AM / O‘M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Xususiy kapitalning aylanma shakldagi qismi.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 aylanma mablag‘lari bilan ta’minlanganlik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Ko‘mt = O‘AM / AM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aktivlarning o‘z manbalari bilan qoplanish darajasi.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3-bosqich: balans likvidligi va to‘lovga layoqatlilik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Balans likvidligi — mavjud aylanma mablag‘larning qisqa muddatli majburiyatlarni qoplashga yetarliligini ifodalaydi.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154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300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Aktivlarni likvidlik bo‘yicha guruhlash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87268" y="34655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0148" y="3154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3300" y="3300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Majburiyatlarni muddat bo‘yicha guruhlash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25896" y="34655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3154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3300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Taqqoslash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764524" y="34655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47404" y="31546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0556" y="33009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Koeffitsientlar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10241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16D"/>
                </a:solidFill>
              </a:rPr>
              <a:t>Natija: korxonaning joriy to‘lovlarni amalga oshirish qobiliyati haqida xulosa.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4-bosqich: aktivlar holati va samaradorligi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68680" y="1645920"/>
            <a:ext cx="1046988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Aylanma va uzoq muddatli aktivlarning holati, tarkibi va dinamikasi o‘rganiladi.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Aylanma mablag‘lar samaradorligi rentabellik va aylanuvchanlik ko‘rsatkichlari bilan baholanadi.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Uzoq muddatli aktivlar tahlili asosiy vositalar holati va ulardan foydalanish samaradorligi bilan to‘ldiriladi.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960120" y="470916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EEF6F6"/>
          </a:solidFill>
          <a:ln w="15240">
            <a:solidFill>
              <a:srgbClr val="A7D4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49651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16D"/>
                </a:solidFill>
              </a:rPr>
              <a:t>Kayl = N / AM     |     AD = AM × K / 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52728" y="5513832"/>
            <a:ext cx="9656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N — sotishdan olingan daromad; AM — aylanma mablag‘larning o‘rtacha qiymati; K — davrdagi kunlar soni.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Aylanuvchanlik ko‘rsatkichlarini talqin qilish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Aylanuvchanlik koeffitsienti yuqori bo‘lsa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Aylanma mablag‘lardan tezroq foydalanilayotganini, bir birlik mablag‘ ko‘proq daromad yaratishini bildiradi.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600200"/>
            <a:ext cx="73152" cy="4251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Aylanish davri qisqarsa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Mablag‘lar operatsion siklda kamroq vaqt band bo‘ladi va likvidlikni yaxshilash uchun sharoit yaratiladi.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5989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Bu talqin usulni tushuntirish uchun berilgan metodik izohdir.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5-bosqich: ish faolligi tahlili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45920"/>
            <a:ext cx="73152" cy="201168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1051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Resurslardan foydalanish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286000"/>
            <a:ext cx="310896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B7280"/>
                </a:solidFill>
              </a:rPr>
              <a:t>Fond qaytimi, mehnat unumdorligi, rentabellik va boshqa samaradorlik ko‘rsatkichlari.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352544" y="1645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52544" y="1645920"/>
            <a:ext cx="73152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81051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Kapital aylanishi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2286000"/>
            <a:ext cx="310896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B7280"/>
                </a:solidFill>
              </a:rPr>
              <a:t>Aktivlar va kapitalning aylanishini ifodalovchi ko‘rsatkichlar asosiy e’tiborda.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019288" y="1645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9288" y="1645920"/>
            <a:ext cx="73152" cy="2011680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181051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O‘sish mutanosibligi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0456" y="2286000"/>
            <a:ext cx="310896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B7280"/>
                </a:solidFill>
              </a:rPr>
              <a:t>Foyda, sotish va kapitalning o‘sish sur’atlari o‘zaro solishtiriladi.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102412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95B"/>
                </a:solidFill>
              </a:rPr>
              <a:t>Ish faolligi korxona resurslari qanday tezlik va samaradorlik bilan natijaga aylanishini ko‘rsatadi.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“Korxona iqtisodining oltin qoidasi”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61320" cy="1417320"/>
          </a:xfrm>
          <a:prstGeom prst="roundRect">
            <a:avLst>
              <a:gd name="adj" fmla="val 5161"/>
            </a:avLst>
          </a:prstGeom>
          <a:solidFill>
            <a:srgbClr val="EEF6F6"/>
          </a:solidFill>
          <a:ln w="1524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084832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16D"/>
                </a:solidFill>
              </a:rPr>
              <a:t>STFO‘S  &gt;  AMO‘S  &gt;  OTO‘S  &gt;  100%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" y="2633472"/>
            <a:ext cx="9976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Kitobdagi belgilash: soliq to‘langunga qadar foyda o‘sish sur’ati &gt; sotish/aylanma o‘sishi &gt; kapital o‘sishi &gt; 100%.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703320"/>
            <a:ext cx="100126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Korxona iqtisodiy salohiyati kengaymoqda.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Sotish hajmi kapitalga nisbatan tezroq o‘smoqda — resurslardan foydalanish samaradorligi oshmoqda.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Foydaning yuqori sur’atda o‘sishi xarajatlarning nisbatan qisqarishini anglatishi mumkin.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6-bosqich: moliyaviy holatni diagnostika qilish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327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Maqsad — to‘lov qobiliyatini tiklash imkoniyati va bankrotlik xavfini oldindan baholash.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5616D"/>
          </a:solidFill>
          <a:ln w="12700">
            <a:solidFill>
              <a:srgbClr val="1561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To‘lov qobiliyatini tiklash bahosi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Kitobda joriy likvidlik koeffitsienti va o‘z aylanma mablag‘lari bilan ta’minlanganlik koeffitsienti asosiy indikator sifatida ko‘rsatiladi.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00200"/>
            <a:ext cx="73152" cy="4251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6479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Diskriminant modellar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498348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Bankrotlik ehtimoli mavjud sharoitda matematik modellardan foydalanib kompleks tashxis qo‘yish mumkin.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Kitobda keltirilgan diagnostik chegaralar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EEF6F6"/>
          </a:solidFill>
          <a:ln w="15240">
            <a:solidFill>
              <a:srgbClr val="A7D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08483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16D"/>
                </a:solidFill>
              </a:rPr>
              <a:t>Joriy likvidlik koeffitsienti — 2,0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52728" y="2633472"/>
            <a:ext cx="9656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Xoliqulov kitobida me’yoriy chegara sifatida keltirilgan.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333756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EEF6F6"/>
          </a:solidFill>
          <a:ln w="15240">
            <a:solidFill>
              <a:srgbClr val="A7D4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5935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16D"/>
                </a:solidFill>
              </a:rPr>
              <a:t>O‘z aylanma mablag‘lari bilan ta’minlanganlik — 0,1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52728" y="4142232"/>
            <a:ext cx="9656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Xoliqulov kitobida me’yoriy chegara sifatida keltirilgan.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23B3B"/>
                </a:solidFill>
              </a:rPr>
              <a:t>Muhim: amaliy tahlilda me’yorlar korxona turi, soha, standartlar va milliy tartibga solish talablari bilan birga talqin qilinadi.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mini-keys: balansni tezkor o‘qish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16D"/>
                </a:solidFill>
              </a:rPr>
              <a:t>Shartli turistik korxona (mln so‘m)</a:t>
            </a:r>
            <a:endParaRPr lang="en-US" sz="15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5212080" cy="384048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Yil boshi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Yil oxiri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Jami aktivlar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2 400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2 760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Joriy aktivlar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1 050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1 310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Debitorlik qarzi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Pul mablag‘lari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Xususiy kapital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1 350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1 430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Qisqa muddatli majburiyatlar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</a:rPr>
              <a:t>Savollar: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0" y="2057400"/>
            <a:ext cx="48920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Balans jami qanday o‘zgargan?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Joriy aktivlarning o‘sishi nimaning hisobiga?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Debitorlik qarzining o‘sishini qanday baholaysiz?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Xususiy va qarz kapitali dinamikasi nimani ko‘rsatadi?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Qaysi “xavf signali” eng muhim?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46520" y="56692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Ma’lumotlar o‘quv mashqi uchun shartli tuzilgan.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keys uchun kutiladigan xulosalar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Jami aktivlar 15%ga oshgan — o‘sish manbasini tekshirish kerak.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Joriy aktivlar oshgan, biroq pul mablag‘lari kamaygan.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Debitorlik qarzi 59%ga yaqin oshgan — bu likvidlik va inkasso intizomi bo‘yicha xavf signali.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Xususiy kapital o‘sishi qarz majburiyatlari o‘sishidan ancha past — moliyaviy qaramlik kuchayishi mumkin.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Tezkor tahlil chuqur koeffitsient tahliliga ehtiyoj borligini ko‘rsatadi.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5-mavzuning asosiy tayanch tushunchalari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1143000" y="164592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DDEFEF"/>
          </a:solidFill>
          <a:ln w="12700">
            <a:solidFill>
              <a:srgbClr val="DDEF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69164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16D"/>
                </a:solidFill>
              </a:rPr>
              <a:t>Iqtisodiy o‘qish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64592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5392" y="169164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95B"/>
                </a:solidFill>
              </a:rPr>
              <a:t>Balans likvidligi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2432304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DDEFEF"/>
          </a:solidFill>
          <a:ln w="12700">
            <a:solidFill>
              <a:srgbClr val="DDEF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478024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16D"/>
                </a:solidFill>
              </a:rPr>
              <a:t>Gorizontal tahlil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432304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478024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95B"/>
                </a:solidFill>
              </a:rPr>
              <a:t>Vertikal tahlil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218688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DDEFEF"/>
          </a:solidFill>
          <a:ln w="12700">
            <a:solidFill>
              <a:srgbClr val="DDEF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26440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16D"/>
                </a:solidFill>
              </a:rPr>
              <a:t>A1–A4 aktivlar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3218688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326440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95B"/>
                </a:solidFill>
              </a:rPr>
              <a:t>P1–P4 passivlar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43000" y="4005072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DDEFEF"/>
          </a:solidFill>
          <a:ln w="12700">
            <a:solidFill>
              <a:srgbClr val="DDEF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05079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16D"/>
                </a:solidFill>
              </a:rPr>
              <a:t>Moliyaviy barqarorlik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4005072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405079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95B"/>
                </a:solidFill>
              </a:rPr>
              <a:t>Ish faolligi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43000" y="4791456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DDEFEF"/>
          </a:solidFill>
          <a:ln w="12700">
            <a:solidFill>
              <a:srgbClr val="DDEF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4837176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16D"/>
                </a:solidFill>
              </a:rPr>
              <a:t>Diagnostika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4791456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4837176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95B"/>
                </a:solidFill>
              </a:rPr>
              <a:t>Tezkor tahlil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bo‘yicha nazorat savollari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652760" cy="4709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Aylanma mablag‘lar tarkibi deganda nima tushuniladi?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Balansni iqtisodiy o‘qish deganda nima tushuniladi?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Moliyaviy resurslar va xo‘jalik mablag‘larining shakllanishi qanday aks etadi?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 mablag‘lari manbalari bilan uzoq muddatli aktivlar nisbatini qanday talqin qilamiz?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Doimiy passivlar nima?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Balans ko‘rsatkichlarini tezkor tahlil qilish qanday amalga oshiriladi?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Yakuniy xulosa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960120" y="1737360"/>
            <a:ext cx="102412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Balansni iqtisodiy o‘qish — bu faqat raqamlarni solishtirish emas. Bu korxonaning moliyaviy salomatligi, resurslar tarkibi, to‘lov qobiliyati va boshqaruv sifati haqida tezkor hamda asoslangan xulosa chiqarish usulidir.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9867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Balansni o‘qish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87268" y="41513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0148" y="38404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3300" y="39867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Tezkor signal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25896" y="41513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38404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 w="12700">
            <a:solidFill>
              <a:srgbClr val="A7D4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39867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6 bosqichli tahlil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764524" y="4151376"/>
            <a:ext cx="228600" cy="292608"/>
          </a:xfrm>
          <a:prstGeom prst="chevron">
            <a:avLst/>
          </a:prstGeom>
          <a:solidFill>
            <a:srgbClr val="B7C3C6"/>
          </a:solidFill>
          <a:ln w="12700">
            <a:solidFill>
              <a:srgbClr val="B7C3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47404" y="3840480"/>
            <a:ext cx="2574036" cy="9144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4C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0556" y="3986784"/>
            <a:ext cx="24277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Boshqaruv qarori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Turistik korxonalar buxgalteriya balansini iqtisodiy o‘qish va tezkor tahlil qilish usullari</dc:title>
  <dc:subject>Turistik korxonalar faoliyati tahlili - 5-mavzu</dc:subject>
  <dc:creator>OpenAI</dc:creator>
  <cp:lastModifiedBy>OpenAI</cp:lastModifiedBy>
  <cp:revision>1</cp:revision>
  <dcterms:created xsi:type="dcterms:W3CDTF">2026-09-15T03:46:10Z</dcterms:created>
  <dcterms:modified xsi:type="dcterms:W3CDTF">2026-09-15T03:46:10Z</dcterms:modified>
</cp:coreProperties>
</file>