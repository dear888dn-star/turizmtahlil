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5566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Turistik korxonalar faoliyati tahlili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63840" y="64556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0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Manba: A.N. Xoliqulov, 2024, I bob (11–33-betlar)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051560"/>
            <a:ext cx="7223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TURISTIK KORXONALAR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FAOLIYATI TAHLILI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96112" y="283464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9E5EC"/>
                </a:solidFill>
              </a:rPr>
              <a:t>I mavzu: Turistik korxonalar moliyaviy-xo‘jalik faoliyati tahlili fanining nazariy masalalari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549640" y="1234440"/>
            <a:ext cx="2468880" cy="3611880"/>
          </a:xfrm>
          <a:prstGeom prst="roundRect">
            <a:avLst>
              <a:gd name="adj" fmla="val 4444"/>
            </a:avLst>
          </a:prstGeom>
          <a:solidFill>
            <a:srgbClr val="214865"/>
          </a:solidFill>
          <a:ln w="12700">
            <a:solidFill>
              <a:srgbClr val="315C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87968" y="18288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6A84B"/>
                </a:solidFill>
              </a:rPr>
              <a:t>30+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D6A84B"/>
                </a:solidFill>
              </a:rPr>
              <a:t>SLAYD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78240" y="3291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Bakalavriat darsi uchun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lotin yozuvida tayyorlangan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579729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8D3"/>
                </a:solidFill>
              </a:rPr>
              <a:t>Asosiy manba: A.N. Xoliqulov. “Turistik korxonalar faoliyati tahlili”. Samarqand, 2024.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Darsning maqsadi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104241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Talabalarda turistik korxonalarni iqtisodiy tahlil qilishning nazariy asoslari haqida tizimli tasavvur shakllantirish.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KIRISH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O‘zbekistonning turizm salohiyati va uning tarkibiy elementlarini tushuntirish.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Turistik korxonalarda moliyaviy-xo‘jalik faoliyati tahlilining vazifalarini ochib berish.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Iqtisodiy tahlilning boshqaruv, investor, davlat va menejerlar uchun ahamiyatini ko‘rsatish.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Tahlil natijalarini tashkil etish, rasmiylashtirish va boshqaruv qarorlariga aylantirish ketma-ketligini izohlash.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Mavzuning tuzilishi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DDEFF1"/>
          </a:solidFill>
          <a:ln w="12700">
            <a:solidFill>
              <a:srgbClr val="B7D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6276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78"/>
                </a:solidFill>
              </a:rPr>
              <a:t>1.1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57400" y="1591056"/>
            <a:ext cx="8641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</a:rPr>
              <a:t>O‘zbekistonning turizm salohiyati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914400" y="2350008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F2E8D5"/>
          </a:solidFill>
          <a:ln w="12700">
            <a:solidFill>
              <a:srgbClr val="E2CE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4688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78"/>
                </a:solidFill>
              </a:rPr>
              <a:t>1.2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57400" y="2432304"/>
            <a:ext cx="8641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</a:rPr>
              <a:t>Tahlilning asosiy vazifalari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14400" y="3191256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DDEFF1"/>
          </a:solidFill>
          <a:ln w="12700">
            <a:solidFill>
              <a:srgbClr val="B7D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3101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78"/>
                </a:solidFill>
              </a:rPr>
              <a:t>1.3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57400" y="3273552"/>
            <a:ext cx="8641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</a:rPr>
              <a:t>Tahlilning boshqaruvdagi ahamiyati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14400" y="4032504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F2E8D5"/>
          </a:solidFill>
          <a:ln w="12700">
            <a:solidFill>
              <a:srgbClr val="E2CE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1513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78"/>
                </a:solidFill>
              </a:rPr>
              <a:t>1.4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057400" y="4114800"/>
            <a:ext cx="8641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</a:rPr>
              <a:t>Rahbar va mutaxassislar uchun zarurligi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914400" y="4873752"/>
            <a:ext cx="914400" cy="502920"/>
          </a:xfrm>
          <a:prstGeom prst="roundRect">
            <a:avLst>
              <a:gd name="adj" fmla="val 12727"/>
            </a:avLst>
          </a:prstGeom>
          <a:solidFill>
            <a:srgbClr val="DDEFF1"/>
          </a:solidFill>
          <a:ln w="12700">
            <a:solidFill>
              <a:srgbClr val="B7D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9926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78"/>
                </a:solidFill>
              </a:rPr>
              <a:t>1.5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57400" y="4956048"/>
            <a:ext cx="8641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1F2937"/>
                </a:solidFill>
              </a:rPr>
              <a:t>Iqtisodiy tahlilni tashkil qilish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A84B"/>
                </a:solidFill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O‘zbekistonning turizm salohiyati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31546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6E1EA"/>
                </a:solidFill>
              </a:rPr>
              <a:t>Tarixiy meros, shaharlar, an’analar, bozorlar, infratuzilma va faol turizm imkoniyatlari.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O‘zbekiston — Buyuk Ipak yo‘li chorrahasidagi destinatsiya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104241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Qo‘llanmada mamlakatning tarixiy, madaniy va geografik omillari turizm salohiyatining asosiy tayanchi sifatida yoritiladi.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1746504"/>
            <a:ext cx="109728" cy="171907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7647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Tarixiy meros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221992"/>
            <a:ext cx="2788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Ko‘p asrlik me’morchilik, qadimiy shaharlar va Ipak yo‘li obyektlari turistlarni jalb qiluvchi asosiy resurslardir.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746504"/>
            <a:ext cx="109728" cy="171907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7647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Madaniy muhit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2221992"/>
            <a:ext cx="2788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An’ana, hunarmandchilik, milliy taomlar, xalq bayramlari va mehmondo‘stlik turistik tajribani boyitadi.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1746504"/>
            <a:ext cx="109728" cy="171907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7647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Tabiiy imkoniyat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221992"/>
            <a:ext cx="27889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Tog‘, vodiy, cho‘l, daryo va ko‘llar faol, ekologik va rekreatsion turizm uchun imkoniyat yaratadi.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102412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Asosiy g‘oya: turistik resurslarning xilma-xilligi mamlakatda turizmning ko‘plab turlarini rivojlantirishga zamin yaratadi.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Tarixiy merosning markaziy o‘rni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60120" y="1828800"/>
            <a:ext cx="10241280" cy="2286000"/>
          </a:xfrm>
          <a:prstGeom prst="roundRect">
            <a:avLst>
              <a:gd name="adj" fmla="val 4000"/>
            </a:avLst>
          </a:prstGeom>
          <a:solidFill>
            <a:srgbClr val="F0F6F7"/>
          </a:solidFill>
          <a:ln w="12700">
            <a:solidFill>
              <a:srgbClr val="BFD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6F78"/>
                </a:solidFill>
              </a:rPr>
              <a:t>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91640" y="2212848"/>
            <a:ext cx="8961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17324D"/>
                </a:solidFill>
              </a:rPr>
              <a:t>Tarixiy-me’moriy obyektlar turizm salohiyatining “tayanch kapitali” sifatida namoyon bo‘ladi.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4434840"/>
            <a:ext cx="1005840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Ichan-Qal’a, Buxoro tarixiy markazi, Shahrisabz va Samarqand UNESCO merosi bilan bog‘liq obyektlar sifatida tilga olinadi.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Merosi kuchli destinatsiya nafaqat tashrif, balki ta’limiy, madaniy va ilmiy turizm oqimini ham shakllantiradi.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Toshkent: transport va zamonaviy shahar turizmi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32918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09344"/>
            <a:ext cx="109728" cy="167335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6276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Transport tuguni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84832"/>
            <a:ext cx="26974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Poytaxt xalqaro va ichki transport yo‘nalishlarining muhim chorrahasi sifatida ko‘rsatiladi.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463040"/>
            <a:ext cx="32918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609344"/>
            <a:ext cx="109728" cy="167335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276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Tarix + zamonaviylik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084832"/>
            <a:ext cx="26974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Qadimiy meros va zamonaviy shahar muhiti birgalikda turistik jozibadorlikni oshiradi.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2918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11312" y="1609344"/>
            <a:ext cx="109728" cy="167335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6276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Muzeylar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2084832"/>
            <a:ext cx="26974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Muzeylar milliy tarix va madaniyatni talqin qiluvchi asosiy tashrif obyektlaridir.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102412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1F2937"/>
                </a:solidFill>
              </a:rPr>
              <a:t>Dars muhokamasi: poytaxt turizmi faqat tarixiy obyektlarga emas, balki biznes, transport, tadbir va shahar tajribasiga ham tayangan holda shakllanadi.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Samarqand: Buyuk Ipak yo‘lining yuragi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463040"/>
            <a:ext cx="1828800" cy="1828800"/>
          </a:xfrm>
          <a:prstGeom prst="ellipse">
            <a:avLst/>
          </a:prstGeom>
          <a:solidFill>
            <a:srgbClr val="DDEFF1"/>
          </a:solidFill>
          <a:ln w="12700">
            <a:solidFill>
              <a:srgbClr val="A9CD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20848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6F78"/>
                </a:solidFill>
              </a:rPr>
              <a:t>SAMARQAND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926080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90672" y="1563624"/>
            <a:ext cx="109728" cy="112471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581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Registon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37560" y="2039112"/>
            <a:ext cx="1965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Savdo va ijtimoiy markaz bo‘lgan tarixiy maydon.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23560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88152" y="1563624"/>
            <a:ext cx="109728" cy="112471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581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Go‘ri Amir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2039112"/>
            <a:ext cx="1965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Amir Temur va temuriylar davri bilan bog‘liq yodgorlik.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21040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85632" y="1563624"/>
            <a:ext cx="109728" cy="112471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1581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Shohi Zinda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32520" y="2039112"/>
            <a:ext cx="1965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Me’moriy ansambl va ziyorat turizmi resursi.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43400" y="32461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07992" y="3392424"/>
            <a:ext cx="109728" cy="112471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4107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Bibi-Xonim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3867912"/>
            <a:ext cx="2148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Shahar me’moriy qiyofasining muhim elementi.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269480" y="32461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34072" y="3392424"/>
            <a:ext cx="109728" cy="112471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34107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Ulug‘bek rasadxonasi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80960" y="3867912"/>
            <a:ext cx="2148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Ilmiy-ma’rifiy turizm uchun noyob obyekt.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Buxoro: “tirik tarix” konsepsiyasi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332720" cy="3474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Buxoro qadimiy shahar muhiti, me’moriy ansambllar va ko‘plab tarixiy obyektlarning yaxlitligi bilan ajralib turadi.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Ark, Minorai Kalon, masjid-madrasalar, karvonsaroy va hammomlar tarixiy turizm mahsulotini shakllantiradi.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Qo‘llanmada Buxoroning 140 dan ortiq qadimiy me’moriy yodgorliklarni saqlab qolganligi qayd etiladi.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0" y="484632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FF6E5"/>
          </a:solidFill>
          <a:ln w="12700">
            <a:solidFill>
              <a:srgbClr val="E2CB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5047488"/>
            <a:ext cx="7772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B45309"/>
                </a:solidFill>
              </a:rPr>
              <a:t>Turistik qiymat = tarixiy muhit + autentiklik + piyoda ko‘rish mumkin bo‘lgan kompakt hudud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Xiva: “ochiq osmon ostidagi muzey”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5"/>
          </a:solidFill>
          <a:ln w="12700">
            <a:solidFill>
              <a:srgbClr val="9CC6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Ichan-Qal’a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670048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90088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7E6"/>
          </a:solidFill>
          <a:ln w="12700">
            <a:solidFill>
              <a:srgbClr val="E0C2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Darvozalar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74336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94376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5"/>
          </a:solidFill>
          <a:ln w="12700">
            <a:solidFill>
              <a:srgbClr val="9CC6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04104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Minoralar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278624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98664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7E6"/>
          </a:solidFill>
          <a:ln w="12700">
            <a:solidFill>
              <a:srgbClr val="E0C2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8392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Saroylar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582912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02952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5"/>
          </a:solidFill>
          <a:ln w="12700">
            <a:solidFill>
              <a:srgbClr val="9CC6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2680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Autentik muhit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10058400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Ichan-Qal’a majmuasi shaharning asosiy turistik yadrosini tashkil etadi.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 ko‘chalar, qal’a devorlari, maqbara, masjid va saroylar yaxlit tarixiy tajriba beradi.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Tarixiy makonning bir butun saqlanganligi destinatsiya brendini kuchaytiradi.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Termiz va Qoraqalpog‘iston: muqobil turizm yo‘nalishlari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55448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1700784"/>
            <a:ext cx="109728" cy="272491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719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Termiz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76272"/>
            <a:ext cx="448056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Budda merosi, qadimiy karvon yo‘llari, Hakim at-Termiziy, Sulton Saodat va Qirq-Qiz kabi obyektlar ziyorat, arxeologik va ilmiy turizm salohiyatini oshiradi.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155448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700784"/>
            <a:ext cx="109728" cy="272491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47688" y="1719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Qoraqalpog‘iston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47688" y="2176272"/>
            <a:ext cx="448056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Ayoz-Qal’a, Tuproq-Qal’a, Qirq-Qiz va boshqa obyektlar tarixiy-arxeologik turizm bilan birga noyob landshaft va madaniy tajribani taklif etadi.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88720" y="5074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Xulosa: turistik salohiyat faqat “klassik uchlik” — Samarqand, Buxoro, Xiva bilan cheklanmaydi.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An’analar va gastronomiya — tajriba iqtisodiyoti resursi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EAF4F5"/>
          </a:solidFill>
          <a:ln w="12700">
            <a:solidFill>
              <a:srgbClr val="A9D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Navro‘z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596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xalq bayrami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72384" y="18745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7E6"/>
          </a:solidFill>
          <a:ln w="12700">
            <a:solidFill>
              <a:srgbClr val="E1C9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9544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Mahalla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9544" y="2596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kundalik turmush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21808" y="18745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EAF4F5"/>
          </a:solidFill>
          <a:ln w="12700">
            <a:solidFill>
              <a:srgbClr val="A9D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58968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Milliy taom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58968" y="2596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gastronomik tajriba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71232" y="18745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7E6"/>
          </a:solidFill>
          <a:ln w="12700">
            <a:solidFill>
              <a:srgbClr val="E1C9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8392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Folklor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08392" y="2596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madaniy dastur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20656" y="187452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EAF4F5"/>
          </a:solidFill>
          <a:ln w="12700">
            <a:solidFill>
              <a:srgbClr val="A9D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57816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Mehmondo‘stlik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57816" y="2596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</a:rPr>
              <a:t>ijtimoiy tajriba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05840" y="3977640"/>
            <a:ext cx="10058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78"/>
                </a:solidFill>
              </a:rPr>
              <a:t>Turistning xarajatini oshiradigan omil ko‘pincha faqat obyekt emas, balki o‘sha obyekt atrofida yaratilgan mazmunli tajribadir.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Sharqona bozorlar: savdo va turizmning kesishgan nuqtasi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10287000" cy="2834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Bozorlar rang-baranglik, savdolashish, milliy taomlar va kundalik hayotni bir joyda namoyon qiladi.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Ular turist uchun “mahalliy hayotga kirish nuqtasi”, turistik biznes uchun esa qo‘shimcha xizmat va xarajatlar manbai hisoblanadi.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Bozor turizmi hunarmandchilik, gastronomiya, suvenir va foto-tajriba bilan integratsiyalashadi.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 rot="10800000">
            <a:off x="2926080" y="4206240"/>
            <a:ext cx="1645920" cy="1005840"/>
          </a:xfrm>
          <a:prstGeom prst="arc">
            <a:avLst/>
          </a:prstGeom>
          <a:solidFill>
            <a:srgbClr val="F2E8D5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54680" y="4572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BOZOR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4160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→ suvenir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→ taom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→ madaniyat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→ xizmat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43800" y="41605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78"/>
                </a:solidFill>
              </a:rPr>
              <a:t>→ turist xarajati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6F78"/>
                </a:solidFill>
              </a:rPr>
              <a:t>→ mahalliy daromad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6F78"/>
                </a:solidFill>
              </a:rPr>
              <a:t>→ bandlik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Mehmonxona va transport infratuzilmasi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4800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1746504"/>
            <a:ext cx="109728" cy="208483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764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Mehmonxonalar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221992"/>
            <a:ext cx="42062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Qo‘llanmada zamonaviy mehmonxonalar turistik hududlarda turist talabini qondiruvchi muhim infratuzilma sifatida yoritiladi. Xizmat sifati va dizayn segmentlashuvga ta’sir qiladi.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4800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746504"/>
            <a:ext cx="109728" cy="208483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764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Transport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221992"/>
            <a:ext cx="42062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Aviatsiya, avtomobil va avtobus orqali shaharlararo bog‘lanish turistik oqimni tezlashtiradi, marshrutlarni kengaytiradi va sayohat vaqtini qisqartiradi.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4572000"/>
            <a:ext cx="102412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Turistik resursning mavjudligi yetarli emas — unga yetib borish, qolish va qulay xizmatdan foydalanish imkoniyati ham bo‘lishi kerak.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Faol turizm: tabiiy resurslardan foydalanish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55064"/>
            <a:ext cx="109728" cy="194767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6733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Trekking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130552"/>
            <a:ext cx="28346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G‘arbiy Tyanshan va Chimyon hududlari piyoda sayr, alpinizm va qishki turizm uchun imkoniyat yaratadi.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655064"/>
            <a:ext cx="109728" cy="194767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6733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Ot sayri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2130552"/>
            <a:ext cx="28346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Ugam-Chatqol hududlarida tabiat va an’anaviy hayot uyg‘unligini taklif qiluvchi faol turizm shakli.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0" y="150876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655064"/>
            <a:ext cx="109728" cy="194767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6733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Tuya safari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2130552"/>
            <a:ext cx="28346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Qizilqum cho‘li orqali Ipak yo‘li ruhini his etishga qaratilgan ekzotik turistik mahsulot.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4389120"/>
            <a:ext cx="10241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F6F78"/>
                </a:solidFill>
              </a:rPr>
              <a:t>Mahsulot yaratish formulasi: tabiiy resurs + xavfsizlik + marshrut + gidlik + transport + joylashtirish + taassurot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Davlat va turizm siyosati: tarixiy yondashuv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05840" y="1920240"/>
            <a:ext cx="1005840" cy="100584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67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1992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“O‘zbekturizm” milliy kompaniyasi tashkil etilishi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011680" y="2432304"/>
            <a:ext cx="2606040" cy="0"/>
          </a:xfrm>
          <a:prstGeom prst="line">
            <a:avLst/>
          </a:prstGeom>
          <a:noFill/>
          <a:ln w="25400">
            <a:solidFill>
              <a:srgbClr val="9AA6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920240"/>
            <a:ext cx="1005840" cy="1005840"/>
          </a:xfrm>
          <a:prstGeom prst="ellipse">
            <a:avLst/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267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1993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31546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O‘zbekistonning UNWTOga a’zo bo‘lishi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0" y="2432304"/>
            <a:ext cx="2606040" cy="0"/>
          </a:xfrm>
          <a:prstGeom prst="line">
            <a:avLst/>
          </a:prstGeom>
          <a:noFill/>
          <a:ln w="25400">
            <a:solidFill>
              <a:srgbClr val="9AA6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920240"/>
            <a:ext cx="1005840" cy="100584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267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2004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0" y="31546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Samarqandda Ipak yo‘li turizmini muvofiqlashtirish ofisi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5212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Eslatma: bu slayddagi sanalar qo‘llanmada keltirilgan tarixiy ma’lumotlar asosida berildi.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O‘zbekiston turizm salohiyatining tarkibi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09160" y="23317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19472" y="2578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O‘ZBEKISTONNING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TURIZM SALOHIYATI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1188720"/>
            <a:ext cx="2057400" cy="868680"/>
          </a:xfrm>
          <a:prstGeom prst="roundRect">
            <a:avLst>
              <a:gd name="adj" fmla="val 7368"/>
            </a:avLst>
          </a:prstGeom>
          <a:solidFill>
            <a:srgbClr val="EAF4F5"/>
          </a:solidFill>
          <a:ln w="12700">
            <a:solidFill>
              <a:srgbClr val="A7C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24D"/>
                </a:solidFill>
              </a:rPr>
              <a:t>Me’moriy obidalar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545 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664208" y="1627632"/>
            <a:ext cx="3502152" cy="1161288"/>
          </a:xfrm>
          <a:prstGeom prst="line">
            <a:avLst/>
          </a:prstGeom>
          <a:noFill/>
          <a:ln w="13970">
            <a:solidFill>
              <a:srgbClr val="C8D0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743200"/>
            <a:ext cx="2057400" cy="868680"/>
          </a:xfrm>
          <a:prstGeom prst="roundRect">
            <a:avLst>
              <a:gd name="adj" fmla="val 7368"/>
            </a:avLst>
          </a:prstGeom>
          <a:solidFill>
            <a:srgbClr val="FFF7E6"/>
          </a:solidFill>
          <a:ln w="12700">
            <a:solidFill>
              <a:srgbClr val="E4C9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80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24D"/>
                </a:solidFill>
              </a:rPr>
              <a:t>Tarixiy joylar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575 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709928" y="3182112"/>
            <a:ext cx="3456432" cy="-393192"/>
          </a:xfrm>
          <a:prstGeom prst="line">
            <a:avLst/>
          </a:prstGeom>
          <a:noFill/>
          <a:ln w="13970">
            <a:solidFill>
              <a:srgbClr val="C8D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97680"/>
            <a:ext cx="2057400" cy="868680"/>
          </a:xfrm>
          <a:prstGeom prst="roundRect">
            <a:avLst>
              <a:gd name="adj" fmla="val 7368"/>
            </a:avLst>
          </a:prstGeom>
          <a:solidFill>
            <a:srgbClr val="EAF4F5"/>
          </a:solidFill>
          <a:ln w="12700">
            <a:solidFill>
              <a:srgbClr val="A7C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4348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24D"/>
                </a:solidFill>
              </a:rPr>
              <a:t>San’at obidalari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1457 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755648" y="4736592"/>
            <a:ext cx="3410712" cy="-1947672"/>
          </a:xfrm>
          <a:prstGeom prst="line">
            <a:avLst/>
          </a:prstGeom>
          <a:noFill/>
          <a:ln w="13970">
            <a:solidFill>
              <a:srgbClr val="C8D0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4846320"/>
            <a:ext cx="2057400" cy="868680"/>
          </a:xfrm>
          <a:prstGeom prst="roundRect">
            <a:avLst>
              <a:gd name="adj" fmla="val 7368"/>
            </a:avLst>
          </a:prstGeom>
          <a:solidFill>
            <a:srgbClr val="FFF7E6"/>
          </a:solidFill>
          <a:ln w="12700">
            <a:solidFill>
              <a:srgbClr val="E4C9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4983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24D"/>
                </a:solidFill>
              </a:rPr>
              <a:t>Arxeologik obidalar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3063240" y="53492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5500 ta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995928" y="5285232"/>
            <a:ext cx="1170432" cy="-2496312"/>
          </a:xfrm>
          <a:prstGeom prst="line">
            <a:avLst/>
          </a:prstGeom>
          <a:noFill/>
          <a:ln w="13970">
            <a:solidFill>
              <a:srgbClr val="C8D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4800600"/>
            <a:ext cx="2057400" cy="868680"/>
          </a:xfrm>
          <a:prstGeom prst="roundRect">
            <a:avLst>
              <a:gd name="adj" fmla="val 7368"/>
            </a:avLst>
          </a:prstGeom>
          <a:solidFill>
            <a:srgbClr val="EAF4F5"/>
          </a:solidFill>
          <a:ln w="12700">
            <a:solidFill>
              <a:srgbClr val="A7CD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49377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24D"/>
                </a:solidFill>
              </a:rPr>
              <a:t>Kurortlar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4892040" y="53035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300+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24728" y="5239512"/>
            <a:ext cx="-658368" cy="-2450592"/>
          </a:xfrm>
          <a:prstGeom prst="line">
            <a:avLst/>
          </a:prstGeom>
          <a:noFill/>
          <a:ln w="13970">
            <a:solidFill>
              <a:srgbClr val="C8D0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35240" y="4800600"/>
            <a:ext cx="2057400" cy="868680"/>
          </a:xfrm>
          <a:prstGeom prst="roundRect">
            <a:avLst>
              <a:gd name="adj" fmla="val 7368"/>
            </a:avLst>
          </a:prstGeom>
          <a:solidFill>
            <a:srgbClr val="FFF7E6"/>
          </a:solidFill>
          <a:ln w="12700">
            <a:solidFill>
              <a:srgbClr val="E4C98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49377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24D"/>
                </a:solidFill>
              </a:rPr>
              <a:t>Sihatgohlar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7726680" y="53035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40+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659368" y="5239512"/>
            <a:ext cx="-3493008" cy="-2450592"/>
          </a:xfrm>
          <a:prstGeom prst="line">
            <a:avLst/>
          </a:prstGeom>
          <a:noFill/>
          <a:ln w="13970">
            <a:solidFill>
              <a:srgbClr val="C8D0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35440" y="3886200"/>
            <a:ext cx="2057400" cy="868680"/>
          </a:xfrm>
          <a:prstGeom prst="roundRect">
            <a:avLst>
              <a:gd name="adj" fmla="val 7368"/>
            </a:avLst>
          </a:prstGeom>
          <a:solidFill>
            <a:srgbClr val="EAF4F5"/>
          </a:solidFill>
          <a:ln w="12700">
            <a:solidFill>
              <a:srgbClr val="A7CDD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0" y="4023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24D"/>
                </a:solidFill>
              </a:rPr>
              <a:t>Tabiiy hududlar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9326880" y="43891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tog‘, qo‘riqxona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259568" y="4325112"/>
            <a:ext cx="-5093208" cy="-1536192"/>
          </a:xfrm>
          <a:prstGeom prst="line">
            <a:avLst/>
          </a:prstGeom>
          <a:noFill/>
          <a:ln w="13970">
            <a:solidFill>
              <a:srgbClr val="C8D0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0" y="2240280"/>
            <a:ext cx="2057400" cy="868680"/>
          </a:xfrm>
          <a:prstGeom prst="roundRect">
            <a:avLst>
              <a:gd name="adj" fmla="val 7368"/>
            </a:avLst>
          </a:prstGeom>
          <a:solidFill>
            <a:srgbClr val="FFF7E6"/>
          </a:solidFill>
          <a:ln w="12700">
            <a:solidFill>
              <a:srgbClr val="E4C98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23774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24D"/>
                </a:solidFill>
              </a:rPr>
              <a:t>Buyuk Ipak yo‘li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9235440" y="274320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obyektlar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168128" y="2679192"/>
            <a:ext cx="-5001768" cy="109728"/>
          </a:xfrm>
          <a:prstGeom prst="line">
            <a:avLst/>
          </a:prstGeom>
          <a:noFill/>
          <a:ln w="13970">
            <a:solidFill>
              <a:srgbClr val="C8D0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32520" y="914400"/>
            <a:ext cx="2057400" cy="868680"/>
          </a:xfrm>
          <a:prstGeom prst="roundRect">
            <a:avLst>
              <a:gd name="adj" fmla="val 7368"/>
            </a:avLst>
          </a:prstGeom>
          <a:solidFill>
            <a:srgbClr val="EAF4F5"/>
          </a:solidFill>
          <a:ln w="12700">
            <a:solidFill>
              <a:srgbClr val="A7CD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23960" y="10515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7324D"/>
                </a:solidFill>
              </a:rPr>
              <a:t>Sharqona bozorlar</a:t>
            </a:r>
            <a:endParaRPr lang="en-US" sz="1280" dirty="0"/>
          </a:p>
        </p:txBody>
      </p:sp>
      <p:sp>
        <p:nvSpPr>
          <p:cNvPr id="41" name="Text 39"/>
          <p:cNvSpPr/>
          <p:nvPr/>
        </p:nvSpPr>
        <p:spPr>
          <a:xfrm>
            <a:off x="8823960" y="14173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yirik markazlar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756648" y="1353312"/>
            <a:ext cx="-4590288" cy="1435608"/>
          </a:xfrm>
          <a:prstGeom prst="line">
            <a:avLst/>
          </a:prstGeom>
          <a:noFill/>
          <a:ln w="13970">
            <a:solidFill>
              <a:srgbClr val="C8D0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18320" y="5897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Raqamlar qo‘llanmadagi 1.1-rasm asosida.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Salohiyatdan foydalanish muammosi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5"/>
          </a:solidFill>
          <a:ln w="12700">
            <a:solidFill>
              <a:srgbClr val="9CC6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Resurs mavjud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670048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90088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7E6"/>
          </a:solidFill>
          <a:ln w="12700">
            <a:solidFill>
              <a:srgbClr val="E0C2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Mahsulot yaratiladi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74336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94376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5"/>
          </a:solidFill>
          <a:ln w="12700">
            <a:solidFill>
              <a:srgbClr val="9CC6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04104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Infratuzilma bog‘lanadi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278624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98664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7E6"/>
          </a:solidFill>
          <a:ln w="12700">
            <a:solidFill>
              <a:srgbClr val="E0C2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8392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Bozorga chiqariladi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582912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02952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5"/>
          </a:solidFill>
          <a:ln w="12700">
            <a:solidFill>
              <a:srgbClr val="9CC6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2680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Daromad olinadi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3657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</a:rPr>
              <a:t>Qo‘llanmaning asosiy tanqidi: salohiyatning mavjudligi avtomatik ravishda turizm rivojlanishini anglatmaydi.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Ekologik, ilmiy, sport, sog‘lomlashtirish va ijtimoiy turizm yo‘nalishlarida rejalashtirilgan marshrut va mahsulotlar zarur.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Resurslarni tahlil qilish ularni iqtisodiy natijaga aylantirishning boshlang‘ich shartidir.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A84B"/>
                </a:solidFill>
              </a:rPr>
              <a:t>02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Turistik firmalar moliyaviy-xo‘jalik faoliyati tahlilining vazifalari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31546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6E1EA"/>
                </a:solidFill>
              </a:rPr>
              <a:t>Bozor sharoitida tahlil — rejalashtirish, nazorat, resurslardan foydalanish va boshqaruv qarorlarining iqtisodiy asosi.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Bozor iqtisodiyotida tahlilning roli nega oshadi?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55064"/>
            <a:ext cx="109728" cy="190195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6733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Mustaqillik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130552"/>
            <a:ext cx="288036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Korxona faoliyatini o‘zi rejalashtiradi, o‘zi nazorat qiladi va natija uchun o‘zi javob beradi.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50876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1655064"/>
            <a:ext cx="109728" cy="190195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16733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Raqobat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82312" y="2130552"/>
            <a:ext cx="288036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Ichki va tashqi imkoniyatlarni aniqlash, xarajat va samaradorlikni boshqarish zarur bo‘ladi.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18704" y="150876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1655064"/>
            <a:ext cx="109728" cy="190195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16733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Javobgarlik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0184" y="2130552"/>
            <a:ext cx="288036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Moliyaviy barqarorlik, to‘lovga qobiliyat va foydalilikka muntazam baho berish talab etiladi.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4343400"/>
            <a:ext cx="100584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Tahlilning markaziy savoli: “Nima bo‘ldi?” emas, “Nega bo‘ldi va bundan keyin nima qilish kerak?”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Tahlilning 7 asosiy vazifasi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502920" cy="50292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43560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Biznes-reja uchun axborot bilan ta’minlash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48716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Reja bajarilishi va moliyaviy barqarorlikni baholash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65760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35387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Natijaga ta’sir qiluvchi omillarni aniqlash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70916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459028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Mehnat, moddiy va moliyaviy resurslardan samarali foydalanish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502920" cy="502920"/>
          </a:xfrm>
          <a:prstGeom prst="ellipse">
            <a:avLst/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55448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143560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Iqtisodiy va moliyaviy salohiyatni baholash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2468880"/>
            <a:ext cx="502920" cy="502920"/>
          </a:xfrm>
          <a:prstGeom prst="ellipse">
            <a:avLst/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6060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0" y="248716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Tijorat sirini saqlagan holda investorlar uchun jozibadorlik yaratish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63640" y="3520440"/>
            <a:ext cx="502920" cy="502920"/>
          </a:xfrm>
          <a:prstGeom prst="ellipse">
            <a:avLst/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65760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35387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Boshqaruvning eng maqbul va foydali usullarini ishlab chiqish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1-vazifa: biznes-reja uchun axborot tayyorlash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5"/>
          </a:solidFill>
          <a:ln w="12700">
            <a:solidFill>
              <a:srgbClr val="9CC6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O‘tgan davr tahlili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670048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90088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7E6"/>
          </a:solidFill>
          <a:ln w="12700">
            <a:solidFill>
              <a:srgbClr val="E0C2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Muammo va imkoniyat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74336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94376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5"/>
          </a:solidFill>
          <a:ln w="12700">
            <a:solidFill>
              <a:srgbClr val="9CC6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04104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Reja ko‘rsatkichlari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278624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98664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7E6"/>
          </a:solidFill>
          <a:ln w="12700">
            <a:solidFill>
              <a:srgbClr val="E0C2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8392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Resurs taqsimoti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582912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02952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5"/>
          </a:solidFill>
          <a:ln w="12700">
            <a:solidFill>
              <a:srgbClr val="9CC6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2680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Nazorat mezoni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0120" y="3749040"/>
            <a:ext cx="1005840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Biznes-reja ko‘rsatkichlari iqtisodiy jihatdan asoslangan bo‘lishi kerak.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Tahlil o‘tgan davr natijalarini o‘rganadi va kelgusi davr rejasiga faktik asos beradi.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Shuning uchun tahlil — rejalashtirishning oldingi bosqichi ham, rejaning bajarilishini tekshiruvchi keyingi bosqichi hamdir.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2-vazifa: biznes-reja bajarilishini obyektiv baholash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3154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1746504"/>
            <a:ext cx="109728" cy="171907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764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Reja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221992"/>
            <a:ext cx="2560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Maqsad, sotuv, xarajat, foyda va boshqa kutilayotgan ko‘rsatkichlar.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1600200"/>
            <a:ext cx="3154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1746504"/>
            <a:ext cx="109728" cy="171907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64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Haqiqat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221992"/>
            <a:ext cx="2560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Hisobot davrida amalda erishilgan natijalar va resurs sarfi.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154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02752" y="1746504"/>
            <a:ext cx="109728" cy="171907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1764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Farq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9640" y="2221992"/>
            <a:ext cx="25603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Reja va haqiqat o‘rtasidagi tafovut — keyingi omilli tahlil uchun signal.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4297680"/>
            <a:ext cx="1005840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Asosiy tamoyil: faqat reja bajarildi/bajarilmadi degan xulosa yetarli emas; sabab va oqibat ham aniqlanishi kerak.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3-vazifa: omillar ta’sirini aniqlash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26280" y="2286000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25328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NATIJA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(masalan, sof tushum)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14400" y="14630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DDEFF1"/>
          </a:solidFill>
          <a:ln w="12700">
            <a:solidFill>
              <a:srgbClr val="A7C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7007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Xodimlar soni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91840" y="1847088"/>
            <a:ext cx="4526280" cy="438912"/>
          </a:xfrm>
          <a:prstGeom prst="line">
            <a:avLst/>
          </a:prstGeom>
          <a:noFill/>
          <a:ln w="17780">
            <a:solidFill>
              <a:srgbClr val="9FAAB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39319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2E8D5"/>
          </a:solidFill>
          <a:ln w="12700">
            <a:solidFill>
              <a:srgbClr val="E0C5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16966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Mehnat unumdorligi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91840" y="4315968"/>
            <a:ext cx="4526280" cy="-2029968"/>
          </a:xfrm>
          <a:prstGeom prst="line">
            <a:avLst/>
          </a:prstGeom>
          <a:noFill/>
          <a:ln w="17780">
            <a:solidFill>
              <a:srgbClr val="9FAAB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03920" y="14630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DDEFF1"/>
          </a:solidFill>
          <a:ln w="12700">
            <a:solidFill>
              <a:srgbClr val="A7C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17007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Narx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503920" y="1847088"/>
            <a:ext cx="-914400" cy="438912"/>
          </a:xfrm>
          <a:prstGeom prst="line">
            <a:avLst/>
          </a:prstGeom>
          <a:noFill/>
          <a:ln w="17780">
            <a:solidFill>
              <a:srgbClr val="9FAAB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03920" y="39319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F2E8D5"/>
          </a:solidFill>
          <a:ln w="12700">
            <a:solidFill>
              <a:srgbClr val="E0C5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416966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Turistlar soni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503920" y="4315968"/>
            <a:ext cx="-914400" cy="-2029968"/>
          </a:xfrm>
          <a:prstGeom prst="line">
            <a:avLst/>
          </a:prstGeom>
          <a:noFill/>
          <a:ln w="17780">
            <a:solidFill>
              <a:srgbClr val="9FAAB4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828800" y="53492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F6F78"/>
                </a:solidFill>
              </a:rPr>
              <a:t>Omilli tahlil natijaning qaysi qismi qaysi omil hisobiga o‘zgarganini ko‘rsatadi.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4-vazifa: resurslardan samarali foydalanish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60120" y="178308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EAF4F5"/>
          </a:solidFill>
          <a:ln w="12700">
            <a:solidFill>
              <a:srgbClr val="A9D0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78"/>
                </a:solidFill>
              </a:rPr>
              <a:t>MEHNAT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697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malaka, unumdorlik, vaqt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54880" y="178308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FFF7E6"/>
          </a:solidFill>
          <a:ln w="12700">
            <a:solidFill>
              <a:srgbClr val="E3C9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</a:rPr>
              <a:t>MODDIY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697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asosiy vosita, texnika, inventar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549640" y="1783080"/>
            <a:ext cx="3108960" cy="2011680"/>
          </a:xfrm>
          <a:prstGeom prst="roundRect">
            <a:avLst>
              <a:gd name="adj" fmla="val 4545"/>
            </a:avLst>
          </a:prstGeom>
          <a:solidFill>
            <a:srgbClr val="F1F3F5"/>
          </a:solidFill>
          <a:ln w="12700">
            <a:solidFill>
              <a:srgbClr val="CDD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MOLIYAVIY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23960" y="26974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kapital, pul oqimi, kredit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5840" y="4480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Samaradorlik faqat resursning ko‘pligiga emas, ularning o‘zaro mosligiga ham bog‘liq.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97280" y="51663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6B7280"/>
                </a:solidFill>
              </a:rPr>
              <a:t>Masalan: zamonaviy texnika + yetarli malakali xodim = kutilgan natija.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5–7-vazifalar: salohiyat, investor va boshqaruv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09344"/>
            <a:ext cx="109728" cy="203911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Iqtisodiy va moliyaviy salohiyat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84832"/>
            <a:ext cx="28346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Aktivlar, mehnat resurslari, kapital tarkibi, to‘lovga qobiliyat va moliyaviy barqarorlik baholanadi.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609344"/>
            <a:ext cx="109728" cy="203911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Investor uchun axborot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2084832"/>
            <a:ext cx="28346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Korxona jozibador ko‘rsatiladi, lekin tijorat siri hisoblangan ma’lumotlar oshkor etilmaydi.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0" y="14630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609344"/>
            <a:ext cx="109728" cy="203911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6276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Boshqaruv usuli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2084832"/>
            <a:ext cx="28346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Tahlil eng foydali, xavfi past va samarali boshqaruv variantlarini tanlashga yordam beradi.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011680" y="4617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Tahlilning yakuniy natijasi — ma’lumot emas, qaror.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A84B"/>
                </a:solidFill>
              </a:rPr>
              <a:t>03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Iqtisodiy tahlilning turistik korxonalarni boshqarishdagi ahamiyati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31546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6E1EA"/>
                </a:solidFill>
              </a:rPr>
              <a:t>Tahlil turli manfaatdor tomonlar uchun turlicha maqsadga xizmat qiladi.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Kimlar iqtisodiy tahlildan manfaatdor?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09344"/>
            <a:ext cx="109728" cy="130759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6276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Mulkdor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084832"/>
            <a:ext cx="26517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mulk qiymati va foyda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146304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2312" y="1609344"/>
            <a:ext cx="109728" cy="130759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6276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Mehnat jamoasi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084832"/>
            <a:ext cx="26517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ish haqi va barqaror bandlik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0" y="146304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77072" y="1609344"/>
            <a:ext cx="109728" cy="130759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16276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Davlat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23960" y="2084832"/>
            <a:ext cx="26517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soliq tushumi va qonuniylik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35661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7552" y="3712464"/>
            <a:ext cx="109728" cy="130759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730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Investor/bank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4187952"/>
            <a:ext cx="26517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xavf va qaytish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17720" y="35661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82312" y="3712464"/>
            <a:ext cx="109728" cy="130759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730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Hamkorlar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4187952"/>
            <a:ext cx="26517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ishonchlilik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412480" y="3566160"/>
            <a:ext cx="32461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77072" y="3712464"/>
            <a:ext cx="109728" cy="130759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23960" y="3730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Menejer/buxgalter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23960" y="4187952"/>
            <a:ext cx="26517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ichki rezerv va qaror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Iqtisodiy tahlil — manfaatlar kesishgan nuqta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434840" y="1920240"/>
            <a:ext cx="3337560" cy="2743200"/>
          </a:xfrm>
          <a:prstGeom prst="ellipse">
            <a:avLst/>
          </a:prstGeom>
          <a:solidFill>
            <a:srgbClr val="EAF4F5">
              <a:alpha val="85000"/>
            </a:srgbClr>
          </a:solidFill>
          <a:ln w="25400">
            <a:solidFill>
              <a:srgbClr val="1F6F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8072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6F78"/>
                </a:solidFill>
              </a:rPr>
              <a:t>IQTISODIY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6F78"/>
                </a:solidFill>
              </a:rPr>
              <a:t>TAHLIL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05840" y="21031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3134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Mulkdor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17320" y="42976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2E8D5"/>
          </a:solidFill>
          <a:ln w="12700">
            <a:solidFill>
              <a:srgbClr val="D8BB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4507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Davlat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0" y="20116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2221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Investor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78240" y="42062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2E8D5"/>
          </a:solidFill>
          <a:ln w="12700">
            <a:solidFill>
              <a:srgbClr val="D8BB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4416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Jamoa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9601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1704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Menejer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92040" y="51663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2E8D5"/>
          </a:solidFill>
          <a:ln w="12700">
            <a:solidFill>
              <a:srgbClr val="D8BB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53766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Hamkor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57424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280"/>
                </a:solidFill>
              </a:rPr>
              <a:t>Har bir tomonning savoli boshqacha, ammo ma’lumot manbai ko‘pincha bir xil: moliyaviy, statistik va boshqaruv hisobotlari.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Tahlilning asosiy axborot manbalari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60120" y="155448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" y="1700784"/>
            <a:ext cx="109728" cy="181051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719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Moliyaviy hisobot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176272"/>
            <a:ext cx="2560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Balans, moliyaviy natijalar, pul oqimi va boshqa hisobot shakllari korxona holatini umumlashtiradi.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155448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1700784"/>
            <a:ext cx="109728" cy="181051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19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Statistik hisobot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176272"/>
            <a:ext cx="2560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Turistlar soni, xizmat hajmi, bandlik, mehnat va boshqa miqdoriy ko‘rsatkichlar dinamikani ko‘rsatadi.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2440" y="155448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57032" y="1700784"/>
            <a:ext cx="109728" cy="181051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719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Boshqaruv / tezkor axborot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0" y="2176272"/>
            <a:ext cx="256032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Kundalik yoki bo‘linmalar kesimidagi operativ ma’lumotlar tezkor qarorlar uchun ishlatiladi.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4343400"/>
            <a:ext cx="100584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1F2937"/>
                </a:solidFill>
              </a:rPr>
              <a:t>Kompleks tahlil ko‘pincha bosh buxgalter va menejerlar tomonidan amalga oshiriladi, alohida yo‘nalishlar esa tegishli mutaxassislar tomonidan tahlil qilinadi.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A84B"/>
                </a:solidFill>
              </a:rPr>
              <a:t>04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Rahbar va mutaxassislar uchun iqtisodiy tahlilning zarurligi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31546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6E1EA"/>
                </a:solidFill>
              </a:rPr>
              <a:t>Bozor sharoitida “biznes tili”ni bilish — moliyaviy axborotni o‘qish, tushunish va qarorga aylantirish qobiliyatidir.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“Biznes tili” nimani anglatadi?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EAF4F5"/>
          </a:solidFill>
          <a:ln w="12700">
            <a:solidFill>
              <a:srgbClr val="A9D0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019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Likvidlik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572000" y="16002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EAF4F5"/>
          </a:solidFill>
          <a:ln w="12700">
            <a:solidFill>
              <a:srgbClr val="A9D0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9019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Moliyaviy barqarorlik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0" y="160020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EAF4F5"/>
          </a:solidFill>
          <a:ln w="12700">
            <a:solidFill>
              <a:srgbClr val="A9D0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9019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To‘lovga qobiliyat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12700">
            <a:solidFill>
              <a:srgbClr val="E0C5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3192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Rentabellik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572000" y="30175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12700">
            <a:solidFill>
              <a:srgbClr val="E0C5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3192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Raqobatbardoshlik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0" y="301752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12700">
            <a:solidFill>
              <a:srgbClr val="E0C5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33192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324D"/>
                </a:solidFill>
              </a:rPr>
              <a:t>Iqtisodiy nochorlik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102412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F6F78"/>
                </a:solidFill>
              </a:rPr>
              <a:t>Rahbar ushbu tushunchalarni “atama” sifatida emas, korxonaning real holatini ifodalovchi boshqaruv ko‘rsatkichlari sifatida tushunishi kerak.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Rahbar nimani bilishi kerak?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10241280" cy="3749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Moliyaviy hisobotni iqtisodiy mazmunda o‘qish va asosiy ko‘rsatkichlarni izohlash.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Likvidlik, moliyaviy barqarorlik, rentabellik va to‘lovga qobiliyatni baholash.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Debitor va kreditor qarzlar, soliqlar va aylanma mablag‘lar holatini nazorat qilish.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Axborotdan kelib chiqib, ishlab chiqarish/xizmat samaradorligini oshiruvchi qaror qabul qilish.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011680" y="5166360"/>
            <a:ext cx="8138160" cy="502920"/>
          </a:xfrm>
          <a:prstGeom prst="roundRect">
            <a:avLst>
              <a:gd name="adj" fmla="val 14545"/>
            </a:avLst>
          </a:prstGeom>
          <a:solidFill>
            <a:srgbClr val="F0F6F7"/>
          </a:solidFill>
          <a:ln w="12700">
            <a:solidFill>
              <a:srgbClr val="B7D3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533095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24D"/>
                </a:solidFill>
              </a:rPr>
              <a:t>“Hisobotga imzo” — nafaqat rasmiylik, balki axborotning mazmuni va haqqoniyligi uchun javobgarlikdir.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A84B"/>
                </a:solidFill>
              </a:rPr>
              <a:t>05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Turistik korxonalarda iqtisodiy tahlilni tashkil qilish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31546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6E1EA"/>
                </a:solidFill>
              </a:rPr>
              <a:t>Ma’lumot → hisob-kitob → jadval va diagramma → xulosa → boshqaruv qarori.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Tahlil natijalarini rasmiylashtirish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5"/>
          </a:solidFill>
          <a:ln w="12700">
            <a:solidFill>
              <a:srgbClr val="9CC6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Hisob-kitob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670048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90088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7E6"/>
          </a:solidFill>
          <a:ln w="12700">
            <a:solidFill>
              <a:srgbClr val="E0C2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Tahliliy jadval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74336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94376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5"/>
          </a:solidFill>
          <a:ln w="12700">
            <a:solidFill>
              <a:srgbClr val="9CC6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04104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Grafik/diagramma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278624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98664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7E6"/>
          </a:solidFill>
          <a:ln w="12700">
            <a:solidFill>
              <a:srgbClr val="E0C2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8392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Yozma xulosa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582912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02952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5"/>
          </a:solidFill>
          <a:ln w="12700">
            <a:solidFill>
              <a:srgbClr val="9CC6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2680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Chora-tadbir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1014984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5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Jadvallar korxona va uning bo‘linmalarida yagona, taqqoslanadigan shaklda tuzilishi maqsadga muvofiq.</a:t>
            </a:r>
            <a:endParaRPr lang="en-US" sz="1520" dirty="0"/>
          </a:p>
          <a:p>
            <a:pPr marL="228600" indent="-228600">
              <a:buSzPct val="100000"/>
              <a:buChar char="•"/>
            </a:pPr>
            <a:r>
              <a:rPr lang="en-US" sz="15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Ko‘rsatkich nomi, davri, farqi va o‘zgarish sur’ati kabi ustunlar tahlilning “skeleti”ni tashkil etadi.</a:t>
            </a:r>
            <a:endParaRPr lang="en-US" sz="1520" dirty="0"/>
          </a:p>
          <a:p>
            <a:pPr marL="228600" indent="-228600">
              <a:buSzPct val="100000"/>
              <a:buChar char="•"/>
            </a:pPr>
            <a:r>
              <a:rPr lang="en-US" sz="15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Grafiklar dinamikani, diagrammalar esa tarkib va bo‘linmalar o‘rtasidagi farqni tez anglashga yordam beradi.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Tezkor tahlil va raqamli boshqaruv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1655064"/>
            <a:ext cx="109728" cy="185623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673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Kunlik monitoring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30552"/>
            <a:ext cx="265176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Ish kuni yakunida natijani ko‘rish — kamchilikni hisobot davri tugashidan oldin bartaraf etish imkonini beradi.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50876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1655064"/>
            <a:ext cx="109728" cy="185623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73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Yagona tarmoq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2130552"/>
            <a:ext cx="265176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Bo‘linmalardan ma’lumotlarni markazlashgan tarzda yig‘ish va umumlashtirish tezkor boshqaruvni kuchaytiradi.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92440" y="1508760"/>
            <a:ext cx="3246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57032" y="1655064"/>
            <a:ext cx="109728" cy="18562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673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Raqamli vizualizatsiya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0" y="2130552"/>
            <a:ext cx="265176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Jadval, grafik va diagrammalar rahbar uchun o‘zgarishni tez ko‘rish va taqqoslashni osonlashtiradi.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7280" y="4389120"/>
            <a:ext cx="9966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7324D"/>
                </a:solidFill>
              </a:rPr>
              <a:t>Bugungi talqinda bu yondashuv dashboard, BI-tizim, CRM/LMS va real vaqt monitoringi bilan uyg‘unlashadi.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Tahlildan boshqaruv qarorigacha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5"/>
          </a:solidFill>
          <a:ln w="12700">
            <a:solidFill>
              <a:srgbClr val="9CC6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Muammo aniqlanadi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670048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90088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7E6"/>
          </a:solidFill>
          <a:ln w="12700">
            <a:solidFill>
              <a:srgbClr val="E0C2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Sabab tahlil qilinadi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74336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94376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5"/>
          </a:solidFill>
          <a:ln w="12700">
            <a:solidFill>
              <a:srgbClr val="9CC6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04104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Mas’ul va resurs belgilanadi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278624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98664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7E6"/>
          </a:solidFill>
          <a:ln w="12700">
            <a:solidFill>
              <a:srgbClr val="E0C2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8392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Qaror qabul qilinadi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582912" y="2578608"/>
            <a:ext cx="256032" cy="347472"/>
          </a:xfrm>
          <a:prstGeom prst="chevron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02952" y="2240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AF4F5"/>
          </a:solidFill>
          <a:ln w="12700">
            <a:solidFill>
              <a:srgbClr val="9CC6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2680" y="2432304"/>
            <a:ext cx="1700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Natija nazorat qilinadi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" y="38862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78"/>
                </a:solidFill>
              </a:rPr>
              <a:t>Yirik korxonalarda “fikrlar hujumi” kabi jamoaviy usullar orqali yechim variantlarini ko‘paytirish mumkin.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46177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F2937"/>
                </a:solidFill>
              </a:rPr>
              <a:t>Tahlil natijalaridan auditorlik xulosalarini shakllantirishda ham foydalanish mumkin.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bo‘yicha tayanch tushunchalar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TAKRORLASH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2423160" cy="822960"/>
          </a:xfrm>
          <a:prstGeom prst="roundRect">
            <a:avLst>
              <a:gd name="adj" fmla="val 10000"/>
            </a:avLst>
          </a:prstGeom>
          <a:solidFill>
            <a:srgbClr val="EAF4F5"/>
          </a:solidFill>
          <a:ln w="12700">
            <a:solidFill>
              <a:srgbClr val="A8CF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733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turizm salohiyati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66160" y="1417320"/>
            <a:ext cx="2423160" cy="822960"/>
          </a:xfrm>
          <a:prstGeom prst="roundRect">
            <a:avLst>
              <a:gd name="adj" fmla="val 10000"/>
            </a:avLst>
          </a:prstGeom>
          <a:solidFill>
            <a:srgbClr val="FFF8E9"/>
          </a:solidFill>
          <a:ln w="12700">
            <a:solidFill>
              <a:srgbClr val="E4C9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03320" y="16733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turistik korxona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2423160" cy="822960"/>
          </a:xfrm>
          <a:prstGeom prst="roundRect">
            <a:avLst>
              <a:gd name="adj" fmla="val 10000"/>
            </a:avLst>
          </a:prstGeom>
          <a:solidFill>
            <a:srgbClr val="EAF4F5"/>
          </a:solidFill>
          <a:ln w="12700">
            <a:solidFill>
              <a:srgbClr val="A8CF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6733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iqtisodiy tahlil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235440" y="1417320"/>
            <a:ext cx="2423160" cy="822960"/>
          </a:xfrm>
          <a:prstGeom prst="roundRect">
            <a:avLst>
              <a:gd name="adj" fmla="val 10000"/>
            </a:avLst>
          </a:prstGeom>
          <a:solidFill>
            <a:srgbClr val="FFF8E9"/>
          </a:solidFill>
          <a:ln w="12700">
            <a:solidFill>
              <a:srgbClr val="E4C9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72600" y="16733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moliyaviy hisobot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2423160" cy="822960"/>
          </a:xfrm>
          <a:prstGeom prst="roundRect">
            <a:avLst>
              <a:gd name="adj" fmla="val 10000"/>
            </a:avLst>
          </a:prstGeom>
          <a:solidFill>
            <a:srgbClr val="EAF4F5"/>
          </a:solidFill>
          <a:ln w="12700">
            <a:solidFill>
              <a:srgbClr val="A8CF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99923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buxgalteriya balansi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566160" y="2743200"/>
            <a:ext cx="2423160" cy="822960"/>
          </a:xfrm>
          <a:prstGeom prst="roundRect">
            <a:avLst>
              <a:gd name="adj" fmla="val 10000"/>
            </a:avLst>
          </a:prstGeom>
          <a:solidFill>
            <a:srgbClr val="FFF8E9"/>
          </a:solidFill>
          <a:ln w="12700">
            <a:solidFill>
              <a:srgbClr val="E4C9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299923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moliyaviy barqarorlik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0" y="2743200"/>
            <a:ext cx="2423160" cy="822960"/>
          </a:xfrm>
          <a:prstGeom prst="roundRect">
            <a:avLst>
              <a:gd name="adj" fmla="val 10000"/>
            </a:avLst>
          </a:prstGeom>
          <a:solidFill>
            <a:srgbClr val="EAF4F5"/>
          </a:solidFill>
          <a:ln w="12700">
            <a:solidFill>
              <a:srgbClr val="A8CF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99923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moliyaviy natija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235440" y="2743200"/>
            <a:ext cx="2423160" cy="822960"/>
          </a:xfrm>
          <a:prstGeom prst="roundRect">
            <a:avLst>
              <a:gd name="adj" fmla="val 10000"/>
            </a:avLst>
          </a:prstGeom>
          <a:solidFill>
            <a:srgbClr val="FFF8E9"/>
          </a:solidFill>
          <a:ln w="12700">
            <a:solidFill>
              <a:srgbClr val="E4C9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299923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likvidlik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1520" y="4069080"/>
            <a:ext cx="2423160" cy="822960"/>
          </a:xfrm>
          <a:prstGeom prst="roundRect">
            <a:avLst>
              <a:gd name="adj" fmla="val 10000"/>
            </a:avLst>
          </a:prstGeom>
          <a:solidFill>
            <a:srgbClr val="EAF4F5"/>
          </a:solidFill>
          <a:ln w="12700">
            <a:solidFill>
              <a:srgbClr val="A8CF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3251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rentabellik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566160" y="4069080"/>
            <a:ext cx="2423160" cy="822960"/>
          </a:xfrm>
          <a:prstGeom prst="roundRect">
            <a:avLst>
              <a:gd name="adj" fmla="val 10000"/>
            </a:avLst>
          </a:prstGeom>
          <a:solidFill>
            <a:srgbClr val="FFF8E9"/>
          </a:solidFill>
          <a:ln w="12700">
            <a:solidFill>
              <a:srgbClr val="E4C9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43251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biznes-reja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0" y="4069080"/>
            <a:ext cx="2423160" cy="822960"/>
          </a:xfrm>
          <a:prstGeom prst="roundRect">
            <a:avLst>
              <a:gd name="adj" fmla="val 10000"/>
            </a:avLst>
          </a:prstGeom>
          <a:solidFill>
            <a:srgbClr val="EAF4F5"/>
          </a:solidFill>
          <a:ln w="12700">
            <a:solidFill>
              <a:srgbClr val="A8CF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3251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omilli tahlil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235440" y="4069080"/>
            <a:ext cx="2423160" cy="822960"/>
          </a:xfrm>
          <a:prstGeom prst="roundRect">
            <a:avLst>
              <a:gd name="adj" fmla="val 10000"/>
            </a:avLst>
          </a:prstGeom>
          <a:solidFill>
            <a:srgbClr val="FFF8E9"/>
          </a:solidFill>
          <a:ln w="12700">
            <a:solidFill>
              <a:srgbClr val="E4C9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72600" y="43251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boshqaruv qarori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Nazorat savollari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SAVOLLAR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10287000" cy="4114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O‘zbekiston turizm salohiyatining asosiy tarkibiy qismlarini sanang.</a:t>
            </a:r>
            <a:endParaRPr lang="en-US" sz="1670" dirty="0"/>
          </a:p>
          <a:p>
            <a:pPr marL="228600" indent="-228600">
              <a:buSzPct val="100000"/>
              <a:buChar char="•"/>
            </a:pPr>
            <a:r>
              <a:rPr lang="en-US" sz="16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Turistik korxona moliyaviy-xo‘jalik faoliyati tahlilining 7 vazifasini izohlang.</a:t>
            </a:r>
            <a:endParaRPr lang="en-US" sz="1670" dirty="0"/>
          </a:p>
          <a:p>
            <a:pPr marL="228600" indent="-228600">
              <a:buSzPct val="100000"/>
              <a:buChar char="•"/>
            </a:pPr>
            <a:r>
              <a:rPr lang="en-US" sz="16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Iqtisodiy tahlil qaysi manfaatdor tomonlar uchun va nima sababdan zarur?</a:t>
            </a:r>
            <a:endParaRPr lang="en-US" sz="1670" dirty="0"/>
          </a:p>
          <a:p>
            <a:pPr marL="228600" indent="-228600">
              <a:buSzPct val="100000"/>
              <a:buChar char="•"/>
            </a:pPr>
            <a:r>
              <a:rPr lang="en-US" sz="16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“Biznes tili” deganda qaysi iqtisodiy ko‘rsatkichlar nazarda tutiladi?</a:t>
            </a:r>
            <a:endParaRPr lang="en-US" sz="1670" dirty="0"/>
          </a:p>
          <a:p>
            <a:pPr marL="228600" indent="-228600">
              <a:buSzPct val="100000"/>
              <a:buChar char="•"/>
            </a:pPr>
            <a:r>
              <a:rPr lang="en-US" sz="16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Tahlil natijalarini rasmiylashtirish va boshqaruv qaroriga aylantirish bosqichlarini tushuntiring.</a:t>
            </a:r>
            <a:endParaRPr lang="en-US" sz="1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Amaliy topshiriq: turistik firma mini-tahlili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9802368" y="475488"/>
            <a:ext cx="1691640" cy="347472"/>
          </a:xfrm>
          <a:prstGeom prst="roundRect">
            <a:avLst>
              <a:gd name="adj" fmla="val 21053"/>
            </a:avLst>
          </a:prstGeom>
          <a:solidFill>
            <a:srgbClr val="DDEFF1"/>
          </a:solidFill>
          <a:ln w="12700">
            <a:solidFill>
              <a:srgbClr val="DDEF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12096" y="55778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AMALIYOT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55064"/>
            <a:ext cx="109728" cy="2770632"/>
          </a:xfrm>
          <a:prstGeom prst="roundRect">
            <a:avLst>
              <a:gd name="adj" fmla="val 500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673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Vaziyat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130552"/>
            <a:ext cx="2743200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Turistik firma o‘tgan yil 8 000 nafar turistga, joriy yilda 9 200 nafar turistga xizmat ko‘rsatdi. Tushum 12% oshdi, xarajatlar esa 18% oshdi.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655064"/>
            <a:ext cx="109728" cy="2770632"/>
          </a:xfrm>
          <a:prstGeom prst="roundRect">
            <a:avLst>
              <a:gd name="adj" fmla="val 50000"/>
            </a:avLst>
          </a:prstGeom>
          <a:solidFill>
            <a:srgbClr val="D6A84B"/>
          </a:solidFill>
          <a:ln w="12700">
            <a:solidFill>
              <a:srgbClr val="D6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73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Topshiriq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130552"/>
            <a:ext cx="2743200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1) Qaysi ko‘rsatkichlar ijobiy?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2) Qaysi xavf signali mavjud?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3) Qaysi omillarni qo‘shimcha tahlil qilish kerak?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4) Rahbar uchun 2 ta qaror taklif qiling.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50876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11312" y="1655064"/>
            <a:ext cx="109728" cy="277063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673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Kutiladigan yondashuv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2130552"/>
            <a:ext cx="2743200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Tushum o‘sishi yetarli xulosa emas. Xarajatlarning tezroq o‘sishi rentabellikni pasaytirishi mumkin. Xarajat tarkibi va 1 turistga to‘g‘ri keladigan marja tahlil qilinishi kerak.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601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6A84B"/>
                </a:solidFill>
              </a:rPr>
              <a:t>ASOSIY XULOSA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43000" y="1874520"/>
            <a:ext cx="987552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Turistik korxona faoliyatini samarali boshqarish uchun resurslar, natijalar va ularning o‘zgarish sabablarini muntazam iqtisodiy tahlil qilish zarur.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406908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E1EA"/>
                </a:solidFill>
              </a:rPr>
              <a:t>Tahlil → tushunish → qaror → nazorat → takomillashtirish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4864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Rahmat!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Turistik korxonalar moliyaviy-xo‘jalik faoliyati tahlili fanining nazariy masalalari</dc:title>
  <dc:subject>Turistik korxonalar faoliyati tahlili</dc:subject>
  <dc:creator>OpenAI</dc:creator>
  <cp:lastModifiedBy>OpenAI</cp:lastModifiedBy>
  <cp:revision>1</cp:revision>
  <dcterms:created xsi:type="dcterms:W3CDTF">2026-09-14T17:27:58Z</dcterms:created>
  <dcterms:modified xsi:type="dcterms:W3CDTF">2026-09-14T17:27:58Z</dcterms:modified>
</cp:coreProperties>
</file>