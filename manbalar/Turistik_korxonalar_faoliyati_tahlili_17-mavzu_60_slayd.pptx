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106984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A7AD"/>
                </a:solidFill>
              </a:defRPr>
            </a:pPr>
            <a:r>
              <a:t>17-MAVZU</a:t>
            </a:r>
          </a:p>
          <a:p>
            <a:pPr>
              <a:spcBef>
                <a:spcPts val="800"/>
              </a:spcBef>
              <a:defRPr sz="3100" b="1">
                <a:solidFill>
                  <a:srgbClr val="FFFFFF"/>
                </a:solidFill>
              </a:defRPr>
            </a:pPr>
            <a:r>
              <a:t>Turistik korxonalarning xarajatlarini ifodalovchi ko‘rsatkichlar: XVII bobdagi moliyaviy salohiyat va chetdan jalb qilingan mablag‘lar tahlili</a:t>
            </a:r>
          </a:p>
          <a:p>
            <a:pPr>
              <a:spcBef>
                <a:spcPts val="1600"/>
              </a:spcBef>
              <a:defRPr sz="1600">
                <a:solidFill>
                  <a:srgbClr val="DBE8EA"/>
                </a:solidFill>
              </a:defRPr>
            </a:pPr>
            <a:r>
              <a:t>A.N. Xoliqulov, “Turistik korxonalar faoliyati tahlili”, XVII bob, 276–286-betlar asosida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Mavzuning maqsadi va o‘quv natijalari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Kirish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Maqsad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Chetdan jalb qilingan mablag‘lar bilan bog‘liq moliyaviy salohiyat ko‘rsatkichlarini o‘rganish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Ularning tarkibiy va nisbiy koeffitsiyentlarini hisoblash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17.1–17.2-jadvallar asosida amaliy xulosa chiqarish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O‘quv natijalari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Qisqa va uzoq muddatli jalb qilingan mablag‘larni ajrata oladi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Asosiy koeffitsiyentlarni formula asosida hisoblaydi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Moliyaviy qaramlik va aylanma aktivlar moliyalashtirilishini tahlil qiladi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Mavzu rejasi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Kirish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60">
                <a:solidFill>
                  <a:srgbClr val="25313A"/>
                </a:solidFill>
              </a:defRPr>
            </a:pPr>
            <a:r>
              <a:t>17.1. Moliyaviy salohiyat holatining chetdan jalb qilingan mablag‘lar bilan bog‘liq ko‘rsatkichlari</a:t>
            </a:r>
          </a:p>
          <a:p>
            <a:pPr>
              <a:spcAft>
                <a:spcPts val="600"/>
              </a:spcAft>
              <a:defRPr sz="1760">
                <a:solidFill>
                  <a:srgbClr val="25313A"/>
                </a:solidFill>
              </a:defRPr>
            </a:pPr>
            <a:r>
              <a:t>17.2. Chetdan jalb qilingan mablag‘lar bilan bog‘liq ko‘rsatkichlarni aniqlash va tahlil qilish usullari</a:t>
            </a:r>
          </a:p>
          <a:p>
            <a:pPr>
              <a:spcAft>
                <a:spcPts val="600"/>
              </a:spcAft>
              <a:defRPr sz="1760">
                <a:solidFill>
                  <a:srgbClr val="25313A"/>
                </a:solidFill>
              </a:defRPr>
            </a:pPr>
            <a:r>
              <a:t>Qisqa va uzoq muddatli majburiyatlar koeffitsiyentlari</a:t>
            </a:r>
          </a:p>
          <a:p>
            <a:pPr>
              <a:spcAft>
                <a:spcPts val="600"/>
              </a:spcAft>
              <a:defRPr sz="1760">
                <a:solidFill>
                  <a:srgbClr val="25313A"/>
                </a:solidFill>
              </a:defRPr>
            </a:pPr>
            <a:r>
              <a:t>17.1-jadval: ko‘rsatkichlar tizimi va hisoblash yo‘llari</a:t>
            </a:r>
          </a:p>
          <a:p>
            <a:pPr>
              <a:spcAft>
                <a:spcPts val="600"/>
              </a:spcAft>
              <a:defRPr sz="1760">
                <a:solidFill>
                  <a:srgbClr val="25313A"/>
                </a:solidFill>
              </a:defRPr>
            </a:pPr>
            <a:r>
              <a:t>17.2-jadval: amaliy hisob-kitob va tahlil</a:t>
            </a:r>
          </a:p>
          <a:p>
            <a:pPr>
              <a:spcAft>
                <a:spcPts val="600"/>
              </a:spcAft>
              <a:defRPr sz="1760">
                <a:solidFill>
                  <a:srgbClr val="25313A"/>
                </a:solidFill>
              </a:defRPr>
            </a:pPr>
            <a:r>
              <a:t>Kreditorlik majburiyatlarini tashkil topish muddati bo‘yicha tahlil qilish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Muhim metodik izoh: XVII bobdagi tahririy nomuvofiqlik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Kirish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C39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Bob sarlavhasi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“Turistik korxonalarning xarajatlarini ifodalovchi ko‘rsatkichlar...” deb nomlangan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Mundarijada ham XVII bob xarajatlar mavzusi sifatida berilgan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17.1–17.2 mazmuni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Amalda chetdan jalb qilingan mablag‘lar va moliyaviy salohiyat tahliliga bag‘ishlangan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Mazmun IX bobdagi majburiyatlar mavzusi bilan juda yaqin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Taqdimot kitobdagi real XVII bob matnini buzmasdan aks ettiradi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Chetdan jalb qilingan mablag‘lar nega kerak?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17.1. Moliyaviy salohiyat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Turistik korxonaning o‘z mablag‘lari barcha faoliyat ehtiyojlarini qoplash uchun har doim yetarli bo‘lmasligi mumkin.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Shu sababli kredit, qarz, kreditorlik va boshqa tashqi manbalar jalb qilinadi.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Biroq qarz mablag‘larining ortib ketishi moliyaviy qaramlik va to‘lov xavfini kuchaytiradi.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Umumiy to‘planish koeffitsiyenti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17.1. Moliyaviy salohiyat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22A42"/>
                </a:solidFill>
              </a:defRPr>
            </a:pPr>
            <a:r>
              <a:t>Kchjm = Jami chetdan jalb qilingan mablag‘ / Balans jami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94760"/>
            <a:ext cx="10241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Formula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Ko‘rsatkich barcha xo‘jalik mablag‘larining qanchasi tashqi manbalardan shakllanganini ifodalaydi.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Umumiy to‘planish koeffitsiyentini talqin qilish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17.1. Moliyaviy salohiyat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Misol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0,35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Kitobdagi shartli misol.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Tashqi manbalar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35%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Balans jami mablag‘larning 35 foizi qarz manbalari.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O‘z manbalari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65%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Qolgan 65 foiz o‘z mablag‘lari hisobidan.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Tendensiya qanday bo‘lishi kerak?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17.1. Moliyaviy salohiyat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3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Kamayish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Umumiy qarz qaramligi pasayadi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Xususiy kapital ulushi oshadi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Foiz va qarzni qaytarish bosimi kamayishi mumkin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B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Ortiqcha o‘sish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Tashqi mablag‘larga qaramlik kuchayadi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Moliyaviy xavf oshadi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Likvidlik va to‘lov qobiliyatiga bosim ortadi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Qisqa muddatli mablag‘lar to‘planish koeffitsiyenti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17.2. Ko‘rsatkichlar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22A42"/>
                </a:solidFill>
              </a:defRPr>
            </a:pPr>
            <a:r>
              <a:t>Kq = Qisqa muddatli jalb qilingan mablag‘ / Balans jami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94760"/>
            <a:ext cx="10241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Formula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Qisqa muddatli tashqi moliyalashtirishning barcha mablag‘lardagi ulushini ifodalaydi.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Kitobdagi shartli misol: 0,25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17.2. Ko‘rsatkichlar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53035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5084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Koeffitsiyent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50840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0,25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51572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Balans jami mablag‘larning 25 foizi qisqa muddatli tashqi manbalardan shakllangan.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783080"/>
            <a:ext cx="53035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216" y="1993392"/>
            <a:ext cx="5084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Qisqa muddatli ulush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216" y="2670048"/>
            <a:ext cx="50840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160520"/>
            <a:ext cx="51572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Qisqa muddatli qarzlar qaytarish muddati yaqin bo‘lgani uchun alohida nazorat qilinadi.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Qisqa muddatli mablag‘larning aylanma aktivlardagi hissasi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17.2. Ko‘rsatkichlar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22A42"/>
                </a:solidFill>
              </a:defRPr>
            </a:pPr>
            <a:r>
              <a:t>Koba = Qisqa muddatli jalb qilingan mablag‘ / Aylanma aktivlar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94760"/>
            <a:ext cx="10241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Formula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Aylanma aktivlarning qanchasi qisqa muddatli qarz manbalari hisobidan moliyalashtirilganini ko‘rsatadi.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0,456 koeffitsiyent nimani anglatadi?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17.2. Ko‘rsatkichlar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53035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5084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Qarz manbalari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50840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45,6%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51572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Kitobdagi shartli misol bo‘yicha aylanma aktivlarning 45,6 foizi qisqa muddatli jalb qilingan mablag‘lar hisobidan.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783080"/>
            <a:ext cx="53035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216" y="1993392"/>
            <a:ext cx="5084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O‘z manbalari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216" y="2670048"/>
            <a:ext cx="50840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54,4%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160520"/>
            <a:ext cx="51572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Qolgan qismi o‘z mablag‘lari bilan qoplangan.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Uzoq muddatli mablag‘lar to‘planish koeffitsiyenti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17.2. Ko‘rsatkichlar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22A42"/>
                </a:solidFill>
              </a:defRPr>
            </a:pPr>
            <a:r>
              <a:t>Kump = Uzoq muddatli jalb qilingan mablag‘ / Balans jami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94760"/>
            <a:ext cx="10241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Formula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Jami moliyaviy salohiyat tarkibida uzoq muddatli tashqi manbalarning ulushini ko‘rsatadi.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Uzoq muddatli qarzlarning iqtisodiy afzalligi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17.2. Ko‘rsatkichlar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Kitobda uzoq muddatli passivlar qisqa muddatli qarzlarga nisbatan korxona uchun qulayroq deb baholanadi.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Sababi: ularni qaytarish muddati uzoq va qisqa muddatli likvidlikka bosimi nisbatan past.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Shartli 0,15 koeffitsiyent jami mablag‘larning 15 foizi uzoq muddatli tashqi manba ekanini anglatadi.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Uzoq muddatli mablag‘larning uzoq muddatli aktivlardagi hissasi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17.2. Ko‘rsatkichlar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22A42"/>
                </a:solidFill>
              </a:defRPr>
            </a:pPr>
            <a:r>
              <a:t>Kuav = Uzoq muddatli jalb qilingan mablag‘ / Uzoq muddatli aktivlar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94760"/>
            <a:ext cx="10241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Formula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Uzoq muddatli aktivlarning qanchasi uzoq muddatli qarz manbalari hisobidan moliyalashtirilganini ko‘rsatadi.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0,70 koeffitsiyent talqini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17.2. Ko‘rsatkichlar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53035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5084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Uzoq muddatli qarz ulushi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50840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51572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Asosiy vosita va boshqa uzoq muddatli aktivlar qiymatining 70 foizi tashqi uzoq muddatli manbalardan qoplangan.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783080"/>
            <a:ext cx="53035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216" y="1993392"/>
            <a:ext cx="5084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Boshqa manbalar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216" y="2670048"/>
            <a:ext cx="50840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160520"/>
            <a:ext cx="51572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Qolgan 30 foizi boshqa manbalar hissasiga to‘g‘ri keladi.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Uzoq muddatli mablag‘larning tarkibiy koeffitsiyenti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17.2. Ko‘rsatkichlar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22A42"/>
                </a:solidFill>
              </a:defRPr>
            </a:pPr>
            <a:r>
              <a:t>Kuz = Uzoq muddatli jalb qilingan mablag‘ / Jami jalb qilingan mablag‘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94760"/>
            <a:ext cx="10241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Formula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Barcha tashqi moliyalashtirish ichida uzoq muddatli manbalar ulushini ifodalaydi.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Qisqa muddatli mablag‘larning tarkibiy koeffitsiyenti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17.2. Ko‘rsatkichlar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22A42"/>
                </a:solidFill>
              </a:defRPr>
            </a:pPr>
            <a:r>
              <a:t>Kqz = Qisqa muddatli jalb qilingan mablag‘ / Jami jalb qilingan mablag‘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94760"/>
            <a:ext cx="10241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Formula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Barcha tashqi manbalar tarkibida qisqa muddatli qarzlarning ulushini ko‘rsatadi.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Kreditorlik qarzlarining tarkibiy koeffitsiyenti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17.2. Ko‘rsatkichlar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22A42"/>
                </a:solidFill>
              </a:defRPr>
            </a:pPr>
            <a:r>
              <a:t>Kkr = Kreditorlik qarzlari / Jami jalb qilingan mablag‘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94760"/>
            <a:ext cx="10241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Formula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Yetkazib beruvchilar, xodimlar, budjet va boshqa kreditorlar oldidagi qarzlarning tashqi mablag‘lardagi ulushini ifodalaydi.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Kitobdagi 0,225 misoli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17.2. Ko‘rsatkichlar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53035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5084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Kreditorlik ulushi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50840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22,5%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51572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Barcha jalb qilingan mablag‘larning 22,5 foizi kreditorlik qarzlaridan iborat.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783080"/>
            <a:ext cx="53035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216" y="1993392"/>
            <a:ext cx="5084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Boshqa tashqi manbalar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216" y="2670048"/>
            <a:ext cx="50840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77,5%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160520"/>
            <a:ext cx="51572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Qolgan qismi kredit, qarz va boshqa tashqi manbalarga to‘g‘ri keladi.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Jalb qilingan mablag‘larning uzoq muddatli aktivlardagi summasi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17.2. Ko‘rsatkichlar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22A42"/>
                </a:solidFill>
              </a:defRPr>
            </a:pPr>
            <a:r>
              <a:t>Chjkm.UA = Uzoq muddatli kreditlar + Uzoq muddatli kreditorlar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94760"/>
            <a:ext cx="10241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Kitobdagi yondashuv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Kitobda 400 va 410 qatorlardagi uzoq muddatli majburiyatlar to‘liq uzoq muddatli aktivlarga jalb qilingan deb faraz qilinadi.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Jalb qilingan mablag‘larning aylanma aktivlardagi summasi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17.2. Ko‘rsatkichlar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22A42"/>
                </a:solidFill>
              </a:defRPr>
            </a:pPr>
            <a:r>
              <a:t>Chjkm.AA = Jami majburiyatlar − Uzoq muddatli jalb qilingan mablag‘lar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94760"/>
            <a:ext cx="10241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Formula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Jami tashqi mablag‘lardan uzoq muddatli qismi ayrilib, aylanma aktivlarda ishtirok etayotgan summa aniqlanadi.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Muddati o‘tgan kreditorlik bo‘lsa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17.2. Ko‘rsatkichlar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Kitobda aylanma aktivlarda real ishtirok etayotgan tashqi mablag‘lar summasi muddati o‘tgan kreditorlik qarziga kamaytirilishi tavsiya qilinadi.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Bu yondashuv aylanma aktivlarni haqiqiy moliyalashtirish manbalarini aniqroq baholashga xizmat qiladi.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Aylanma aktivlardagi tashqi mablag‘lar ulushi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17.2. Ko‘rsatkichlar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22A42"/>
                </a:solidFill>
              </a:defRPr>
            </a:pPr>
            <a:r>
              <a:t>Kchjm.AA = Aylanma aktivlarda ishtirok etayotgan tashqi mablag‘ / Aylanma aktivlar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94760"/>
            <a:ext cx="10241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Formula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Aylanma aktivlarning tashqi manbalarga qaramlik darajasini ifodalaydi.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0,655 koeffitsiyent nimani anglatadi?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17.2. Ko‘rsatkichlar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53035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5084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Tashqi manbalar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50840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65,5%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51572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Aylanma aktivlarning 65,5 foizi jalb qilingan mablag‘lar hisobidan shakllangan.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783080"/>
            <a:ext cx="53035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216" y="1993392"/>
            <a:ext cx="5084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O‘z va boshqa manbalar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216" y="2670048"/>
            <a:ext cx="50840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34,5%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160520"/>
            <a:ext cx="51572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Bunday yuqori ulush moliyaviy qaramlikka alohida e’tibor talab qiladi.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17.1-jadval: ko‘rsatkichlar tizimining mantiqi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17.1-jadval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Mutlaq ko‘rsatkichlar: tashqi mablag‘lar summasi, uzoq va qisqa muddatli qarzlar, kreditorlik, aktivlar.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Nisbiy ko‘rsatkichlar: to‘planish, tarkibiy va qoplash koeffitsiyentlari.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Tahlilda koeffitsiyentlarni bir davr bilan cheklamasdan, bir necha davr bo‘yicha taqqoslash tavsiya qilinadi.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O‘rtacha yillik jalb qilingan mablag‘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17.1-jadval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22A42"/>
                </a:solidFill>
              </a:defRPr>
            </a:pPr>
            <a:r>
              <a:t>O‘rtacha Chjm = (Yil boshidagi Chjm + Yil oxiridagi Chjm) /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94760"/>
            <a:ext cx="10241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Formula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Davr davomida jalb qilingan mablag‘larning o‘rtacha hajmini baholashda ishlatiladi.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17.1-jadval: 11 ta asosiy indikator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17.1-jadval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28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325880"/>
          <a:ext cx="1033272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/>
                <a:gridCol w="516636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070" b="1">
                          <a:solidFill>
                            <a:srgbClr val="FFFFFF"/>
                          </a:solidFill>
                        </a:defRPr>
                      </a:pPr>
                      <a:r>
                        <a:t>№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1">
                          <a:solidFill>
                            <a:srgbClr val="FFFFFF"/>
                          </a:solidFill>
                        </a:defRPr>
                      </a:pPr>
                      <a:r>
                        <a:t>Ko‘rsatkich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Chetdan jalb qilingan mablag‘larning o‘rtacha yillik qiymati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Umumiy to‘planish koeffitsiyenti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Qisqa muddatli to‘planish koeffitsiyenti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Qisqa muddatli mablag‘larning aylanma aktivlardagi hissasi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Uzoq muddatli to‘planish koeffitsiyenti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Uzoq muddatli mablag‘larning uzoq muddatli aktivlardagi hissasi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7–9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Tarkibiy koeffitsiyentlar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10–11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Aylanma aktivlarda ishtirok etuvchi tashqi mablag‘lar summasi va ulushi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17.2-jadval: mutlaq ko‘rsatkichlar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17.2-jadval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29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34440"/>
          <a:ext cx="1147572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5144"/>
                <a:gridCol w="2295144"/>
                <a:gridCol w="2295144"/>
                <a:gridCol w="2295144"/>
                <a:gridCol w="2295144"/>
              </a:tblGrid>
              <a:tr h="622935">
                <a:tc>
                  <a:txBody>
                    <a:bodyPr/>
                    <a:lstStyle/>
                    <a:p>
                      <a:pPr algn="ctr">
                        <a:defRPr sz="969" b="1">
                          <a:solidFill>
                            <a:srgbClr val="FFFFFF"/>
                          </a:solidFill>
                        </a:defRPr>
                      </a:pPr>
                      <a:r>
                        <a:t>Ko‘rsatkich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1">
                          <a:solidFill>
                            <a:srgbClr val="FFFFFF"/>
                          </a:solidFill>
                        </a:defRPr>
                      </a:pPr>
                      <a:r>
                        <a:t>Yil boshida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1">
                          <a:solidFill>
                            <a:srgbClr val="FFFFFF"/>
                          </a:solidFill>
                        </a:defRPr>
                      </a:pPr>
                      <a:r>
                        <a:t>Yil oxirida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1">
                          <a:solidFill>
                            <a:srgbClr val="FFFFFF"/>
                          </a:solidFill>
                        </a:defRPr>
                      </a:pPr>
                      <a:r>
                        <a:t>Farq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1">
                          <a:solidFill>
                            <a:srgbClr val="FFFFFF"/>
                          </a:solidFill>
                        </a:defRPr>
                      </a:pPr>
                      <a:r>
                        <a:t>O‘sish %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25313A"/>
                          </a:solidFill>
                        </a:defRPr>
                      </a:pPr>
                      <a:r>
                        <a:t>Balans jami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25313A"/>
                          </a:solidFill>
                        </a:defRPr>
                      </a:pPr>
                      <a:r>
                        <a:t>9 345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25313A"/>
                          </a:solidFill>
                        </a:defRPr>
                      </a:pPr>
                      <a:r>
                        <a:t>9 700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25313A"/>
                          </a:solidFill>
                        </a:defRPr>
                      </a:pPr>
                      <a:r>
                        <a:t>+355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25313A"/>
                          </a:solidFill>
                        </a:defRPr>
                      </a:pPr>
                      <a:r>
                        <a:t>103,8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25313A"/>
                          </a:solidFill>
                        </a:defRPr>
                      </a:pPr>
                      <a:r>
                        <a:t>Uzoq muddatli passivlar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25313A"/>
                          </a:solidFill>
                        </a:defRPr>
                      </a:pPr>
                      <a:r>
                        <a:t>2 700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25313A"/>
                          </a:solidFill>
                        </a:defRPr>
                      </a:pPr>
                      <a:r>
                        <a:t>2 700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25313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25313A"/>
                          </a:solidFill>
                        </a:defRPr>
                      </a:pPr>
                      <a:r>
                        <a:t>100,0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25313A"/>
                          </a:solidFill>
                        </a:defRPr>
                      </a:pPr>
                      <a:r>
                        <a:t>Qisqa muddatli jalb qilingan mablag‘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25313A"/>
                          </a:solidFill>
                        </a:defRPr>
                      </a:pPr>
                      <a:r>
                        <a:t>1 000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25313A"/>
                          </a:solidFill>
                        </a:defRPr>
                      </a:pPr>
                      <a:r>
                        <a:t>850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25313A"/>
                          </a:solidFill>
                        </a:defRPr>
                      </a:pPr>
                      <a:r>
                        <a:t>−150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25313A"/>
                          </a:solidFill>
                        </a:defRPr>
                      </a:pPr>
                      <a:r>
                        <a:t>85,0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25313A"/>
                          </a:solidFill>
                        </a:defRPr>
                      </a:pPr>
                      <a:r>
                        <a:t>Kreditorlar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25313A"/>
                          </a:solidFill>
                        </a:defRPr>
                      </a:pPr>
                      <a:r>
                        <a:t>1 530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25313A"/>
                          </a:solidFill>
                        </a:defRPr>
                      </a:pPr>
                      <a:r>
                        <a:t>1 650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25313A"/>
                          </a:solidFill>
                        </a:defRPr>
                      </a:pPr>
                      <a:r>
                        <a:t>+120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25313A"/>
                          </a:solidFill>
                        </a:defRPr>
                      </a:pPr>
                      <a:r>
                        <a:t>107,8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25313A"/>
                          </a:solidFill>
                        </a:defRPr>
                      </a:pPr>
                      <a:r>
                        <a:t>Jami majburiyatlar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25313A"/>
                          </a:solidFill>
                        </a:defRPr>
                      </a:pPr>
                      <a:r>
                        <a:t>5 230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25313A"/>
                          </a:solidFill>
                        </a:defRPr>
                      </a:pPr>
                      <a:r>
                        <a:t>5 200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25313A"/>
                          </a:solidFill>
                        </a:defRPr>
                      </a:pPr>
                      <a:r>
                        <a:t>−30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25313A"/>
                          </a:solidFill>
                        </a:defRPr>
                      </a:pPr>
                      <a:r>
                        <a:t>99,4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25313A"/>
                          </a:solidFill>
                        </a:defRPr>
                      </a:pPr>
                      <a:r>
                        <a:t>Uzoq muddatli aktivlar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25313A"/>
                          </a:solidFill>
                        </a:defRPr>
                      </a:pPr>
                      <a:r>
                        <a:t>3 685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25313A"/>
                          </a:solidFill>
                        </a:defRPr>
                      </a:pPr>
                      <a:r>
                        <a:t>3 700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25313A"/>
                          </a:solidFill>
                        </a:defRPr>
                      </a:pPr>
                      <a:r>
                        <a:t>+15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25313A"/>
                          </a:solidFill>
                        </a:defRPr>
                      </a:pPr>
                      <a:r>
                        <a:t>100,4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25313A"/>
                          </a:solidFill>
                        </a:defRPr>
                      </a:pPr>
                      <a:r>
                        <a:t>Aylanma aktivlar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25313A"/>
                          </a:solidFill>
                        </a:defRPr>
                      </a:pPr>
                      <a:r>
                        <a:t>5 660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25313A"/>
                          </a:solidFill>
                        </a:defRPr>
                      </a:pPr>
                      <a:r>
                        <a:t>6 000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25313A"/>
                          </a:solidFill>
                        </a:defRPr>
                      </a:pPr>
                      <a:r>
                        <a:t>+340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69" b="0">
                          <a:solidFill>
                            <a:srgbClr val="25313A"/>
                          </a:solidFill>
                        </a:defRPr>
                      </a:pPr>
                      <a:r>
                        <a:t>106,0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17.2-jadval: nisbiy ko‘rsatkichlar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17.2-jadval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30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52144"/>
          <a:ext cx="1147572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8930"/>
                <a:gridCol w="2868930"/>
                <a:gridCol w="2868930"/>
                <a:gridCol w="2868930"/>
              </a:tblGrid>
              <a:tr h="521208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Ko‘rsatkich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Yil boshida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Yil oxirida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Farq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5313A"/>
                          </a:solidFill>
                        </a:defRPr>
                      </a:pPr>
                      <a:r>
                        <a:t>Umumiy to‘planish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5313A"/>
                          </a:solidFill>
                        </a:defRPr>
                      </a:pPr>
                      <a:r>
                        <a:t>0,560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5313A"/>
                          </a:solidFill>
                        </a:defRPr>
                      </a:pPr>
                      <a:r>
                        <a:t>0,536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5313A"/>
                          </a:solidFill>
                        </a:defRPr>
                      </a:pPr>
                      <a:r>
                        <a:t>−0,024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5313A"/>
                          </a:solidFill>
                        </a:defRPr>
                      </a:pPr>
                      <a:r>
                        <a:t>Qisqa muddatli to‘planish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5313A"/>
                          </a:solidFill>
                        </a:defRPr>
                      </a:pPr>
                      <a:r>
                        <a:t>0,107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5313A"/>
                          </a:solidFill>
                        </a:defRPr>
                      </a:pPr>
                      <a:r>
                        <a:t>0,088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5313A"/>
                          </a:solidFill>
                        </a:defRPr>
                      </a:pPr>
                      <a:r>
                        <a:t>−0,019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5313A"/>
                          </a:solidFill>
                        </a:defRPr>
                      </a:pPr>
                      <a:r>
                        <a:t>Uzoq muddatli to‘planish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5313A"/>
                          </a:solidFill>
                        </a:defRPr>
                      </a:pPr>
                      <a:r>
                        <a:t>0,289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5313A"/>
                          </a:solidFill>
                        </a:defRPr>
                      </a:pPr>
                      <a:r>
                        <a:t>0,278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5313A"/>
                          </a:solidFill>
                        </a:defRPr>
                      </a:pPr>
                      <a:r>
                        <a:t>−0,011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5313A"/>
                          </a:solidFill>
                        </a:defRPr>
                      </a:pPr>
                      <a:r>
                        <a:t>Qisqa muddatli / aylanma aktivlar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5313A"/>
                          </a:solidFill>
                        </a:defRPr>
                      </a:pPr>
                      <a:r>
                        <a:t>0,177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5313A"/>
                          </a:solidFill>
                        </a:defRPr>
                      </a:pPr>
                      <a:r>
                        <a:t>0,142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5313A"/>
                          </a:solidFill>
                        </a:defRPr>
                      </a:pPr>
                      <a:r>
                        <a:t>−0,035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5313A"/>
                          </a:solidFill>
                        </a:defRPr>
                      </a:pPr>
                      <a:r>
                        <a:t>Uzoq muddatli / uzoq aktivlar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5313A"/>
                          </a:solidFill>
                        </a:defRPr>
                      </a:pPr>
                      <a:r>
                        <a:t>0,733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5313A"/>
                          </a:solidFill>
                        </a:defRPr>
                      </a:pPr>
                      <a:r>
                        <a:t>0,730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5313A"/>
                          </a:solidFill>
                        </a:defRPr>
                      </a:pPr>
                      <a:r>
                        <a:t>−0,003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5313A"/>
                          </a:solidFill>
                        </a:defRPr>
                      </a:pPr>
                      <a:r>
                        <a:t>Uzoq muddatli tarkibiy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5313A"/>
                          </a:solidFill>
                        </a:defRPr>
                      </a:pPr>
                      <a:r>
                        <a:t>0,516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5313A"/>
                          </a:solidFill>
                        </a:defRPr>
                      </a:pPr>
                      <a:r>
                        <a:t>0,519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5313A"/>
                          </a:solidFill>
                        </a:defRPr>
                      </a:pPr>
                      <a:r>
                        <a:t>+0,003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5313A"/>
                          </a:solidFill>
                        </a:defRPr>
                      </a:pPr>
                      <a:r>
                        <a:t>Qisqa muddatli tarkibiy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5313A"/>
                          </a:solidFill>
                        </a:defRPr>
                      </a:pPr>
                      <a:r>
                        <a:t>0,191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5313A"/>
                          </a:solidFill>
                        </a:defRPr>
                      </a:pPr>
                      <a:r>
                        <a:t>0,163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5313A"/>
                          </a:solidFill>
                        </a:defRPr>
                      </a:pPr>
                      <a:r>
                        <a:t>−0,028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5313A"/>
                          </a:solidFill>
                        </a:defRPr>
                      </a:pPr>
                      <a:r>
                        <a:t>Kreditorlik tarkibiy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5313A"/>
                          </a:solidFill>
                        </a:defRPr>
                      </a:pPr>
                      <a:r>
                        <a:t>0,293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5313A"/>
                          </a:solidFill>
                        </a:defRPr>
                      </a:pPr>
                      <a:r>
                        <a:t>0,317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5313A"/>
                          </a:solidFill>
                        </a:defRPr>
                      </a:pPr>
                      <a:r>
                        <a:t>+0,024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5313A"/>
                          </a:solidFill>
                        </a:defRPr>
                      </a:pPr>
                      <a:r>
                        <a:t>Aylanma aktivlardagi tashqi mablag‘ ulushi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5313A"/>
                          </a:solidFill>
                        </a:defRPr>
                      </a:pPr>
                      <a:r>
                        <a:t>0,447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5313A"/>
                          </a:solidFill>
                        </a:defRPr>
                      </a:pPr>
                      <a:r>
                        <a:t>0,417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0">
                          <a:solidFill>
                            <a:srgbClr val="25313A"/>
                          </a:solidFill>
                        </a:defRPr>
                      </a:pPr>
                      <a:r>
                        <a:t>−0,030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Balans jami 3,8% ga oshgan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17.2-jadval tahlili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Yil boshida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9 345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Balans jami.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Yil oxirida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9 700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Yil oxiridagi qiymat.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O‘sish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+3,8%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355 / 9 345 ×100 ≈ 3,8%.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Jami jalb qilingan mablag‘lar kamaygan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17.2-jadval tahlili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Yil boshida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5 230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Majburiyatlar.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Yil oxirida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5 200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Yil oxiri.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O‘zgarish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−30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0,6% ga kamaygan.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Uzoq muddatli passivlar o‘zgarmagan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17.2-jadval tahlili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Yil boshida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2 700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Uzoq muddatli tashqi manbalar.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Yil oxirida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2 700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O‘zgarish yo‘q.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O‘sish sur’ati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100,0%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Tarkibdagi ulushi boshqa omillar hisobiga biroz o‘zgargan.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Qisqa muddatli jalb qilingan mablag‘lar 15% kamaygan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17.2-jadval tahlili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Yil boshida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1 000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Qisqa muddatli tashqi manbalar.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Yil oxirida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850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Yil oxiri.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Kamayish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−15,0%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Likvidlikka bosimni kamaytiruvchi ijobiy signal.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Kreditorlik qarzlari 7,8% oshgan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17.2-jadval tahlili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35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Yil boshida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1 530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Kreditorlar.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Yil oxirida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1 650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Yil oxiri.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O‘sish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+7,8%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Tarkibiy koeffitsiyentning 29,3% dan 31,7% gacha oshishiga sabab bo‘lgan.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Aylanma aktivlar 6,0% oshgan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17.2-jadval tahlili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Yil boshida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5 660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Joriy faoliyatdagi aktivlar.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Yil oxirida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6 000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Hisobot davri oxiri.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O‘sish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+6,0%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Tashqi moliyalashtirish ulushi kamaygan bo‘lsa-da, aktivlar o‘sgan.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Umumiy to‘planish koeffitsiyenti yaxshilangan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17.2-jadval tahlili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Yil boshida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0,560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Jami aktivlarning 56,0 foizi tashqi manbalar.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Yil oxirida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0,536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Yil oxirida 53,6 foiz.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Farq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−0,024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Tashqi moliyaviy qaramlik kamaygan.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Qisqa muddatli to‘planish koeffitsiyenti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17.2-jadval tahlili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Yil boshida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0,107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Jami mablag‘larda qisqa muddatli manbalar ulushi.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Yil oxirida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0,088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8,8 foizgacha tushgan.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Kamayish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−0,019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Qisqa muddatli qarz bosimi kamaygan.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Uzoq muddatli to‘planish koeffitsiyenti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17.2-jadval tahlili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Yil boshida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0,289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Balans jamidagi uzoq muddatli manbalar ulushi.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Yil oxirida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0,278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Yil oxirida 27,8 foiz.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Farq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−0,011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Mutlaq summa o‘zgarmasa ham balans jami oshgani uchun ulush kamaygan.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Qisqa muddatli mablag‘larning aylanma aktivlardagi ulushi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17.2-jadval tahlili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Yil boshida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0,177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Aylanma aktivlarning 17,7 foizi.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Yil oxirida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0,142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Yil oxirida 14,2 foiz.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Kamayish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−0,035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Kitob bu kamayishni ijobiy holat sifatida baholaydi.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Uzoq muddatli mablag‘larning uzoq aktivlardagi ulushi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17.2-jadval tahlili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41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Yil boshida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0,733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Uzoq aktivlarning 73,3 foizi.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Yil oxirida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0,730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Yil oxirida 73,0 foiz.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Farq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−0,003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Deyarli barqaror daraja.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Uzoq muddatli tashqi manbalar tarkibiy ulushi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17.2-jadval tahlili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Yil boshida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51,6%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Jami tashqi mablag‘lar tarkibi.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Yil oxirida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51,9%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Yil oxiri.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Farq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+0,3 p.p.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Uzoq muddatli majburiyatlar ulushi biroz oshgan.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Qisqa muddatli tashqi manbalar tarkibiy ulushi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17.2-jadval tahlili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43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Yil boshida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19,1%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1000 / 5230 = 19,1%.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Yil oxirida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16,3%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850 / 5200 = 16,3%.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Farq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−2,8 p.p.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Qisqa muddatli manbalar ulushi kamaygan.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Kreditorlik qarzlari tarkibiy ulushi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17.2-jadval tahlili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44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Yil boshida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29,3%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Kreditorlikning jami tashqi mablag‘lardagi ulushi.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Yil oxirida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31,7%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Yil oxiri.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Farq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+2,4 p.p.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Tarkibda kreditorlikning vazni oshgan.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Aylanma aktivlardagi tashqi mablag‘lar summasi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17.2-jadval tahlili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Yil boshida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2 530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5230 − 2700.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Yil oxirida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2 500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5200 − 2700.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O‘zgarish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−30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1,2% ga kamaygan.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Aylanma aktivlardagi tashqi mablag‘lar ulushi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17.2-jadval tahlili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46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Yil boshida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0,447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2530 / 5660.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Yil oxirida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0,417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2500 / 6000.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Farq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−0,030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Tashqi manbalarga qaramlik 6,7% ga kamaygan.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Umumiy tendensiya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17.2-jadval tahlili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47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3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Ijobiy o‘zgarishlar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Jami jalb qilingan mablag‘ kamaygan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Qisqa muddatli qarzlar sezilarli kamaygan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Aylanma aktivlardagi tashqi mablag‘ ulushi pasaygan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Umumiy qarz qaramligi qisqargan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C39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E’tibor talab qiladigan jihatlar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Kreditorlik qarzlari ko‘paygan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Kreditorlikning tashqi mablag‘lardagi ulushi oshgan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Uzoq muddatli passivlar summasi o‘zgarmagan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Qarz tarkibi doimiy nazoratni talab qiladi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Kitobdagi arifmetik xato: 355 ming so‘m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Metodik tekshiruv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48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B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Kitob matnida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Balans jami 355 ming so‘mga yoki 0,8% ga oshgan deb yozilgan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To‘g‘ri hisob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9 700 − 9 345 = 355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355 / 9 345 ×100 ≈ 3,8%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17.2-jadvaldagi 103,8% o‘sish sur’ati to‘g‘ri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Kitobdagi nomuvofiqlik: 19,3% yoki 19,1%?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Metodik tekshiruv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49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22A42"/>
                </a:solidFill>
              </a:defRPr>
            </a:pPr>
            <a:r>
              <a:t>1 000 / 5 230 × 100 ≈ 19,1%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94760"/>
            <a:ext cx="102412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To‘g‘ri hisob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Kitob matnida 19,3% deb berilgan, ammo jadvaldagi 0,191 koeffitsiyent va arifmetik hisob 19,1% ni beradi.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Eng muhim tahririy ziddiyat: 0,553 → 0,583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Metodik tekshiruv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B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Matnda yozilgan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Aylanma aktivlardagi tashqi mablag‘ ulushi 0,553 dan 0,583 gacha oshgan deb aytiladi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Bu “ijobiy baholash qiyin” degan xulosaga olib keladi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3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17.2-jadval va keyingi matn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Asl hisob 0,447 → 0,417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Ulush 6,7% kamaygan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Keyingi paragraf aynan kamayishni ijobiy baholaydi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Demak, 0,553 → 0,583 ifodasi tahririy xato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17.1-jadvaldagi qator havolasi xatosi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Metodik tekshiruv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Qisqa muddatli jalb qilingan mablag‘larning tarkibiy koeffitsiyenti 3-qator / 5-qator bo‘lishi kerak.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Jadvalda ayrim joylarda “4q:5q” yozilgan, 4-qator esa kreditorlik qarzlariga tegishli.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0,191 koeffitsiyentning o‘zi 1 000 / 5 230 hisobiga mos keladi, ya’ni iqtisodiy mantiq saqlangan.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Turistik korxona rahbari uchun 5 ta boshqaruv savoli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Boshqaruv talqini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Tashqi mablag‘lar jami aktivlarning necha foizini tashkil etmoqda?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Qisqa muddatli qarzlarning ulushi kamayaptimi yoki oshyaptimi?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Aylanma aktivlar qanchalik tashqi mablag‘larga bog‘liq?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Kreditorlik qarzlari tarkibida qaysi majburiyatlar eng tez o‘smoqda?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Uzoq muddatli qarzlar uzoq muddatli aktivlarni moliyalashtirishga qanchalik mos kelmoqda?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Turizm biznesida qisqa muddatli qarz xavfi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Boshqaruv talqini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Mavsumiy tushumlar sababli qisqa muddatli majburiyatlar yuqori mavsumdan tashqari davrda bosim yaratishi mumkin.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Mehmonxona, transport, gid va bron xizmatlari bo‘yicha kreditorlik to‘lovlari vaqtida bajarilishi muhim.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Shu sababli qisqa muddatli qarzlarning aylanma aktivlardagi ulushi muntazam nazorat qilinadi.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Uzoq muddatli qarzlardan oqilona foydalanish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Boshqaruv talqini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Mehmonxona, transport vositasi, turistik infratuzilma va IT platformalar kabi uzoq muddatli aktivlarni uzoq muddatli manbalar bilan moliyalashtirish mantiqan mos.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Bu joriy likvidlikni qisqa muddatli qarzlar kabi keskin bosim ostiga qo‘ymaydi.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Biroq foiz xarajatlari va qarzning umumiy qiymati rentabellik bilan solishtirilishi kerak.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Mustaqil topshiriq: kreditorlikni muddat bo‘yicha tahlil qilish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Mustaqil 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55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34440"/>
          <a:ext cx="1147572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9388"/>
                <a:gridCol w="1639388"/>
                <a:gridCol w="1639388"/>
                <a:gridCol w="1639388"/>
                <a:gridCol w="1639388"/>
                <a:gridCol w="1639388"/>
                <a:gridCol w="1639392"/>
              </a:tblGrid>
              <a:tr h="711925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Kreditorlik turi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Jami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1 oygacha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1–2 oy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2–3 oy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3 oy–1 yil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1 yildan ortiq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  <a:r>
                        <a:t>Mol yetkazib beruvchilar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  <a:r>
                        <a:t>Olingan bo‘naklar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  <a:r>
                        <a:t>Soliq va majburiy to‘lovlar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  <a:r>
                        <a:t>Mehnatga haq to‘lash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711925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  <a:r>
                        <a:t>Boshqa kreditorlar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711930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  <a:r>
                        <a:t>Jami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Kreditorlikning “yoshi” nimani ko‘rsatadi?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Mustaqil 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56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3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Qisqa muddat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Hisob-kitob aylanishining tabiiy qismi bo‘lishi mumkin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To‘lov kalendari bilan boshqariladi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B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Uzoq muddat / muddati o‘tgan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To‘lov intizomi buzilishi xavfi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Yetkazib beruvchilar bilan munosabat yomonlashishi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Jarima, penya va moliyaviy obro‘ga zarar ehtimoli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Amaliy mini-keys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Mustahkamlash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Turistik firma balansi — 12 000 mln so‘m, jami majburiyatlar — 5 400 mln so‘m.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Qisqa muddatli qarzlar — 1 500 mln, uzoq muddatli majburiyatlar — 2 600 mln, kreditorlik — 1 300 mln.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Aylanma aktivlar — 6 800 mln, uzoq muddatli aktivlar — 5 200 mln.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Hisoblang: umumiy, qisqa va uzoq muddatli to‘planish koeffitsiyentlari; qisqa qarzlarning aylanma aktivlardagi ulushi; kreditorlik tarkibiy koeffitsiyenti.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9496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87A80"/>
                </a:solidFill>
              </a:defRPr>
            </a:pPr>
            <a:r>
              <a:t>Nazorat: 0,45; 0,125; 0,217; 0,221; 0,241.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Tayanch iboralar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Yakun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Moliyaviy salohiyat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Chetdan jalb qilingan mablag‘lar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Umumiy to‘planish koeffitsiyenti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Qisqa muddatli jalb qilingan mablag‘lar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Uzoq muddatli jalb qilingan mablag‘lar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Tarkibiy koeffitsiyent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Kreditorlik qarzi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Aylanma aktivlar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Moliyaviy qaramlik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Mavzu bo‘yicha savollar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Yakun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Korxonaning moliyaviy salohiyatini ifodalovchi ko‘rsatkichlar deganda nima tushuniladi?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Qisqa muddatli chetdan jalb qilingan mablag‘larning aylanma aktivlardagi hissasi qanday aniqlanadi?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Qisqa muddatli jalb qilingan mablag‘larning tarkibiy koeffitsiyenti qanday hisoblanadi?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Chetdan jalb qilingan mablag‘larning aylanma aktivlarda ishtirok etayotgan summasi qanday aniqlanadi?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Kreditorlik qarzlarining tarkibiy koeffitsiyenti nimani ko‘rsatadi?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17.2-jadval bo‘yicha qaysi tendensiyalar ijobiy deb baholanadi?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Yakuniy xulosa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Yakun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17-mavzu | 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30">
                <a:solidFill>
                  <a:srgbClr val="25313A"/>
                </a:solidFill>
              </a:defRPr>
            </a:pPr>
            <a:r>
              <a:t>XVII bob matni amalda turistik korxonaning chetdan jalb qilingan mablag‘lari va moliyaviy salohiyatini tahlil qilishga bag‘ishlangan.</a:t>
            </a:r>
          </a:p>
          <a:p>
            <a:pPr>
              <a:spcAft>
                <a:spcPts val="600"/>
              </a:spcAft>
              <a:defRPr sz="1730">
                <a:solidFill>
                  <a:srgbClr val="25313A"/>
                </a:solidFill>
              </a:defRPr>
            </a:pPr>
            <a:r>
              <a:t>Asosiy vazifa — jami, qisqa muddatli, uzoq muddatli va kreditorlik manbalarining hajmi hamda tarkibini baholash.</a:t>
            </a:r>
          </a:p>
          <a:p>
            <a:pPr>
              <a:spcAft>
                <a:spcPts val="600"/>
              </a:spcAft>
              <a:defRPr sz="1730">
                <a:solidFill>
                  <a:srgbClr val="25313A"/>
                </a:solidFill>
              </a:defRPr>
            </a:pPr>
            <a:r>
              <a:t>Kitobdagi misolda umumiy va qisqa muddatli qarz qaramligi kamaygan, biroq kreditorlik qarzlarining tarkibiy ulushi oshgan.</a:t>
            </a:r>
          </a:p>
          <a:p>
            <a:pPr>
              <a:spcAft>
                <a:spcPts val="600"/>
              </a:spcAft>
              <a:defRPr sz="1730">
                <a:solidFill>
                  <a:srgbClr val="25313A"/>
                </a:solidFill>
              </a:defRPr>
            </a:pPr>
            <a:r>
              <a:t>Tahlil koeffitsiyentlarni faqat hisoblash emas, ularning dinamikasi, moliyalashtirish muddati va aktivlar tarkibi bilan bog‘liq talqin qilishni talab etadi.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