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A.N. Xoliqulov • Turistik korxonalar faoliyati tahlili • IX bob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716768" y="64922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8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9-mavzu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600000">
            <a:off x="8366760" y="137160"/>
            <a:ext cx="3383280" cy="3383280"/>
          </a:xfrm>
          <a:prstGeom prst="arc">
            <a:avLst/>
          </a:prstGeom>
          <a:solidFill>
            <a:srgbClr val="DDE9F2">
              <a:alpha val="80000"/>
            </a:srgbClr>
          </a:solidFill>
          <a:ln w="12700">
            <a:solidFill>
              <a:srgbClr val="DDE9F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49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D0F1"/>
                </a:solidFill>
              </a:rPr>
              <a:t>9-MAVZU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332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Turistik korxonalarning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majburiyatlarini ifodalovchi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ko‘rsatkichlar va ularni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tahlil qilish yo‘llari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4389120" y="39776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57"/>
                </a:solidFill>
              </a:rPr>
              <a:t>IX bob • 9.1–9.2-paragraflar • 164–175-betlar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9120" y="449884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D6B78"/>
                </a:solidFill>
              </a:rPr>
              <a:t>Asosiy manba: A.N. Xoliqulov, “Turistik korxonalar faoliyati tahlili”, 2024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0" y="5321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8A8A"/>
                </a:solidFill>
              </a:rPr>
              <a:t>Dars taqdimoti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Mavzuning o‘quv maqsadlari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25880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3312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78992" y="1298448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Turistik korxona majburiyatlari va chetdan jalb qilingan mablag‘larning iqtisodiy mazmunini tushuntirish.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2075688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78992" y="2048256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Majburiyatlar bilan bog‘liq mutlaq va nisbiy ko‘rsatkichlarni hisoblashni o‘rgatish.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2825496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852928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78992" y="2798064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Ko‘rsatkichlar dinamikasi va tarkibiy o‘zgarishlari asosida moliyaviy salohiyatga baho berish.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3575304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602736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78992" y="3547872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Tahlil natijalaridan boshqaruv qarorlari ishlab chiqishda foydalanish.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 rejasi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25880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3312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78992" y="1298448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9.1. Moliyaviy salohiyat holatining chetdan jalb qilingan mablag‘lar bilan bog‘liq ko‘rsatkichlari.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2075688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78992" y="2048256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9.2. Chetdan jalb qilingan mablag‘lar bilan bog‘liq ko‘rsatkichlarni aniqlash va tahlil qilish usullari.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2825496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852928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78992" y="2798064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9.2-jadval asosida amaliy tahlil va boshqaruv xulosalari.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3575304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602736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78992" y="3547872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Amaldagi moliyaviy hisobot talablari bilan metodik bog‘lash.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Majburiyatlar: mavzuning markaziy tushunchasi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14400" y="1417320"/>
            <a:ext cx="1033272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B57"/>
                </a:solidFill>
              </a:rPr>
              <a:t>Majburiyatlar — korxonaning boshqa subyektlar oldidagi moliyaviy majburiyatlari bo‘lib, ularning bajarilishi kelgusida iqtisodiy resurslarning chiqib ketishini talab qiladi.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F1F5F8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132588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F2F7F5"/>
          </a:solidFill>
          <a:ln w="12700">
            <a:solidFill>
              <a:srgbClr val="CADF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7276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E78"/>
                </a:solidFill>
              </a:rPr>
              <a:t>Korxona uchun imkoniyat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46520" y="157276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8A8A"/>
                </a:solidFill>
              </a:rPr>
              <a:t>Korxona uchun xavf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2194560"/>
            <a:ext cx="146304" cy="146304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4884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Faoliyatni moliyalashtirish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146304" cy="146304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88036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Aylanmani kengaytirish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14400" y="3657600"/>
            <a:ext cx="146304" cy="146304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61188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Vaqtinchalik mablag‘ yetishmovchiligini qoplash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92240" y="2194560"/>
            <a:ext cx="146304" cy="146304"/>
          </a:xfrm>
          <a:prstGeom prst="ellipse">
            <a:avLst/>
          </a:prstGeom>
          <a:solidFill>
            <a:srgbClr val="168A8A"/>
          </a:solidFill>
          <a:ln w="12700">
            <a:solidFill>
              <a:srgbClr val="168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214884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Foiz va qaytarish majburiyati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92240" y="2926080"/>
            <a:ext cx="146304" cy="146304"/>
          </a:xfrm>
          <a:prstGeom prst="ellipse">
            <a:avLst/>
          </a:prstGeom>
          <a:solidFill>
            <a:srgbClr val="168A8A"/>
          </a:solidFill>
          <a:ln w="12700">
            <a:solidFill>
              <a:srgbClr val="16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288036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Likvidlik bosimi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492240" y="3657600"/>
            <a:ext cx="146304" cy="146304"/>
          </a:xfrm>
          <a:prstGeom prst="ellipse">
            <a:avLst/>
          </a:prstGeom>
          <a:solidFill>
            <a:srgbClr val="168A8A"/>
          </a:solidFill>
          <a:ln w="12700">
            <a:solidFill>
              <a:srgbClr val="168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8272" y="361188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Kreditorlik qaramligining oshishi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Nega turistik korxona chetdan mablag‘ jalb qiladi?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25880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3312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78992" y="1298448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Korxonaning o‘z mablag‘lari har doim ham faoliyat hajmini moliyalashtirish uchun yetarli bo‘lmaydi.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2075688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78992" y="2048256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Mavsumiylik turizmda aylanma mablag‘larga bo‘lgan ehtiyojni davrlar bo‘yicha keskin o‘zgartiradi.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2825496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852928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78992" y="2798064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Investitsion loyihalar, xizmatlar portfelini kengaytirish va infratuzilmani yangilash qo‘shimcha resurs talab qiladi.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3575304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602736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78992" y="3547872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Shuning uchun chetdan jalb qilingan mablag‘lar moliyaviy salohiyatning muhim tarkibiy qismiga aylanadi.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Moliyaviy salohiyat va moliyalashtirish manbalari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92024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3C8D64"/>
          </a:solidFill>
          <a:ln w="12700">
            <a:solidFill>
              <a:srgbClr val="3C8D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22219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O‘z mablag‘lari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60520" y="192024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0" y="22219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Chetdan jalb qilingan mablag‘lar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863840" y="192024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01000" y="22219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Korxona aktivlari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730752" y="2167128"/>
            <a:ext cx="365760" cy="502920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24928" y="2167128"/>
            <a:ext cx="365760" cy="502920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749040"/>
            <a:ext cx="98755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03040"/>
                </a:solidFill>
              </a:rPr>
              <a:t>Tahlil vazifasi: moliyalashtirish tarkibi korxonaning barqarorligi, likvidligi va mustaqilligiga qanday ta’sir qilayotganini aniqlash.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Chetdan jalb qilingan mablag‘larning asosiy tarkibi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132588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F1F5F8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72200" y="132588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F2F7F5"/>
          </a:solidFill>
          <a:ln w="12700">
            <a:solidFill>
              <a:srgbClr val="CADF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7276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E78"/>
                </a:solidFill>
              </a:rPr>
              <a:t>Uzoq muddatli majburiyatlar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46520" y="157276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822B"/>
                </a:solidFill>
              </a:rPr>
              <a:t>Qisqa muddatli majburiyatlar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146304" cy="146304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14884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Uzoq muddatli kreditlar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14400" y="2926080"/>
            <a:ext cx="146304" cy="146304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88036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Uzoq muddatli qarzlar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14400" y="3657600"/>
            <a:ext cx="146304" cy="146304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361188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Uzoq muddatli moliyaviy manbalar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92240" y="2194560"/>
            <a:ext cx="146304" cy="14630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214884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Qisqa muddatli kredit va qarzlar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492240" y="2926080"/>
            <a:ext cx="146304" cy="14630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48272" y="288036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Kreditorlik qarzlari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92240" y="3657600"/>
            <a:ext cx="146304" cy="14630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361188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Boshqa joriy majburiyatlar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Majburiyatlarni tahlil qilish mantiqi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1600200" cy="1024128"/>
          </a:xfrm>
          <a:prstGeom prst="roundRect">
            <a:avLst>
              <a:gd name="adj" fmla="val 5357"/>
            </a:avLst>
          </a:prstGeom>
          <a:solidFill>
            <a:srgbClr val="E8F0F6"/>
          </a:solidFill>
          <a:ln w="12700">
            <a:solidFill>
              <a:srgbClr val="B7CC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057400"/>
            <a:ext cx="384048" cy="384048"/>
          </a:xfrm>
          <a:prstGeom prst="rect">
            <a:avLst/>
          </a:prstGeom>
          <a:solidFill>
            <a:srgbClr val="1F4E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12140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3040"/>
                </a:solidFill>
              </a:rPr>
              <a:t>Miqdor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130552" y="2212848"/>
            <a:ext cx="228600" cy="365760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1920240"/>
            <a:ext cx="1600200" cy="1024128"/>
          </a:xfrm>
          <a:prstGeom prst="roundRect">
            <a:avLst>
              <a:gd name="adj" fmla="val 5357"/>
            </a:avLst>
          </a:prstGeom>
          <a:solidFill>
            <a:srgbClr val="E8F0F6"/>
          </a:solidFill>
          <a:ln w="12700">
            <a:solidFill>
              <a:srgbClr val="B7CC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2057400"/>
            <a:ext cx="384048" cy="384048"/>
          </a:xfrm>
          <a:prstGeom prst="rect">
            <a:avLst/>
          </a:prstGeom>
          <a:solidFill>
            <a:srgbClr val="1F4E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26080" y="212140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3040"/>
                </a:solidFill>
              </a:rPr>
              <a:t>Ulush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050792" y="2212848"/>
            <a:ext cx="228600" cy="365760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920240"/>
            <a:ext cx="1600200" cy="1024128"/>
          </a:xfrm>
          <a:prstGeom prst="roundRect">
            <a:avLst>
              <a:gd name="adj" fmla="val 5357"/>
            </a:avLst>
          </a:prstGeom>
          <a:solidFill>
            <a:srgbClr val="E8F0F6"/>
          </a:solidFill>
          <a:ln w="12700">
            <a:solidFill>
              <a:srgbClr val="B7CC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2057400"/>
            <a:ext cx="384048" cy="384048"/>
          </a:xfrm>
          <a:prstGeom prst="rect">
            <a:avLst/>
          </a:prstGeom>
          <a:solidFill>
            <a:srgbClr val="1F4E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212140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3040"/>
                </a:solidFill>
              </a:rPr>
              <a:t>Dinamika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71032" y="2212848"/>
            <a:ext cx="228600" cy="365760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920240"/>
            <a:ext cx="1600200" cy="1024128"/>
          </a:xfrm>
          <a:prstGeom prst="roundRect">
            <a:avLst>
              <a:gd name="adj" fmla="val 5357"/>
            </a:avLst>
          </a:prstGeom>
          <a:solidFill>
            <a:srgbClr val="EDF6F2"/>
          </a:solidFill>
          <a:ln w="12700">
            <a:solidFill>
              <a:srgbClr val="BEDC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057400"/>
            <a:ext cx="384048" cy="384048"/>
          </a:xfrm>
          <a:prstGeom prst="rect">
            <a:avLst/>
          </a:prstGeom>
          <a:solidFill>
            <a:srgbClr val="16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66560" y="212140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3040"/>
                </a:solidFill>
              </a:rPr>
              <a:t>Tarkib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891272" y="2212848"/>
            <a:ext cx="228600" cy="365760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1920240"/>
            <a:ext cx="1600200" cy="1024128"/>
          </a:xfrm>
          <a:prstGeom prst="roundRect">
            <a:avLst>
              <a:gd name="adj" fmla="val 5357"/>
            </a:avLst>
          </a:prstGeom>
          <a:solidFill>
            <a:srgbClr val="EDF6F2"/>
          </a:solidFill>
          <a:ln w="12700">
            <a:solidFill>
              <a:srgbClr val="BEDC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2057400"/>
            <a:ext cx="384048" cy="384048"/>
          </a:xfrm>
          <a:prstGeom prst="rect">
            <a:avLst/>
          </a:prstGeom>
          <a:solidFill>
            <a:srgbClr val="16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86800" y="212140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3040"/>
                </a:solidFill>
              </a:rPr>
              <a:t>Aktivlar bilan bog‘liqlik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811512" y="2212848"/>
            <a:ext cx="228600" cy="365760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04120" y="1920240"/>
            <a:ext cx="1600200" cy="1024128"/>
          </a:xfrm>
          <a:prstGeom prst="roundRect">
            <a:avLst>
              <a:gd name="adj" fmla="val 5357"/>
            </a:avLst>
          </a:prstGeom>
          <a:solidFill>
            <a:srgbClr val="EDF6F2"/>
          </a:solidFill>
          <a:ln w="12700">
            <a:solidFill>
              <a:srgbClr val="BEDC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95560" y="2057400"/>
            <a:ext cx="384048" cy="384048"/>
          </a:xfrm>
          <a:prstGeom prst="rect">
            <a:avLst/>
          </a:prstGeom>
          <a:solidFill>
            <a:srgbClr val="16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607040" y="212140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3040"/>
                </a:solidFill>
              </a:rPr>
              <a:t>Boshqaruv xulosasi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05840" y="3703320"/>
            <a:ext cx="101498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3B57"/>
                </a:solidFill>
              </a:rPr>
              <a:t>Xoliqulov metodikasida ko‘rsatkichlar alohida emas, bir-biri bilan bog‘liq va davrlar kesimida solishtirilgan holda talqin qilinadi.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9.1. Ko‘rsatkichlar tizimining umumiy mazmuni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25880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3312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78992" y="1298448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Umumiy to‘planish (konsentratsiya) koeffitsiyenti — chetdan jalb qilingan mablag‘larning umumiy mablag‘lardagi ulushi.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2075688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78992" y="2048256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Qisqa va uzoq muddatli majburiyatlarning alohida to‘planish koeffitsiyentlari.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2825496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852928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78992" y="2798064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Majburiyatlarning aktivlar tarkibidagi ishtirokini ko‘rsatuvchi koeffitsiyentlar.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3575304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602736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78992" y="3547872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Chetdan jalb qilingan mablag‘larning ichki tarkibini ifodalovchi koeffitsiyentlar.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Umumiy to‘planish koeffitsiyenti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EAF1F7"/>
          </a:solidFill>
          <a:ln w="15240">
            <a:solidFill>
              <a:srgbClr val="B7C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19072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Kchjm = Chjm / 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907792"/>
            <a:ext cx="10469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Chjm — barcha chetdan jalb qilingan mablag‘lar; B — balansning umumiy summasi.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143000" y="4370832"/>
            <a:ext cx="9921240" cy="868680"/>
          </a:xfrm>
          <a:prstGeom prst="roundRect">
            <a:avLst>
              <a:gd name="adj" fmla="val 5263"/>
            </a:avLst>
          </a:prstGeom>
          <a:solidFill>
            <a:srgbClr val="FFF4E5"/>
          </a:solidFill>
          <a:ln w="12700">
            <a:solidFill>
              <a:srgbClr val="E8C8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590288"/>
            <a:ext cx="9464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6F5425"/>
                </a:solidFill>
              </a:rPr>
              <a:t>Ko‘rsatkichning pasayishi, boshqa sharoitlar o‘zgarmaganda, moliyaviy qaramlikning kamayishini anglatadi.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Umumiy koeffitsiyentni talqin qilish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EAF1F7"/>
          </a:solidFill>
          <a:ln w="15240">
            <a:solidFill>
              <a:srgbClr val="B7C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19072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 ≤ Kchjm ≤ 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907792"/>
            <a:ext cx="10469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Koeffitsiyent qancha katta bo‘lsa, aktivlarning shuncha katta qismi tashqi moliyalashtirish manbalari hisobidan shakllangan bo‘ladi.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143000" y="4370832"/>
            <a:ext cx="9921240" cy="868680"/>
          </a:xfrm>
          <a:prstGeom prst="roundRect">
            <a:avLst>
              <a:gd name="adj" fmla="val 5263"/>
            </a:avLst>
          </a:prstGeom>
          <a:solidFill>
            <a:srgbClr val="FFF4E5"/>
          </a:solidFill>
          <a:ln w="12700">
            <a:solidFill>
              <a:srgbClr val="E8C8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590288"/>
            <a:ext cx="9464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6F5425"/>
                </a:solidFill>
              </a:rPr>
              <a:t>Tahlil faqat “kam — yaxshi” tamoyiliga emas, qarzning qiymati, muddati va rentabellik bilan bog‘liqligiga ham tayangan holda olib boriladi.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Qisqa muddatli mablag‘lar to‘planish koeffitsiyenti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EAF1F7"/>
          </a:solidFill>
          <a:ln w="15240">
            <a:solidFill>
              <a:srgbClr val="B7C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19072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Kqm = Qm / 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907792"/>
            <a:ext cx="10469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Qm — qisqa muddatli chetdan jalb qilingan mablag‘lar; B — balans jami.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143000" y="4370832"/>
            <a:ext cx="9921240" cy="868680"/>
          </a:xfrm>
          <a:prstGeom prst="roundRect">
            <a:avLst>
              <a:gd name="adj" fmla="val 5263"/>
            </a:avLst>
          </a:prstGeom>
          <a:solidFill>
            <a:srgbClr val="FFF4E5"/>
          </a:solidFill>
          <a:ln w="12700">
            <a:solidFill>
              <a:srgbClr val="E8C8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590288"/>
            <a:ext cx="9464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6F5425"/>
                </a:solidFill>
              </a:rPr>
              <a:t>Bu ko‘rsatkich qisqa muddatli moliyalashtirishning umumiy resurslardagi ulushini ko‘rsatadi.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Qisqa muddatli mablag‘larning aylanma aktivlardagi hissasi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EAF1F7"/>
          </a:solidFill>
          <a:ln w="15240">
            <a:solidFill>
              <a:srgbClr val="B7C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19072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Kqa = Qm / AA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907792"/>
            <a:ext cx="10469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AA — aylanma (joriy) aktivlar.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143000" y="4370832"/>
            <a:ext cx="9921240" cy="868680"/>
          </a:xfrm>
          <a:prstGeom prst="roundRect">
            <a:avLst>
              <a:gd name="adj" fmla="val 5263"/>
            </a:avLst>
          </a:prstGeom>
          <a:solidFill>
            <a:srgbClr val="FFF4E5"/>
          </a:solidFill>
          <a:ln w="12700">
            <a:solidFill>
              <a:srgbClr val="E8C8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590288"/>
            <a:ext cx="9464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6F5425"/>
                </a:solidFill>
              </a:rPr>
              <a:t>Qisqa muddatli majburiyatlarning aylanma aktivlarni moliyalashtirishdagi ishtirokini baholaydi.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Uzoq muddatli mablag‘lar to‘planish koeffitsiyenti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EAF1F7"/>
          </a:solidFill>
          <a:ln w="15240">
            <a:solidFill>
              <a:srgbClr val="B7C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19072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Kum = Um / 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907792"/>
            <a:ext cx="10469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Um — uzoq muddatli majburiyatlar; B — balans jami.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143000" y="4370832"/>
            <a:ext cx="9921240" cy="868680"/>
          </a:xfrm>
          <a:prstGeom prst="roundRect">
            <a:avLst>
              <a:gd name="adj" fmla="val 5263"/>
            </a:avLst>
          </a:prstGeom>
          <a:solidFill>
            <a:srgbClr val="FFF4E5"/>
          </a:solidFill>
          <a:ln w="12700">
            <a:solidFill>
              <a:srgbClr val="E8C8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590288"/>
            <a:ext cx="9464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6F5425"/>
                </a:solidFill>
              </a:rPr>
              <a:t>Uzoq muddatli tashqi manbalarning korxona resurslari tarkibidagi ulushi.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Uzoq muddatli mablag‘larning uzoq muddatli aktivlardagi hissasi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EAF1F7"/>
          </a:solidFill>
          <a:ln w="15240">
            <a:solidFill>
              <a:srgbClr val="B7C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19072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Kua = Um / UMA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907792"/>
            <a:ext cx="10469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UMA — uzoq muddatli aktivlar.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143000" y="4370832"/>
            <a:ext cx="9921240" cy="868680"/>
          </a:xfrm>
          <a:prstGeom prst="roundRect">
            <a:avLst>
              <a:gd name="adj" fmla="val 5263"/>
            </a:avLst>
          </a:prstGeom>
          <a:solidFill>
            <a:srgbClr val="FFF4E5"/>
          </a:solidFill>
          <a:ln w="12700">
            <a:solidFill>
              <a:srgbClr val="E8C8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590288"/>
            <a:ext cx="9464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6F5425"/>
                </a:solidFill>
              </a:rPr>
              <a:t>Uzoq muddatli aktivlarning qanchasi uzoq muddatli tashqi mablag‘lar bilan moliyalashtirilayotganini ifodalaydi.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Uzoq muddatli majburiyatlarning tarkibiy koeffitsiyenti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EAF1F7"/>
          </a:solidFill>
          <a:ln w="15240">
            <a:solidFill>
              <a:srgbClr val="B7C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19072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Kut = Um / Chjm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907792"/>
            <a:ext cx="10469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Barcha chetdan jalb qilingan mablag‘lar tarkibida uzoq muddatli majburiyatlarning ulushi.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143000" y="4370832"/>
            <a:ext cx="9921240" cy="868680"/>
          </a:xfrm>
          <a:prstGeom prst="roundRect">
            <a:avLst>
              <a:gd name="adj" fmla="val 5263"/>
            </a:avLst>
          </a:prstGeom>
          <a:solidFill>
            <a:srgbClr val="FFF4E5"/>
          </a:solidFill>
          <a:ln w="12700">
            <a:solidFill>
              <a:srgbClr val="E8C8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590288"/>
            <a:ext cx="9464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6F5425"/>
                </a:solidFill>
              </a:rPr>
              <a:t>Muddat strukturasini baholashda qarzlarni qaytarish bosimini tushunishga yordam beradi.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Qisqa muddatli majburiyatlarning tarkibiy koeffitsiyenti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EAF1F7"/>
          </a:solidFill>
          <a:ln w="15240">
            <a:solidFill>
              <a:srgbClr val="B7C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19072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Kqt = Qm / Chjm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907792"/>
            <a:ext cx="10469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Barcha tashqi moliyalashtirish tarkibida qisqa muddatli majburiyatlarning ulushi.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143000" y="4370832"/>
            <a:ext cx="9921240" cy="868680"/>
          </a:xfrm>
          <a:prstGeom prst="roundRect">
            <a:avLst>
              <a:gd name="adj" fmla="val 5263"/>
            </a:avLst>
          </a:prstGeom>
          <a:solidFill>
            <a:srgbClr val="FFF4E5"/>
          </a:solidFill>
          <a:ln w="12700">
            <a:solidFill>
              <a:srgbClr val="E8C8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590288"/>
            <a:ext cx="9464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6F5425"/>
                </a:solidFill>
              </a:rPr>
              <a:t>Xoliqulov jadvalidagi hisob-kitob bo‘yicha bu satr 3-qator / 5-qator nisbatiga mos keladi.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Kreditorlarning tarkibiy koeffitsiyenti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EAF1F7"/>
          </a:solidFill>
          <a:ln w="15240">
            <a:solidFill>
              <a:srgbClr val="B7C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19072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Kkr = Kr / Chjm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907792"/>
            <a:ext cx="10469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Kr — kreditorlar; Chjm — barcha chetdan jalb qilingan mablag‘lar.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143000" y="4370832"/>
            <a:ext cx="9921240" cy="868680"/>
          </a:xfrm>
          <a:prstGeom prst="roundRect">
            <a:avLst>
              <a:gd name="adj" fmla="val 5263"/>
            </a:avLst>
          </a:prstGeom>
          <a:solidFill>
            <a:srgbClr val="FFF4E5"/>
          </a:solidFill>
          <a:ln w="12700">
            <a:solidFill>
              <a:srgbClr val="E8C8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590288"/>
            <a:ext cx="9464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6F5425"/>
                </a:solidFill>
              </a:rPr>
              <a:t>Kreditorlik qarzlari ulushining oshishi to‘lov intizomi va likvidlik nuqtai nazaridan qo‘shimcha tahlil talab qiladi.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Aylanma aktivlarda ishtirok etayotgan tashqi mablag‘lar summasi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EAF1F7"/>
          </a:solidFill>
          <a:ln w="15240">
            <a:solidFill>
              <a:srgbClr val="B7C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19072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Chjm(AA) = Chjm − Um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907792"/>
            <a:ext cx="10469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Jami tashqi mablag‘lardan uzoq muddatli majburiyatlar chiqarib tashlanadi.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143000" y="4370832"/>
            <a:ext cx="9921240" cy="868680"/>
          </a:xfrm>
          <a:prstGeom prst="roundRect">
            <a:avLst>
              <a:gd name="adj" fmla="val 5263"/>
            </a:avLst>
          </a:prstGeom>
          <a:solidFill>
            <a:srgbClr val="FFF4E5"/>
          </a:solidFill>
          <a:ln w="12700">
            <a:solidFill>
              <a:srgbClr val="E8C8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590288"/>
            <a:ext cx="9464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6F5425"/>
                </a:solidFill>
              </a:rPr>
              <a:t>Kitobdagi amaliy misolda: 5230 − 2700 = 2530; 5200 − 2700 = 2500 ming so‘m.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Tashqi mablag‘larning aylanma aktivlardagi hissasi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EAF1F7"/>
          </a:solidFill>
          <a:ln w="15240">
            <a:solidFill>
              <a:srgbClr val="B7C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19072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Kchjm,AA = Chjm(AA) / AA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907792"/>
            <a:ext cx="104698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Tashqi manbalar hisobidan moliyalashtirilgan aylanma aktivlar ulushini ifodalaydi.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143000" y="4370832"/>
            <a:ext cx="9921240" cy="868680"/>
          </a:xfrm>
          <a:prstGeom prst="roundRect">
            <a:avLst>
              <a:gd name="adj" fmla="val 5263"/>
            </a:avLst>
          </a:prstGeom>
          <a:solidFill>
            <a:srgbClr val="FFF4E5"/>
          </a:solidFill>
          <a:ln w="12700">
            <a:solidFill>
              <a:srgbClr val="E8C8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590288"/>
            <a:ext cx="9464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6F5425"/>
                </a:solidFill>
              </a:rPr>
              <a:t>Ko‘rsatkichning pasayishi aylanma aktivlarda o‘z mablag‘lari ulushi oshayotganini ko‘rsatishi mumkin.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Ko‘rsatkichlar tizimi: bir butun diagnostika modeli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709160" y="23317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92040" y="2624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Moliyaviy salohiyat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2697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F4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99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4E78"/>
                </a:solidFill>
              </a:rPr>
              <a:t>Konsentratsiya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1828800" cy="1143000"/>
          </a:xfrm>
          <a:prstGeom prst="line">
            <a:avLst/>
          </a:prstGeom>
          <a:noFill/>
          <a:ln w="15240">
            <a:solidFill>
              <a:srgbClr val="AAB7C2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" y="4023360"/>
            <a:ext cx="2697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68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2793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8A8A"/>
                </a:solidFill>
              </a:rPr>
              <a:t>Muddat tarkibi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3383280" y="4434840"/>
            <a:ext cx="1828800" cy="-1737360"/>
          </a:xfrm>
          <a:prstGeom prst="line">
            <a:avLst/>
          </a:prstGeom>
          <a:noFill/>
          <a:ln w="15240">
            <a:solidFill>
              <a:srgbClr val="AAB7C2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869680" y="1143000"/>
            <a:ext cx="2697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0" y="1399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D9822B"/>
                </a:solidFill>
              </a:rPr>
              <a:t>Aktivlar bilan bog‘liqlik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52360" y="1554480"/>
            <a:ext cx="1417320" cy="1143000"/>
          </a:xfrm>
          <a:prstGeom prst="line">
            <a:avLst/>
          </a:prstGeom>
          <a:noFill/>
          <a:ln w="15240">
            <a:solidFill>
              <a:srgbClr val="AAB7C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823960" y="4023360"/>
            <a:ext cx="2697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C69A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42793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69A35"/>
                </a:solidFill>
              </a:rPr>
              <a:t>Kreditorlik tarkibi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52360" y="4434840"/>
            <a:ext cx="1417320" cy="-1737360"/>
          </a:xfrm>
          <a:prstGeom prst="line">
            <a:avLst/>
          </a:prstGeom>
          <a:noFill/>
          <a:ln w="15240">
            <a:solidFill>
              <a:srgbClr val="AAB7C2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Balans satr kodlari haqida metodik izoh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515600" cy="1188720"/>
          </a:xfrm>
          <a:prstGeom prst="roundRect">
            <a:avLst>
              <a:gd name="adj" fmla="val 6154"/>
            </a:avLst>
          </a:prstGeom>
          <a:solidFill>
            <a:srgbClr val="FFF5E6"/>
          </a:solidFill>
          <a:ln w="12700">
            <a:solidFill>
              <a:srgbClr val="E5C7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73736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6D542B"/>
                </a:solidFill>
              </a:rPr>
              <a:t>Kitobdagi 110, 300, 400–540, 550 kabi balans satr kodlari muallif foydalangan hisobot shakliga tegishli. Ular formulalar mantiqini tushuntirish uchun saqlanadi.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42416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B57"/>
                </a:solidFill>
              </a:rPr>
              <a:t>Amaliy hisob-kitobda korxona ayni paytda qo‘llayotgan amaldagi moliyaviy hisobot shaklidagi tegishli satrlar olinadi. Muhim jihat — iqtisodiy mazmun va nisbatning o‘zi.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Asosiy ko‘rsatkichlar: 1–5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298448"/>
            <a:ext cx="548640" cy="475488"/>
          </a:xfrm>
          <a:prstGeom prst="rect">
            <a:avLst/>
          </a:prstGeom>
          <a:solidFill>
            <a:srgbClr val="1F4E78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624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№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1051560" y="1298448"/>
            <a:ext cx="7223760" cy="475488"/>
          </a:xfrm>
          <a:prstGeom prst="rect">
            <a:avLst/>
          </a:prstGeom>
          <a:solidFill>
            <a:srgbClr val="1F4E78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36245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Ko‘rsatkich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8275320" y="1298448"/>
            <a:ext cx="3383280" cy="475488"/>
          </a:xfrm>
          <a:prstGeom prst="rect">
            <a:avLst/>
          </a:prstGeom>
          <a:solidFill>
            <a:srgbClr val="1F4E78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0" y="13624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Formula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1773936"/>
            <a:ext cx="54864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379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03040"/>
                </a:solidFill>
              </a:rPr>
              <a:t>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51560" y="1773936"/>
            <a:ext cx="722376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183794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03040"/>
                </a:solidFill>
              </a:rPr>
              <a:t>Umumiy to‘planish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75320" y="1773936"/>
            <a:ext cx="338328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8379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03040"/>
                </a:solidFill>
              </a:rPr>
              <a:t>Chjm / B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249424"/>
            <a:ext cx="54864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3134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03040"/>
                </a:solidFill>
              </a:rPr>
              <a:t>2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51560" y="2249424"/>
            <a:ext cx="722376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23134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03040"/>
                </a:solidFill>
              </a:rPr>
              <a:t>Qisqa muddatli to‘planish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75320" y="2249424"/>
            <a:ext cx="338328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3134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03040"/>
                </a:solidFill>
              </a:rPr>
              <a:t>Qm / B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2724912"/>
            <a:ext cx="54864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03040"/>
                </a:solidFill>
              </a:rPr>
              <a:t>3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51560" y="2724912"/>
            <a:ext cx="722376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2788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03040"/>
                </a:solidFill>
              </a:rPr>
              <a:t>Qisqa muddatli mablag‘larning AA dagi hissasi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75320" y="2724912"/>
            <a:ext cx="338328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2788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03040"/>
                </a:solidFill>
              </a:rPr>
              <a:t>Qm / AA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3200400"/>
            <a:ext cx="54864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264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03040"/>
                </a:solidFill>
              </a:rPr>
              <a:t>4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51560" y="3200400"/>
            <a:ext cx="722376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326440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03040"/>
                </a:solidFill>
              </a:rPr>
              <a:t>Uzoq muddatli to‘planish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275320" y="3200400"/>
            <a:ext cx="338328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32644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03040"/>
                </a:solidFill>
              </a:rPr>
              <a:t>Um / B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3675888"/>
            <a:ext cx="54864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739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03040"/>
                </a:solidFill>
              </a:rPr>
              <a:t>5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051560" y="3675888"/>
            <a:ext cx="722376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97280" y="373989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03040"/>
                </a:solidFill>
              </a:rPr>
              <a:t>Uzoq muddatli mablag‘larning UMA dagi hissasi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275320" y="3675888"/>
            <a:ext cx="338328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0" y="37398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03040"/>
                </a:solidFill>
              </a:rPr>
              <a:t>Um / UMA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E7781"/>
                </a:solidFill>
              </a:rPr>
              <a:t>Formulalar kitobdagi ko‘rsatkichlar tizimining ixchamlashtirilgan ifodasidir.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Asosiy ko‘rsatkichlar: 6–10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298448"/>
            <a:ext cx="548640" cy="475488"/>
          </a:xfrm>
          <a:prstGeom prst="rect">
            <a:avLst/>
          </a:prstGeom>
          <a:solidFill>
            <a:srgbClr val="1F4E78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624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№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1560" y="1298448"/>
            <a:ext cx="7223760" cy="475488"/>
          </a:xfrm>
          <a:prstGeom prst="rect">
            <a:avLst/>
          </a:prstGeom>
          <a:solidFill>
            <a:srgbClr val="1F4E78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36245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Ko‘rsatkich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75320" y="1298448"/>
            <a:ext cx="3383280" cy="475488"/>
          </a:xfrm>
          <a:prstGeom prst="rect">
            <a:avLst/>
          </a:prstGeom>
          <a:solidFill>
            <a:srgbClr val="1F4E78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0" y="13624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Formula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773936"/>
            <a:ext cx="54864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379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203040"/>
                </a:solidFill>
              </a:rPr>
              <a:t>6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1051560" y="1773936"/>
            <a:ext cx="722376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183794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203040"/>
                </a:solidFill>
              </a:rPr>
              <a:t>Uzoq muddatli majburiyatlarning tarkibiy ulushi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8275320" y="1773936"/>
            <a:ext cx="338328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8379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203040"/>
                </a:solidFill>
              </a:rPr>
              <a:t>Um / Chjm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502920" y="2249424"/>
            <a:ext cx="54864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3134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203040"/>
                </a:solidFill>
              </a:rPr>
              <a:t>7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1051560" y="2249424"/>
            <a:ext cx="722376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23134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203040"/>
                </a:solidFill>
              </a:rPr>
              <a:t>Qisqa muddatli majburiyatlarning tarkibiy ulushi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8275320" y="2249424"/>
            <a:ext cx="338328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3134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203040"/>
                </a:solidFill>
              </a:rPr>
              <a:t>Qm / Chjm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502920" y="2724912"/>
            <a:ext cx="54864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203040"/>
                </a:solidFill>
              </a:rPr>
              <a:t>8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1051560" y="2724912"/>
            <a:ext cx="722376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2788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203040"/>
                </a:solidFill>
              </a:rPr>
              <a:t>Kreditorlarning tarkibiy ulushi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8275320" y="2724912"/>
            <a:ext cx="338328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2788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203040"/>
                </a:solidFill>
              </a:rPr>
              <a:t>Kr / Chjm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502920" y="3200400"/>
            <a:ext cx="54864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264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203040"/>
                </a:solidFill>
              </a:rPr>
              <a:t>9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1051560" y="3200400"/>
            <a:ext cx="722376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326440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203040"/>
                </a:solidFill>
              </a:rPr>
              <a:t>Aylanma aktivlarda tashqi mablag‘lar summasi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8275320" y="3200400"/>
            <a:ext cx="338328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32644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203040"/>
                </a:solidFill>
              </a:rPr>
              <a:t>Chjm − Um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502920" y="3675888"/>
            <a:ext cx="54864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739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203040"/>
                </a:solidFill>
              </a:rPr>
              <a:t>10</a:t>
            </a:r>
            <a:endParaRPr lang="en-US" sz="1130" dirty="0"/>
          </a:p>
        </p:txBody>
      </p:sp>
      <p:sp>
        <p:nvSpPr>
          <p:cNvPr id="35" name="Shape 33"/>
          <p:cNvSpPr/>
          <p:nvPr/>
        </p:nvSpPr>
        <p:spPr>
          <a:xfrm>
            <a:off x="1051560" y="3675888"/>
            <a:ext cx="722376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97280" y="373989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203040"/>
                </a:solidFill>
              </a:rPr>
              <a:t>Aylanma aktivlarda tashqi mablag‘lar ulushi</a:t>
            </a:r>
            <a:endParaRPr lang="en-US" sz="1130" dirty="0"/>
          </a:p>
        </p:txBody>
      </p:sp>
      <p:sp>
        <p:nvSpPr>
          <p:cNvPr id="37" name="Shape 35"/>
          <p:cNvSpPr/>
          <p:nvPr/>
        </p:nvSpPr>
        <p:spPr>
          <a:xfrm>
            <a:off x="8275320" y="3675888"/>
            <a:ext cx="338328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0" y="37398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203040"/>
                </a:solidFill>
              </a:rPr>
              <a:t>(Chjm − Um) / AA</a:t>
            </a:r>
            <a:endParaRPr lang="en-US" sz="1130" dirty="0"/>
          </a:p>
        </p:txBody>
      </p:sp>
      <p:sp>
        <p:nvSpPr>
          <p:cNvPr id="39" name="Text 37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9.2. Amaliy tahlilning asosiy tamoyili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25880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3312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78992" y="1298448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Ko‘rsatkichni hisoblashning o‘zi yakuniy maqsad emas.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2075688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78992" y="2048256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Mutlaq va nisbiy ko‘rsatkichlar yil boshi va yil oxiri bo‘yicha solishtiriladi.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2825496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852928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78992" y="2798064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O‘zgarishning miqdori, sur’ati va tarkibiy sabablari aniqlanadi.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3575304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602736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78992" y="3547872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Natijalar korxona moliyaviy salohiyatini mustahkamlashga qaratilgan boshqaruv xulosasiga aylantiriladi.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9.2-jadval: mutlaq ko‘rsatkichlar (ming so‘m)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298448"/>
            <a:ext cx="4480560" cy="475488"/>
          </a:xfrm>
          <a:prstGeom prst="rect">
            <a:avLst/>
          </a:prstGeom>
          <a:solidFill>
            <a:srgbClr val="1F4E78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624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Ko‘rsatkich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4983480" y="1298448"/>
            <a:ext cx="1600200" cy="475488"/>
          </a:xfrm>
          <a:prstGeom prst="rect">
            <a:avLst/>
          </a:prstGeom>
          <a:solidFill>
            <a:srgbClr val="1F4E78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136245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Yil boshida</a:t>
            </a:r>
            <a:endParaRPr lang="en-US" sz="1070" dirty="0"/>
          </a:p>
        </p:txBody>
      </p:sp>
      <p:sp>
        <p:nvSpPr>
          <p:cNvPr id="7" name="Shape 5"/>
          <p:cNvSpPr/>
          <p:nvPr/>
        </p:nvSpPr>
        <p:spPr>
          <a:xfrm>
            <a:off x="6583680" y="1298448"/>
            <a:ext cx="1600200" cy="475488"/>
          </a:xfrm>
          <a:prstGeom prst="rect">
            <a:avLst/>
          </a:prstGeom>
          <a:solidFill>
            <a:srgbClr val="1F4E78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36245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Yil oxirida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8183880" y="1298448"/>
            <a:ext cx="1325880" cy="475488"/>
          </a:xfrm>
          <a:prstGeom prst="rect">
            <a:avLst/>
          </a:prstGeom>
          <a:solidFill>
            <a:srgbClr val="1F4E78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136245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Δ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9509760" y="1298448"/>
            <a:ext cx="1508760" cy="475488"/>
          </a:xfrm>
          <a:prstGeom prst="rect">
            <a:avLst/>
          </a:prstGeom>
          <a:solidFill>
            <a:srgbClr val="1F4E78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55480" y="13624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O‘sish, %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502920" y="1773936"/>
            <a:ext cx="448056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83794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Balans jami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83480" y="1773936"/>
            <a:ext cx="160020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83794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9345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1773936"/>
            <a:ext cx="160020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183794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9700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83880" y="1773936"/>
            <a:ext cx="132588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18379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+355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509760" y="1773936"/>
            <a:ext cx="150876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55480" y="183794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103,8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2249424"/>
            <a:ext cx="448056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3134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Uzoq muddatli passivlar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83480" y="2249424"/>
            <a:ext cx="160020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3134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2700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2249424"/>
            <a:ext cx="160020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23134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2700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83880" y="2249424"/>
            <a:ext cx="132588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23134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509760" y="2249424"/>
            <a:ext cx="150876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55480" y="23134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100,0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2724912"/>
            <a:ext cx="448056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2788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Qisqa muddatli tashqi mablag‘lar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83480" y="2724912"/>
            <a:ext cx="160020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1000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83680" y="2724912"/>
            <a:ext cx="160020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850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83880" y="2724912"/>
            <a:ext cx="132588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0" y="27889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−150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509760" y="2724912"/>
            <a:ext cx="150876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55480" y="2788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85,0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920" y="3200400"/>
            <a:ext cx="448056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32644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Kreditorlar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983480" y="3200400"/>
            <a:ext cx="160020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0" y="326440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1530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583680" y="3200400"/>
            <a:ext cx="160020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29400" y="326440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1650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183880" y="3200400"/>
            <a:ext cx="132588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0" y="32644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+120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509760" y="3200400"/>
            <a:ext cx="150876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555480" y="32644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107,8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02920" y="3675888"/>
            <a:ext cx="448056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37398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Barcha majburiyatlar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983480" y="3675888"/>
            <a:ext cx="160020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0" y="373989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5230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583680" y="3675888"/>
            <a:ext cx="160020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373989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5200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183880" y="3675888"/>
            <a:ext cx="132588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29600" y="373989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−30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509760" y="3675888"/>
            <a:ext cx="150876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555480" y="373989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99,4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02920" y="4151376"/>
            <a:ext cx="448056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" y="42153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Uzoq muddatli aktivlar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983480" y="4151376"/>
            <a:ext cx="160020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0" y="42153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3685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583680" y="4151376"/>
            <a:ext cx="160020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29400" y="42153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3700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183880" y="4151376"/>
            <a:ext cx="132588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29600" y="421538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+15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9509760" y="4151376"/>
            <a:ext cx="150876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555480" y="42153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100,4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02920" y="4626864"/>
            <a:ext cx="448056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8640" y="46908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Aylanma aktivlar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983480" y="4626864"/>
            <a:ext cx="160020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029200" y="46908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5660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583680" y="4626864"/>
            <a:ext cx="160020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29400" y="46908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6000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8183880" y="4626864"/>
            <a:ext cx="132588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229600" y="46908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+340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9509760" y="4626864"/>
            <a:ext cx="150876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555480" y="46908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3040"/>
                </a:solidFill>
              </a:rPr>
              <a:t>106,0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E7781"/>
                </a:solidFill>
              </a:rPr>
              <a:t>Kitobdagi 9.2-jadval ma’lumotlari.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9.2-jadval: nisbiy ko‘rsatkichlar — I qism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298448"/>
            <a:ext cx="5074920" cy="475488"/>
          </a:xfrm>
          <a:prstGeom prst="rect">
            <a:avLst/>
          </a:prstGeom>
          <a:solidFill>
            <a:srgbClr val="1F4E78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6245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Ko‘rsatkich</a:t>
            </a:r>
            <a:endParaRPr lang="en-US" sz="1040" dirty="0"/>
          </a:p>
        </p:txBody>
      </p:sp>
      <p:sp>
        <p:nvSpPr>
          <p:cNvPr id="5" name="Shape 3"/>
          <p:cNvSpPr/>
          <p:nvPr/>
        </p:nvSpPr>
        <p:spPr>
          <a:xfrm>
            <a:off x="5577840" y="1298448"/>
            <a:ext cx="1325880" cy="475488"/>
          </a:xfrm>
          <a:prstGeom prst="rect">
            <a:avLst/>
          </a:prstGeom>
          <a:solidFill>
            <a:srgbClr val="1F4E78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23560" y="136245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Boshi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6903720" y="1298448"/>
            <a:ext cx="1325880" cy="475488"/>
          </a:xfrm>
          <a:prstGeom prst="rect">
            <a:avLst/>
          </a:prstGeom>
          <a:solidFill>
            <a:srgbClr val="1F4E78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36245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Oxiri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8229600" y="1298448"/>
            <a:ext cx="1417320" cy="475488"/>
          </a:xfrm>
          <a:prstGeom prst="rect">
            <a:avLst/>
          </a:prstGeom>
          <a:solidFill>
            <a:srgbClr val="1F4E78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75320" y="136245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Δ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9646920" y="1298448"/>
            <a:ext cx="1417320" cy="475488"/>
          </a:xfrm>
          <a:prstGeom prst="rect">
            <a:avLst/>
          </a:prstGeom>
          <a:solidFill>
            <a:srgbClr val="1F4E78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0" y="136245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Indeks, %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502920" y="1773936"/>
            <a:ext cx="507492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83794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Umumiy to‘planish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5577840" y="1773936"/>
            <a:ext cx="132588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18379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0.56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6903720" y="1773936"/>
            <a:ext cx="132588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8379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0.536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8229600" y="1773936"/>
            <a:ext cx="141732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183794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−0,024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9646920" y="1773936"/>
            <a:ext cx="141732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0" y="183794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95,8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502920" y="2249424"/>
            <a:ext cx="507492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3134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Qisqa muddatli to‘planish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5577840" y="2249424"/>
            <a:ext cx="132588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23134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0.107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6903720" y="2249424"/>
            <a:ext cx="132588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23134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0.088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8229600" y="2249424"/>
            <a:ext cx="141732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23134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−0,019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9646920" y="2249424"/>
            <a:ext cx="141732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92640" y="23134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82,2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502920" y="2724912"/>
            <a:ext cx="507492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27889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Uzoq muddatli to‘planish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5577840" y="2724912"/>
            <a:ext cx="132588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23560" y="27889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0.289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6903720" y="2724912"/>
            <a:ext cx="132588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27889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0.278</a:t>
            </a:r>
            <a:endParaRPr lang="en-US" sz="970" dirty="0"/>
          </a:p>
        </p:txBody>
      </p:sp>
      <p:sp>
        <p:nvSpPr>
          <p:cNvPr id="39" name="Shape 37"/>
          <p:cNvSpPr/>
          <p:nvPr/>
        </p:nvSpPr>
        <p:spPr>
          <a:xfrm>
            <a:off x="8229600" y="2724912"/>
            <a:ext cx="141732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75320" y="2788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−0,011</a:t>
            </a:r>
            <a:endParaRPr lang="en-US" sz="970" dirty="0"/>
          </a:p>
        </p:txBody>
      </p:sp>
      <p:sp>
        <p:nvSpPr>
          <p:cNvPr id="41" name="Shape 39"/>
          <p:cNvSpPr/>
          <p:nvPr/>
        </p:nvSpPr>
        <p:spPr>
          <a:xfrm>
            <a:off x="9646920" y="2724912"/>
            <a:ext cx="141732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92640" y="2788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96,2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502920" y="3200400"/>
            <a:ext cx="507492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326440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Qisqa muddatli mablag‘larning AA dagi hissasi</a:t>
            </a:r>
            <a:endParaRPr lang="en-US" sz="970" dirty="0"/>
          </a:p>
        </p:txBody>
      </p:sp>
      <p:sp>
        <p:nvSpPr>
          <p:cNvPr id="45" name="Shape 43"/>
          <p:cNvSpPr/>
          <p:nvPr/>
        </p:nvSpPr>
        <p:spPr>
          <a:xfrm>
            <a:off x="5577840" y="3200400"/>
            <a:ext cx="132588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23560" y="32644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0.177</a:t>
            </a:r>
            <a:endParaRPr lang="en-US" sz="970" dirty="0"/>
          </a:p>
        </p:txBody>
      </p:sp>
      <p:sp>
        <p:nvSpPr>
          <p:cNvPr id="47" name="Shape 45"/>
          <p:cNvSpPr/>
          <p:nvPr/>
        </p:nvSpPr>
        <p:spPr>
          <a:xfrm>
            <a:off x="6903720" y="3200400"/>
            <a:ext cx="132588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32644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0.142</a:t>
            </a:r>
            <a:endParaRPr lang="en-US" sz="970" dirty="0"/>
          </a:p>
        </p:txBody>
      </p:sp>
      <p:sp>
        <p:nvSpPr>
          <p:cNvPr id="49" name="Shape 47"/>
          <p:cNvSpPr/>
          <p:nvPr/>
        </p:nvSpPr>
        <p:spPr>
          <a:xfrm>
            <a:off x="8229600" y="3200400"/>
            <a:ext cx="141732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75320" y="32644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−0,035</a:t>
            </a:r>
            <a:endParaRPr lang="en-US" sz="970" dirty="0"/>
          </a:p>
        </p:txBody>
      </p:sp>
      <p:sp>
        <p:nvSpPr>
          <p:cNvPr id="51" name="Shape 49"/>
          <p:cNvSpPr/>
          <p:nvPr/>
        </p:nvSpPr>
        <p:spPr>
          <a:xfrm>
            <a:off x="9646920" y="3200400"/>
            <a:ext cx="141732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92640" y="32644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80,2</a:t>
            </a:r>
            <a:endParaRPr lang="en-US" sz="970" dirty="0"/>
          </a:p>
        </p:txBody>
      </p:sp>
      <p:sp>
        <p:nvSpPr>
          <p:cNvPr id="53" name="Shape 51"/>
          <p:cNvSpPr/>
          <p:nvPr/>
        </p:nvSpPr>
        <p:spPr>
          <a:xfrm>
            <a:off x="502920" y="3675888"/>
            <a:ext cx="507492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373989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Uzoq muddatli mablag‘larning UMA dagi hissasi</a:t>
            </a:r>
            <a:endParaRPr lang="en-US" sz="970" dirty="0"/>
          </a:p>
        </p:txBody>
      </p:sp>
      <p:sp>
        <p:nvSpPr>
          <p:cNvPr id="55" name="Shape 53"/>
          <p:cNvSpPr/>
          <p:nvPr/>
        </p:nvSpPr>
        <p:spPr>
          <a:xfrm>
            <a:off x="5577840" y="3675888"/>
            <a:ext cx="132588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23560" y="373989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0.733</a:t>
            </a:r>
            <a:endParaRPr lang="en-US" sz="970" dirty="0"/>
          </a:p>
        </p:txBody>
      </p:sp>
      <p:sp>
        <p:nvSpPr>
          <p:cNvPr id="57" name="Shape 55"/>
          <p:cNvSpPr/>
          <p:nvPr/>
        </p:nvSpPr>
        <p:spPr>
          <a:xfrm>
            <a:off x="6903720" y="3675888"/>
            <a:ext cx="132588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49440" y="373989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0.73</a:t>
            </a:r>
            <a:endParaRPr lang="en-US" sz="970" dirty="0"/>
          </a:p>
        </p:txBody>
      </p:sp>
      <p:sp>
        <p:nvSpPr>
          <p:cNvPr id="59" name="Shape 57"/>
          <p:cNvSpPr/>
          <p:nvPr/>
        </p:nvSpPr>
        <p:spPr>
          <a:xfrm>
            <a:off x="8229600" y="3675888"/>
            <a:ext cx="141732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75320" y="373989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−0,003</a:t>
            </a:r>
            <a:endParaRPr lang="en-US" sz="970" dirty="0"/>
          </a:p>
        </p:txBody>
      </p:sp>
      <p:sp>
        <p:nvSpPr>
          <p:cNvPr id="61" name="Shape 59"/>
          <p:cNvSpPr/>
          <p:nvPr/>
        </p:nvSpPr>
        <p:spPr>
          <a:xfrm>
            <a:off x="9646920" y="3675888"/>
            <a:ext cx="141732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92640" y="373989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99,6</a:t>
            </a:r>
            <a:endParaRPr lang="en-US" sz="970" dirty="0"/>
          </a:p>
        </p:txBody>
      </p:sp>
      <p:sp>
        <p:nvSpPr>
          <p:cNvPr id="63" name="Text 61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9.2-jadval: nisbiy ko‘rsatkichlar — II qism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298448"/>
            <a:ext cx="5074920" cy="475488"/>
          </a:xfrm>
          <a:prstGeom prst="rect">
            <a:avLst/>
          </a:prstGeom>
          <a:solidFill>
            <a:srgbClr val="1F4E78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6245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Ko‘rsatkich</a:t>
            </a:r>
            <a:endParaRPr lang="en-US" sz="1040" dirty="0"/>
          </a:p>
        </p:txBody>
      </p:sp>
      <p:sp>
        <p:nvSpPr>
          <p:cNvPr id="5" name="Shape 3"/>
          <p:cNvSpPr/>
          <p:nvPr/>
        </p:nvSpPr>
        <p:spPr>
          <a:xfrm>
            <a:off x="5577840" y="1298448"/>
            <a:ext cx="1325880" cy="475488"/>
          </a:xfrm>
          <a:prstGeom prst="rect">
            <a:avLst/>
          </a:prstGeom>
          <a:solidFill>
            <a:srgbClr val="1F4E78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23560" y="136245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Boshi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6903720" y="1298448"/>
            <a:ext cx="1325880" cy="475488"/>
          </a:xfrm>
          <a:prstGeom prst="rect">
            <a:avLst/>
          </a:prstGeom>
          <a:solidFill>
            <a:srgbClr val="1F4E78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36245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Oxiri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8229600" y="1298448"/>
            <a:ext cx="1417320" cy="475488"/>
          </a:xfrm>
          <a:prstGeom prst="rect">
            <a:avLst/>
          </a:prstGeom>
          <a:solidFill>
            <a:srgbClr val="1F4E78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75320" y="136245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Δ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9646920" y="1298448"/>
            <a:ext cx="1417320" cy="475488"/>
          </a:xfrm>
          <a:prstGeom prst="rect">
            <a:avLst/>
          </a:prstGeom>
          <a:solidFill>
            <a:srgbClr val="1F4E78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0" y="136245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Indeks, %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502920" y="1773936"/>
            <a:ext cx="507492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83794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Uzoq muddatli tarkibiy koeffitsiyent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5577840" y="1773936"/>
            <a:ext cx="132588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18379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0.516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6903720" y="1773936"/>
            <a:ext cx="132588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8379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0.519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8229600" y="1773936"/>
            <a:ext cx="141732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183794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+0,003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9646920" y="1773936"/>
            <a:ext cx="141732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0" y="183794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100,6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502920" y="2249424"/>
            <a:ext cx="507492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3134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Qisqa muddatli tarkibiy koeffitsiyent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5577840" y="2249424"/>
            <a:ext cx="132588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23134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0.191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6903720" y="2249424"/>
            <a:ext cx="132588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23134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0.163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8229600" y="2249424"/>
            <a:ext cx="141732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23134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−0,028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9646920" y="2249424"/>
            <a:ext cx="141732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92640" y="23134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85,3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502920" y="2724912"/>
            <a:ext cx="507492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27889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Kreditorlar tarkibiy koeffitsiyenti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5577840" y="2724912"/>
            <a:ext cx="132588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23560" y="27889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0.293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6903720" y="2724912"/>
            <a:ext cx="132588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27889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0.317</a:t>
            </a:r>
            <a:endParaRPr lang="en-US" sz="970" dirty="0"/>
          </a:p>
        </p:txBody>
      </p:sp>
      <p:sp>
        <p:nvSpPr>
          <p:cNvPr id="39" name="Shape 37"/>
          <p:cNvSpPr/>
          <p:nvPr/>
        </p:nvSpPr>
        <p:spPr>
          <a:xfrm>
            <a:off x="8229600" y="2724912"/>
            <a:ext cx="141732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75320" y="2788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+0,024</a:t>
            </a:r>
            <a:endParaRPr lang="en-US" sz="970" dirty="0"/>
          </a:p>
        </p:txBody>
      </p:sp>
      <p:sp>
        <p:nvSpPr>
          <p:cNvPr id="41" name="Shape 39"/>
          <p:cNvSpPr/>
          <p:nvPr/>
        </p:nvSpPr>
        <p:spPr>
          <a:xfrm>
            <a:off x="9646920" y="2724912"/>
            <a:ext cx="141732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92640" y="2788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108,2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502920" y="3200400"/>
            <a:ext cx="507492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326440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AA dagi tashqi mablag‘lar summasi, ming so‘m</a:t>
            </a:r>
            <a:endParaRPr lang="en-US" sz="970" dirty="0"/>
          </a:p>
        </p:txBody>
      </p:sp>
      <p:sp>
        <p:nvSpPr>
          <p:cNvPr id="45" name="Shape 43"/>
          <p:cNvSpPr/>
          <p:nvPr/>
        </p:nvSpPr>
        <p:spPr>
          <a:xfrm>
            <a:off x="5577840" y="3200400"/>
            <a:ext cx="132588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23560" y="32644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2530</a:t>
            </a:r>
            <a:endParaRPr lang="en-US" sz="970" dirty="0"/>
          </a:p>
        </p:txBody>
      </p:sp>
      <p:sp>
        <p:nvSpPr>
          <p:cNvPr id="47" name="Shape 45"/>
          <p:cNvSpPr/>
          <p:nvPr/>
        </p:nvSpPr>
        <p:spPr>
          <a:xfrm>
            <a:off x="6903720" y="3200400"/>
            <a:ext cx="132588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32644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2500</a:t>
            </a:r>
            <a:endParaRPr lang="en-US" sz="970" dirty="0"/>
          </a:p>
        </p:txBody>
      </p:sp>
      <p:sp>
        <p:nvSpPr>
          <p:cNvPr id="49" name="Shape 47"/>
          <p:cNvSpPr/>
          <p:nvPr/>
        </p:nvSpPr>
        <p:spPr>
          <a:xfrm>
            <a:off x="8229600" y="3200400"/>
            <a:ext cx="141732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75320" y="32644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−30</a:t>
            </a:r>
            <a:endParaRPr lang="en-US" sz="970" dirty="0"/>
          </a:p>
        </p:txBody>
      </p:sp>
      <p:sp>
        <p:nvSpPr>
          <p:cNvPr id="51" name="Shape 49"/>
          <p:cNvSpPr/>
          <p:nvPr/>
        </p:nvSpPr>
        <p:spPr>
          <a:xfrm>
            <a:off x="9646920" y="3200400"/>
            <a:ext cx="1417320" cy="475488"/>
          </a:xfrm>
          <a:prstGeom prst="rect">
            <a:avLst/>
          </a:prstGeom>
          <a:solidFill>
            <a:srgbClr val="F7FAFC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92640" y="32644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98,8</a:t>
            </a:r>
            <a:endParaRPr lang="en-US" sz="970" dirty="0"/>
          </a:p>
        </p:txBody>
      </p:sp>
      <p:sp>
        <p:nvSpPr>
          <p:cNvPr id="53" name="Shape 51"/>
          <p:cNvSpPr/>
          <p:nvPr/>
        </p:nvSpPr>
        <p:spPr>
          <a:xfrm>
            <a:off x="502920" y="3675888"/>
            <a:ext cx="507492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373989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AA dagi tashqi mablag‘lar ulushi</a:t>
            </a:r>
            <a:endParaRPr lang="en-US" sz="970" dirty="0"/>
          </a:p>
        </p:txBody>
      </p:sp>
      <p:sp>
        <p:nvSpPr>
          <p:cNvPr id="55" name="Shape 53"/>
          <p:cNvSpPr/>
          <p:nvPr/>
        </p:nvSpPr>
        <p:spPr>
          <a:xfrm>
            <a:off x="5577840" y="3675888"/>
            <a:ext cx="132588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23560" y="373989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0.447</a:t>
            </a:r>
            <a:endParaRPr lang="en-US" sz="970" dirty="0"/>
          </a:p>
        </p:txBody>
      </p:sp>
      <p:sp>
        <p:nvSpPr>
          <p:cNvPr id="57" name="Shape 55"/>
          <p:cNvSpPr/>
          <p:nvPr/>
        </p:nvSpPr>
        <p:spPr>
          <a:xfrm>
            <a:off x="6903720" y="3675888"/>
            <a:ext cx="132588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49440" y="373989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0.417</a:t>
            </a:r>
            <a:endParaRPr lang="en-US" sz="970" dirty="0"/>
          </a:p>
        </p:txBody>
      </p:sp>
      <p:sp>
        <p:nvSpPr>
          <p:cNvPr id="59" name="Shape 57"/>
          <p:cNvSpPr/>
          <p:nvPr/>
        </p:nvSpPr>
        <p:spPr>
          <a:xfrm>
            <a:off x="8229600" y="3675888"/>
            <a:ext cx="141732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75320" y="373989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−0,030</a:t>
            </a:r>
            <a:endParaRPr lang="en-US" sz="970" dirty="0"/>
          </a:p>
        </p:txBody>
      </p:sp>
      <p:sp>
        <p:nvSpPr>
          <p:cNvPr id="61" name="Shape 59"/>
          <p:cNvSpPr/>
          <p:nvPr/>
        </p:nvSpPr>
        <p:spPr>
          <a:xfrm>
            <a:off x="9646920" y="3675888"/>
            <a:ext cx="1417320" cy="475488"/>
          </a:xfrm>
          <a:prstGeom prst="rect">
            <a:avLst/>
          </a:prstGeom>
          <a:solidFill>
            <a:srgbClr val="EEF3F7"/>
          </a:solidFill>
          <a:ln w="8890">
            <a:solidFill>
              <a:srgbClr val="C8D4D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92640" y="373989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03040"/>
                </a:solidFill>
              </a:rPr>
              <a:t>93,3</a:t>
            </a:r>
            <a:endParaRPr lang="en-US" sz="970" dirty="0"/>
          </a:p>
        </p:txBody>
      </p:sp>
      <p:sp>
        <p:nvSpPr>
          <p:cNvPr id="63" name="Text 61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Balans umumiy summasi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boshida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8"/>
                </a:solidFill>
              </a:rPr>
              <a:t>9345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25196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9F5F0"/>
          </a:solidFill>
          <a:ln w="12700">
            <a:solidFill>
              <a:srgbClr val="B9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oxirida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8"/>
                </a:solidFill>
              </a:rPr>
              <a:t>9700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58952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O‘zgarish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822B"/>
                </a:solidFill>
              </a:rPr>
              <a:t>+355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374904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01568"/>
            <a:ext cx="9966960" cy="1417320"/>
          </a:xfrm>
          <a:prstGeom prst="roundRect">
            <a:avLst>
              <a:gd name="adj" fmla="val 5161"/>
            </a:avLst>
          </a:prstGeom>
          <a:solidFill>
            <a:srgbClr val="FFF9EC"/>
          </a:solidFill>
          <a:ln w="12700">
            <a:solidFill>
              <a:srgbClr val="ECD5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703320"/>
            <a:ext cx="9326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Korxona mablag‘lari 355 ming so‘mga, ya’ni 3,8% ga oshgan. Kitob matnidagi “0,8%” ifodasi jadval arifmetikasiga mos kelmaydi; jadval bo‘yicha 3,8% to‘g‘ri.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Barcha chetdan jalb qilingan mablag‘lar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boshida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822B"/>
                </a:solidFill>
              </a:rPr>
              <a:t>5230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25196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9F5F0"/>
          </a:solidFill>
          <a:ln w="12700">
            <a:solidFill>
              <a:srgbClr val="B9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oxirida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822B"/>
                </a:solidFill>
              </a:rPr>
              <a:t>5200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58952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O‘zgarish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822B"/>
                </a:solidFill>
              </a:rPr>
              <a:t>−30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374904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01568"/>
            <a:ext cx="9966960" cy="1417320"/>
          </a:xfrm>
          <a:prstGeom prst="roundRect">
            <a:avLst>
              <a:gd name="adj" fmla="val 5161"/>
            </a:avLst>
          </a:prstGeom>
          <a:solidFill>
            <a:srgbClr val="FFF9EC"/>
          </a:solidFill>
          <a:ln w="12700">
            <a:solidFill>
              <a:srgbClr val="ECD5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703320"/>
            <a:ext cx="9326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Majburiyatlar 30 ming so‘mga yoki 0,6% ga kamaygan. Shu bilan bir vaqtda balans jami oshgani uchun o‘z mablag‘larining nisbiy roli kuchaygan.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Uzoq muddatli passivlar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boshida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68A8A"/>
                </a:solidFill>
              </a:rPr>
              <a:t>2700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25196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9F5F0"/>
          </a:solidFill>
          <a:ln w="12700">
            <a:solidFill>
              <a:srgbClr val="B9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oxirida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68A8A"/>
                </a:solidFill>
              </a:rPr>
              <a:t>2700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58952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O‘zgarish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822B"/>
                </a:solidFill>
              </a:rPr>
              <a:t>0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374904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01568"/>
            <a:ext cx="9966960" cy="1417320"/>
          </a:xfrm>
          <a:prstGeom prst="roundRect">
            <a:avLst>
              <a:gd name="adj" fmla="val 5161"/>
            </a:avLst>
          </a:prstGeom>
          <a:solidFill>
            <a:srgbClr val="FFF9EC"/>
          </a:solidFill>
          <a:ln w="12700">
            <a:solidFill>
              <a:srgbClr val="ECD5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703320"/>
            <a:ext cx="9326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Uzoq muddatli majburiyatlar miqdori o‘zgarmagan. Biroq balans jami oshgani sababli ularning umumiy mablag‘lardagi ulushi biroz pasaygan.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Qisqa muddatli chetdan jalb qilingan mablag‘lar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boshida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822B"/>
                </a:solidFill>
              </a:rPr>
              <a:t>1000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25196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9F5F0"/>
          </a:solidFill>
          <a:ln w="12700">
            <a:solidFill>
              <a:srgbClr val="B9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oxirida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822B"/>
                </a:solidFill>
              </a:rPr>
              <a:t>850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58952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O‘zgarish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822B"/>
                </a:solidFill>
              </a:rPr>
              <a:t>−150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374904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01568"/>
            <a:ext cx="9966960" cy="1417320"/>
          </a:xfrm>
          <a:prstGeom prst="roundRect">
            <a:avLst>
              <a:gd name="adj" fmla="val 5161"/>
            </a:avLst>
          </a:prstGeom>
          <a:solidFill>
            <a:srgbClr val="FFF9EC"/>
          </a:solidFill>
          <a:ln w="12700">
            <a:solidFill>
              <a:srgbClr val="ECD5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703320"/>
            <a:ext cx="9326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Qisqa muddatli tashqi moliyalashtirish 150 ming so‘mga yoki 15% ga kamaygan. Bu qisqa muddatli to‘lov bosimining pasayishiga xizmat qilishi mumkin.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Kreditorlar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boshida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9A35"/>
                </a:solidFill>
              </a:rPr>
              <a:t>1530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25196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9F5F0"/>
          </a:solidFill>
          <a:ln w="12700">
            <a:solidFill>
              <a:srgbClr val="B9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oxirida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9A35"/>
                </a:solidFill>
              </a:rPr>
              <a:t>1650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58952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O‘zgarish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822B"/>
                </a:solidFill>
              </a:rPr>
              <a:t>+120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374904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01568"/>
            <a:ext cx="9966960" cy="1417320"/>
          </a:xfrm>
          <a:prstGeom prst="roundRect">
            <a:avLst>
              <a:gd name="adj" fmla="val 5161"/>
            </a:avLst>
          </a:prstGeom>
          <a:solidFill>
            <a:srgbClr val="FFF9EC"/>
          </a:solidFill>
          <a:ln w="12700">
            <a:solidFill>
              <a:srgbClr val="ECD5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703320"/>
            <a:ext cx="9326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Kreditorlik 120 ming so‘mga yoki 7,8% ga oshgan. Bu umumiy majburiyatlar kamaygan fonda ularning tarkibdagi ulushi oshganini anglatadi.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Majburiyatlar tarkibidagi asosiy siljish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040"/>
                </a:solidFill>
              </a:rPr>
              <a:t>Uzoq muddatli ulush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023360" y="1463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D6B78"/>
                </a:solidFill>
              </a:rPr>
              <a:t>51,6%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40680" y="1490472"/>
            <a:ext cx="411480" cy="320040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89320" y="1463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8"/>
                </a:solidFill>
              </a:rPr>
              <a:t>51,9%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4380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8"/>
                </a:solidFill>
              </a:rPr>
              <a:t>+0,3 p.p.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040"/>
                </a:solidFill>
              </a:rPr>
              <a:t>Qisqa muddatli ulush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023360" y="2788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D6B78"/>
                </a:solidFill>
              </a:rPr>
              <a:t>19,1%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40680" y="2816352"/>
            <a:ext cx="411480" cy="320040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2788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8D64"/>
                </a:solidFill>
              </a:rPr>
              <a:t>16,3%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4380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C8D64"/>
                </a:solidFill>
              </a:rPr>
              <a:t>−2,8 p.p.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4114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040"/>
                </a:solidFill>
              </a:rPr>
              <a:t>Kreditorlar ulushi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023360" y="4114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D6B78"/>
                </a:solidFill>
              </a:rPr>
              <a:t>29,3%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40680" y="4142232"/>
            <a:ext cx="411480" cy="320040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4114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822B"/>
                </a:solidFill>
              </a:rPr>
              <a:t>31,7%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543800" y="4114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822B"/>
                </a:solidFill>
              </a:rPr>
              <a:t>+2,4 p.p.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097280" y="5349240"/>
            <a:ext cx="9784080" cy="658368"/>
          </a:xfrm>
          <a:prstGeom prst="roundRect">
            <a:avLst>
              <a:gd name="adj" fmla="val 6944"/>
            </a:avLst>
          </a:prstGeom>
          <a:solidFill>
            <a:srgbClr val="FFF5E6"/>
          </a:solidFill>
          <a:ln w="12700">
            <a:solidFill>
              <a:srgbClr val="E6C8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5532120"/>
            <a:ext cx="9235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6D542B"/>
                </a:solidFill>
              </a:rPr>
              <a:t>Tarkibda qisqa muddatli kredit/qarz ulushi qisqargan, kreditorlik ulushi esa oshgan — moliyalashtirish “sifatini” alohida baholash zarur.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Umumiy to‘planish koeffitsiyenti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boshida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8"/>
                </a:solidFill>
              </a:rPr>
              <a:t>0.56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25196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9F5F0"/>
          </a:solidFill>
          <a:ln w="12700">
            <a:solidFill>
              <a:srgbClr val="B9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oxirida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8"/>
                </a:solidFill>
              </a:rPr>
              <a:t>0.536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58952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O‘zgarish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822B"/>
                </a:solidFill>
              </a:rPr>
              <a:t>−0,024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374904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01568"/>
            <a:ext cx="9966960" cy="1417320"/>
          </a:xfrm>
          <a:prstGeom prst="roundRect">
            <a:avLst>
              <a:gd name="adj" fmla="val 5161"/>
            </a:avLst>
          </a:prstGeom>
          <a:solidFill>
            <a:srgbClr val="FFF9EC"/>
          </a:solidFill>
          <a:ln w="12700">
            <a:solidFill>
              <a:srgbClr val="ECD5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703320"/>
            <a:ext cx="9326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Chetdan jalb qilingan mablag‘larning balansdagi ulushi 56,0% dan 53,6% gacha kamaygan. Kitob metodikasida bu ijobiy holat sifatida baholanadi.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Qisqa muddatli to‘planish koeffitsiyenti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boshida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822B"/>
                </a:solidFill>
              </a:rPr>
              <a:t>0.107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25196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9F5F0"/>
          </a:solidFill>
          <a:ln w="12700">
            <a:solidFill>
              <a:srgbClr val="B9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oxirida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822B"/>
                </a:solidFill>
              </a:rPr>
              <a:t>0.088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58952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O‘zgarish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822B"/>
                </a:solidFill>
              </a:rPr>
              <a:t>−0,019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374904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01568"/>
            <a:ext cx="9966960" cy="1417320"/>
          </a:xfrm>
          <a:prstGeom prst="roundRect">
            <a:avLst>
              <a:gd name="adj" fmla="val 5161"/>
            </a:avLst>
          </a:prstGeom>
          <a:solidFill>
            <a:srgbClr val="FFF9EC"/>
          </a:solidFill>
          <a:ln w="12700">
            <a:solidFill>
              <a:srgbClr val="ECD5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703320"/>
            <a:ext cx="9326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Qisqa muddatli tashqi manbalarning umumiy resurslardagi ulushi 10,7% dan 8,8% gacha qisqargan.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Uzoq muddatli to‘planish koeffitsiyenti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boshida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68A8A"/>
                </a:solidFill>
              </a:rPr>
              <a:t>0.289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25196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9F5F0"/>
          </a:solidFill>
          <a:ln w="12700">
            <a:solidFill>
              <a:srgbClr val="B9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oxirida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68A8A"/>
                </a:solidFill>
              </a:rPr>
              <a:t>0.278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58952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O‘zgarish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822B"/>
                </a:solidFill>
              </a:rPr>
              <a:t>−0,011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374904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01568"/>
            <a:ext cx="9966960" cy="1417320"/>
          </a:xfrm>
          <a:prstGeom prst="roundRect">
            <a:avLst>
              <a:gd name="adj" fmla="val 5161"/>
            </a:avLst>
          </a:prstGeom>
          <a:solidFill>
            <a:srgbClr val="FFF9EC"/>
          </a:solidFill>
          <a:ln w="12700">
            <a:solidFill>
              <a:srgbClr val="ECD5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703320"/>
            <a:ext cx="9326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Uzoq muddatli tashqi mablag‘lar summasi o‘zgarmagan bo‘lsa-da, balans jami oshgani sababli ularning ulushi 28,9% dan 27,8% gacha kamaygan.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Qisqa muddatli mablag‘larning aylanma aktivlardagi hissasi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boshida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822B"/>
                </a:solidFill>
              </a:rPr>
              <a:t>0.177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25196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9F5F0"/>
          </a:solidFill>
          <a:ln w="12700">
            <a:solidFill>
              <a:srgbClr val="B9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oxirida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822B"/>
                </a:solidFill>
              </a:rPr>
              <a:t>0.142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58952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O‘zgarish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822B"/>
                </a:solidFill>
              </a:rPr>
              <a:t>−0,035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374904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01568"/>
            <a:ext cx="9966960" cy="1417320"/>
          </a:xfrm>
          <a:prstGeom prst="roundRect">
            <a:avLst>
              <a:gd name="adj" fmla="val 5161"/>
            </a:avLst>
          </a:prstGeom>
          <a:solidFill>
            <a:srgbClr val="FFF9EC"/>
          </a:solidFill>
          <a:ln w="12700">
            <a:solidFill>
              <a:srgbClr val="ECD5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703320"/>
            <a:ext cx="9326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Ko‘rsatkich 17,7% dan 14,2% gacha, ya’ni 19,8% nisbatda kamaygan. Bu qisqa muddatli qarzlarning aylanma aktivlarga bosimini kamaytiradi.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Uzoq muddatli majburiyatlarning uzoq muddatli aktivlardagi hissasi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boshida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8"/>
                </a:solidFill>
              </a:rPr>
              <a:t>0.733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25196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9F5F0"/>
          </a:solidFill>
          <a:ln w="12700">
            <a:solidFill>
              <a:srgbClr val="B9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oxirida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8"/>
                </a:solidFill>
              </a:rPr>
              <a:t>0.73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58952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O‘zgarish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822B"/>
                </a:solidFill>
              </a:rPr>
              <a:t>−0,003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374904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01568"/>
            <a:ext cx="9966960" cy="1417320"/>
          </a:xfrm>
          <a:prstGeom prst="roundRect">
            <a:avLst>
              <a:gd name="adj" fmla="val 5161"/>
            </a:avLst>
          </a:prstGeom>
          <a:solidFill>
            <a:srgbClr val="FFF9EC"/>
          </a:solidFill>
          <a:ln w="12700">
            <a:solidFill>
              <a:srgbClr val="ECD5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703320"/>
            <a:ext cx="9326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Uzoq muddatli aktivlarning tashqi uzoq muddatli manbalar bilan qoplanish darajasi deyarli o‘zgarmagan: 73,3% → 73,0%.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Uzoq muddatli majburiyatlarning tarkibiy ulushi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boshida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68A8A"/>
                </a:solidFill>
              </a:rPr>
              <a:t>0.516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25196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9F5F0"/>
          </a:solidFill>
          <a:ln w="12700">
            <a:solidFill>
              <a:srgbClr val="B9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oxirida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68A8A"/>
                </a:solidFill>
              </a:rPr>
              <a:t>0.519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58952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O‘zgarish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822B"/>
                </a:solidFill>
              </a:rPr>
              <a:t>+0,003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374904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01568"/>
            <a:ext cx="9966960" cy="1417320"/>
          </a:xfrm>
          <a:prstGeom prst="roundRect">
            <a:avLst>
              <a:gd name="adj" fmla="val 5161"/>
            </a:avLst>
          </a:prstGeom>
          <a:solidFill>
            <a:srgbClr val="FFF9EC"/>
          </a:solidFill>
          <a:ln w="12700">
            <a:solidFill>
              <a:srgbClr val="ECD5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703320"/>
            <a:ext cx="9326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Jami majburiyatlar ichida uzoq muddatli qism 51,6% dan 51,9% gacha oshgan. Bu umumiy majburiyatlar qisqargani fonida sodir bo‘lgan.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Qisqa muddatli majburiyatlarning tarkibiy ulushi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boshida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822B"/>
                </a:solidFill>
              </a:rPr>
              <a:t>0.191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25196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9F5F0"/>
          </a:solidFill>
          <a:ln w="12700">
            <a:solidFill>
              <a:srgbClr val="B9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oxirida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822B"/>
                </a:solidFill>
              </a:rPr>
              <a:t>0.163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58952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O‘zgarish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822B"/>
                </a:solidFill>
              </a:rPr>
              <a:t>−0,028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374904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01568"/>
            <a:ext cx="9966960" cy="1417320"/>
          </a:xfrm>
          <a:prstGeom prst="roundRect">
            <a:avLst>
              <a:gd name="adj" fmla="val 5161"/>
            </a:avLst>
          </a:prstGeom>
          <a:solidFill>
            <a:srgbClr val="FFF9EC"/>
          </a:solidFill>
          <a:ln w="12700">
            <a:solidFill>
              <a:srgbClr val="ECD5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703320"/>
            <a:ext cx="9326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Qisqa muddatli kredit va qarzlarning jami majburiyatlardagi ulushi 19,1% dan 16,3% gacha kamaygan.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Kreditorlarning tarkibiy ulushi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boshida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9A35"/>
                </a:solidFill>
              </a:rPr>
              <a:t>0.293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25196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9F5F0"/>
          </a:solidFill>
          <a:ln w="12700">
            <a:solidFill>
              <a:srgbClr val="B9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oxirida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9A35"/>
                </a:solidFill>
              </a:rPr>
              <a:t>0.317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58952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O‘zgarish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822B"/>
                </a:solidFill>
              </a:rPr>
              <a:t>+0,024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374904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01568"/>
            <a:ext cx="9966960" cy="1417320"/>
          </a:xfrm>
          <a:prstGeom prst="roundRect">
            <a:avLst>
              <a:gd name="adj" fmla="val 5161"/>
            </a:avLst>
          </a:prstGeom>
          <a:solidFill>
            <a:srgbClr val="FFF9EC"/>
          </a:solidFill>
          <a:ln w="12700">
            <a:solidFill>
              <a:srgbClr val="ECD5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703320"/>
            <a:ext cx="9326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Kreditorlik ulushi 29,3% dan 31,7% gacha oshgan. Bu holat kreditorlikning sifati, muddati va to‘lov intizomini alohida tahlil qilishni talab qiladi.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Aylanma aktivlarda ishtirok etayotgan tashqi mablag‘lar summasi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boshida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8"/>
                </a:solidFill>
              </a:rPr>
              <a:t>2530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25196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9F5F0"/>
          </a:solidFill>
          <a:ln w="12700">
            <a:solidFill>
              <a:srgbClr val="B9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oxirida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8"/>
                </a:solidFill>
              </a:rPr>
              <a:t>2500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58952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O‘zgarish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822B"/>
                </a:solidFill>
              </a:rPr>
              <a:t>−30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374904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01568"/>
            <a:ext cx="9966960" cy="1417320"/>
          </a:xfrm>
          <a:prstGeom prst="roundRect">
            <a:avLst>
              <a:gd name="adj" fmla="val 5161"/>
            </a:avLst>
          </a:prstGeom>
          <a:solidFill>
            <a:srgbClr val="FFF9EC"/>
          </a:solidFill>
          <a:ln w="12700">
            <a:solidFill>
              <a:srgbClr val="ECD5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703320"/>
            <a:ext cx="9326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Aylanma aktivlarda foydalanilayotgan tashqi mablag‘lar 30 ming so‘mga yoki 1,2% ga kamaygan.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Aylanma aktivlarda tashqi mablag‘lar hissasi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boshida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C8D64"/>
                </a:solidFill>
              </a:rPr>
              <a:t>0.447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25196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9F5F0"/>
          </a:solidFill>
          <a:ln w="12700">
            <a:solidFill>
              <a:srgbClr val="B9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Yil oxirida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C8D64"/>
                </a:solidFill>
              </a:rPr>
              <a:t>0.417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589520" y="1572768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 w="12700">
            <a:solidFill>
              <a:srgbClr val="C4D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8"/>
                </a:solidFill>
              </a:rPr>
              <a:t>O‘zgarish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822B"/>
                </a:solidFill>
              </a:rPr>
              <a:t>−0,030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374904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874520"/>
            <a:ext cx="438912" cy="566928"/>
          </a:xfrm>
          <a:prstGeom prst="chevron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01568"/>
            <a:ext cx="9966960" cy="1417320"/>
          </a:xfrm>
          <a:prstGeom prst="roundRect">
            <a:avLst>
              <a:gd name="adj" fmla="val 5161"/>
            </a:avLst>
          </a:prstGeom>
          <a:solidFill>
            <a:srgbClr val="FFF9EC"/>
          </a:solidFill>
          <a:ln w="12700">
            <a:solidFill>
              <a:srgbClr val="ECD5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703320"/>
            <a:ext cx="9326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Aylanma aktivlarning tashqi manbalar hisobidan moliyalashtirilayotgan qismi 44,7% dan 41,7% gacha kamaygan — kitobda bu ijobiy baholanadi.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9.2-jadval bo‘yicha umumiy xulosa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</a:rPr>
              <a:t>Balans jami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812280" y="12984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9822B"/>
                </a:solidFill>
              </a:rPr>
              <a:t>↑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772400" y="1325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B57"/>
                </a:solidFill>
              </a:rPr>
              <a:t>103,8%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</a:rPr>
              <a:t>Majburiyatlar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12280" y="21214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C8D64"/>
                </a:solidFill>
              </a:rPr>
              <a:t>↓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772400" y="21488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B57"/>
                </a:solidFill>
              </a:rPr>
              <a:t>99,4%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</a:rPr>
              <a:t>Qisqa muddatli tashqi mablag‘lar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12280" y="29443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C8D64"/>
                </a:solidFill>
              </a:rPr>
              <a:t>↓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772400" y="29718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B57"/>
                </a:solidFill>
              </a:rPr>
              <a:t>85,0%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379476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</a:rPr>
              <a:t>Kreditorlar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12280" y="37673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9822B"/>
                </a:solidFill>
              </a:rPr>
              <a:t>↑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772400" y="37947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B57"/>
                </a:solidFill>
              </a:rPr>
              <a:t>107,8%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61772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3040"/>
                </a:solidFill>
              </a:rPr>
              <a:t>AA dagi tashqi mablag‘lar ulushi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812280" y="45902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C8D64"/>
                </a:solidFill>
              </a:rPr>
              <a:t>↓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772400" y="46177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B57"/>
                </a:solidFill>
              </a:rPr>
              <a:t>0,447 → 0,417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5532120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B57"/>
                </a:solidFill>
              </a:rPr>
              <a:t>Umumiy yo‘nalish: tashqi moliyalashtirishga qaramlik kamaygan, biroq kreditorlik qarzlarining tarkibdagi ulushi oshgan.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Turistik korxona rahbari uchun boshqaruv xulosalari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25880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3312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78992" y="1298448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Qarz miqdorini emas, uning muddat tarkibi va aktivlar bilan muvofiqligini boshqarish kerak.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2075688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78992" y="2048256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Qisqa muddatli majburiyatlar kamayishi likvidlik uchun ijobiy, ammo kreditorlikning oshishi yangi xavf manbai bo‘lishi mumkin.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2825496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852928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78992" y="2798064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Aylanma aktivlarda o‘z mablag‘lari ulushini oshirish moliyaviy mustaqillikni kuchaytiradi.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3575304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602736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78992" y="3547872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Qarzning iqtisodiy samarasi uning qiymati va shu mablag‘ evaziga yaratilgan daromad bilan solishtirilishi lozim.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Majburiyatlar tarkibi bo‘yicha risk xaritasi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463040"/>
            <a:ext cx="4572000" cy="1554480"/>
          </a:xfrm>
          <a:prstGeom prst="roundRect">
            <a:avLst>
              <a:gd name="adj" fmla="val 4706"/>
            </a:avLst>
          </a:prstGeom>
          <a:solidFill>
            <a:srgbClr val="EAF5EF"/>
          </a:solidFill>
          <a:ln w="15240">
            <a:solidFill>
              <a:srgbClr val="3C8D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6642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C8D64"/>
                </a:solidFill>
              </a:rPr>
              <a:t>Past risk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34440" y="2103120"/>
            <a:ext cx="3931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03040"/>
                </a:solidFill>
              </a:rPr>
              <a:t>Uzoq muddatli manbalar barqaror, qisqa muddatli bosim past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4572000" cy="1554480"/>
          </a:xfrm>
          <a:prstGeom prst="roundRect">
            <a:avLst>
              <a:gd name="adj" fmla="val 4706"/>
            </a:avLst>
          </a:prstGeom>
          <a:solidFill>
            <a:srgbClr val="FFF6E7"/>
          </a:solidFill>
          <a:ln w="15240">
            <a:solidFill>
              <a:srgbClr val="C69A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6642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9A35"/>
                </a:solidFill>
              </a:rPr>
              <a:t>Nazorat zonasi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37960" y="2103120"/>
            <a:ext cx="3931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03040"/>
                </a:solidFill>
              </a:rPr>
              <a:t>Kreditorlik ulushi o‘smoqda, lekin to‘lovlar boshqarilmoqda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14400" y="3703320"/>
            <a:ext cx="4572000" cy="1554480"/>
          </a:xfrm>
          <a:prstGeom prst="roundRect">
            <a:avLst>
              <a:gd name="adj" fmla="val 4706"/>
            </a:avLst>
          </a:prstGeom>
          <a:solidFill>
            <a:srgbClr val="FDEEEE"/>
          </a:solidFill>
          <a:ln w="15240">
            <a:solidFill>
              <a:srgbClr val="B5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9044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54A4A"/>
                </a:solidFill>
              </a:rPr>
              <a:t>Yuqori risk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34440" y="4343400"/>
            <a:ext cx="3931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03040"/>
                </a:solidFill>
              </a:rPr>
              <a:t>Qisqa muddatli majburiyatlar ko‘p va aylanma aktivlar yetarli emas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17920" y="3703320"/>
            <a:ext cx="4572000" cy="1554480"/>
          </a:xfrm>
          <a:prstGeom prst="roundRect">
            <a:avLst>
              <a:gd name="adj" fmla="val 4706"/>
            </a:avLst>
          </a:prstGeom>
          <a:solidFill>
            <a:srgbClr val="EDF3F8"/>
          </a:solidFill>
          <a:ln w="15240">
            <a:solidFill>
              <a:srgbClr val="1F4E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9044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8"/>
                </a:solidFill>
              </a:rPr>
              <a:t>Strategik savol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4343400"/>
            <a:ext cx="3931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03040"/>
                </a:solidFill>
              </a:rPr>
              <a:t>Qarz rentabelligi qarz qiymatidan yuqorimi?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Majburiyatlarni tahlil qilish algoritmi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51560" y="1143000"/>
            <a:ext cx="502920" cy="438912"/>
          </a:xfrm>
          <a:prstGeom prst="roundRect">
            <a:avLst>
              <a:gd name="adj" fmla="val 12500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2435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783080" y="117043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03040"/>
                </a:solidFill>
              </a:rPr>
              <a:t>Balans ma’lumotlarini olish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298448" y="1581912"/>
            <a:ext cx="0" cy="256032"/>
          </a:xfrm>
          <a:prstGeom prst="line">
            <a:avLst/>
          </a:prstGeom>
          <a:noFill/>
          <a:ln w="15240">
            <a:solidFill>
              <a:srgbClr val="AAB7C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051560" y="1837944"/>
            <a:ext cx="502920" cy="438912"/>
          </a:xfrm>
          <a:prstGeom prst="roundRect">
            <a:avLst>
              <a:gd name="adj" fmla="val 12500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9385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186537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03040"/>
                </a:solidFill>
              </a:rPr>
              <a:t>Majburiyatlarni muddat bo‘yicha ajratish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298448" y="2276856"/>
            <a:ext cx="0" cy="256032"/>
          </a:xfrm>
          <a:prstGeom prst="line">
            <a:avLst/>
          </a:prstGeom>
          <a:noFill/>
          <a:ln w="15240">
            <a:solidFill>
              <a:srgbClr val="AAB7C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51560" y="2532888"/>
            <a:ext cx="502920" cy="438912"/>
          </a:xfrm>
          <a:prstGeom prst="roundRect">
            <a:avLst>
              <a:gd name="adj" fmla="val 12500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6334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83080" y="256032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03040"/>
                </a:solidFill>
              </a:rPr>
              <a:t>Mutlaq o‘zgarishni hisoblash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298448" y="2971800"/>
            <a:ext cx="0" cy="256032"/>
          </a:xfrm>
          <a:prstGeom prst="line">
            <a:avLst/>
          </a:prstGeom>
          <a:noFill/>
          <a:ln w="15240">
            <a:solidFill>
              <a:srgbClr val="AAB7C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51560" y="3227832"/>
            <a:ext cx="502920" cy="438912"/>
          </a:xfrm>
          <a:prstGeom prst="roundRect">
            <a:avLst>
              <a:gd name="adj" fmla="val 12500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3284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3255264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03040"/>
                </a:solidFill>
              </a:rPr>
              <a:t>Koeffitsiyentlarni aniqlash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298448" y="3666744"/>
            <a:ext cx="0" cy="256032"/>
          </a:xfrm>
          <a:prstGeom prst="line">
            <a:avLst/>
          </a:prstGeom>
          <a:noFill/>
          <a:ln w="15240">
            <a:solidFill>
              <a:srgbClr val="AAB7C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51560" y="3922776"/>
            <a:ext cx="502920" cy="438912"/>
          </a:xfrm>
          <a:prstGeom prst="roundRect">
            <a:avLst>
              <a:gd name="adj" fmla="val 12500"/>
            </a:avLst>
          </a:prstGeom>
          <a:solidFill>
            <a:srgbClr val="168A8A"/>
          </a:solidFill>
          <a:ln w="12700">
            <a:solidFill>
              <a:srgbClr val="168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0233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395020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03040"/>
                </a:solidFill>
              </a:rPr>
              <a:t>Tarkib va dinamikani baholash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298448" y="4361688"/>
            <a:ext cx="0" cy="256032"/>
          </a:xfrm>
          <a:prstGeom prst="line">
            <a:avLst/>
          </a:prstGeom>
          <a:noFill/>
          <a:ln w="15240">
            <a:solidFill>
              <a:srgbClr val="AAB7C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51560" y="4617720"/>
            <a:ext cx="502920" cy="438912"/>
          </a:xfrm>
          <a:prstGeom prst="roundRect">
            <a:avLst>
              <a:gd name="adj" fmla="val 12500"/>
            </a:avLst>
          </a:prstGeom>
          <a:solidFill>
            <a:srgbClr val="168A8A"/>
          </a:solidFill>
          <a:ln w="12700">
            <a:solidFill>
              <a:srgbClr val="168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47183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83080" y="464515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03040"/>
                </a:solidFill>
              </a:rPr>
              <a:t>Aktivlar bilan mosligini tekshirish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298448" y="5056632"/>
            <a:ext cx="0" cy="256032"/>
          </a:xfrm>
          <a:prstGeom prst="line">
            <a:avLst/>
          </a:prstGeom>
          <a:noFill/>
          <a:ln w="15240">
            <a:solidFill>
              <a:srgbClr val="AAB7C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51560" y="5312664"/>
            <a:ext cx="502920" cy="438912"/>
          </a:xfrm>
          <a:prstGeom prst="roundRect">
            <a:avLst>
              <a:gd name="adj" fmla="val 12500"/>
            </a:avLst>
          </a:prstGeom>
          <a:solidFill>
            <a:srgbClr val="168A8A"/>
          </a:solidFill>
          <a:ln w="12700">
            <a:solidFill>
              <a:srgbClr val="168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54132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83080" y="534009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03040"/>
                </a:solidFill>
              </a:rPr>
              <a:t>Boshqaruv qarorini shakllantirish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Amaliy mini-keys: “Silk Route Travel”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961120" y="8778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B54A4A"/>
                </a:solidFill>
              </a:rPr>
              <a:t>Shartli o‘quv ma’lumotlari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60120" y="1417320"/>
            <a:ext cx="5486400" cy="566928"/>
          </a:xfrm>
          <a:prstGeom prst="rect">
            <a:avLst/>
          </a:prstGeom>
          <a:solidFill>
            <a:srgbClr val="1F4E78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536192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Ko‘rsatkich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46520" y="1417320"/>
            <a:ext cx="2103120" cy="566928"/>
          </a:xfrm>
          <a:prstGeom prst="rect">
            <a:avLst/>
          </a:prstGeom>
          <a:solidFill>
            <a:srgbClr val="1F4E78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0528" y="153619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Yil boshida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49640" y="1417320"/>
            <a:ext cx="2103120" cy="566928"/>
          </a:xfrm>
          <a:prstGeom prst="rect">
            <a:avLst/>
          </a:prstGeom>
          <a:solidFill>
            <a:srgbClr val="1F4E78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13648" y="153619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Yil oxirida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1984248"/>
            <a:ext cx="548640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103120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Balans jami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46520" y="1984248"/>
            <a:ext cx="210312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210312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12000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49640" y="1984248"/>
            <a:ext cx="210312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13648" y="210312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13500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60120" y="2551176"/>
            <a:ext cx="5486400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2670048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Uzoq muddatli majburiyatlar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46520" y="2551176"/>
            <a:ext cx="2103120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2670048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3000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549640" y="2551176"/>
            <a:ext cx="2103120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13648" y="2670048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3200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60120" y="3118104"/>
            <a:ext cx="548640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3236976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Qisqa muddatli kredit/qarzlar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46520" y="3118104"/>
            <a:ext cx="210312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0528" y="323697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1800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549640" y="3118104"/>
            <a:ext cx="210312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13648" y="323697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1500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60120" y="3685032"/>
            <a:ext cx="5486400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" y="3803904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Kreditorlik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46520" y="3685032"/>
            <a:ext cx="2103120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3803904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2200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549640" y="3685032"/>
            <a:ext cx="2103120" cy="566928"/>
          </a:xfrm>
          <a:prstGeom prst="rect">
            <a:avLst/>
          </a:prstGeom>
          <a:solidFill>
            <a:srgbClr val="EEF3F7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13648" y="3803904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2600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60120" y="4251960"/>
            <a:ext cx="548640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4128" y="4370832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Aylanma aktivlar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446520" y="4251960"/>
            <a:ext cx="210312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0528" y="437083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7000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549640" y="4251960"/>
            <a:ext cx="210312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13648" y="437083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7800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60120" y="5166360"/>
            <a:ext cx="9692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B57"/>
                </a:solidFill>
              </a:rPr>
              <a:t>Topshiriq: 1) jami majburiyatlarni aniqlang; 2) umumiy to‘planish koeffitsiyentini hisoblang; 3) qisqa muddatli tarkibiy koeffitsiyentni aniqlang; 4) boshqaruv xulosasi yozing.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muallif taqdimot uchun tuzgan shartli o‘quv keys; Xoliqulov metodikasi asosida.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Mini-keys yechimi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EDF3F8"/>
          </a:solidFill>
          <a:ln w="12700">
            <a:solidFill>
              <a:srgbClr val="BDD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4592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D6B78"/>
                </a:solidFill>
              </a:rPr>
              <a:t>Jami majburiyat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756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B57"/>
                </a:solidFill>
              </a:rPr>
              <a:t>7000 → 7300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389120" y="207568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822B"/>
                </a:solidFill>
              </a:rPr>
              <a:t>+300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EDF3F8"/>
          </a:solidFill>
          <a:ln w="12700">
            <a:solidFill>
              <a:srgbClr val="BDD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64592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D6B78"/>
                </a:solidFill>
              </a:rPr>
              <a:t>Umumiy to‘planish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20756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B57"/>
                </a:solidFill>
              </a:rPr>
              <a:t>0,583 → 0,541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012680" y="207568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8D64"/>
                </a:solidFill>
              </a:rPr>
              <a:t>−0,042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3383280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F2F7F5"/>
          </a:solidFill>
          <a:ln w="12700">
            <a:solidFill>
              <a:srgbClr val="C4DD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61188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D6B78"/>
                </a:solidFill>
              </a:rPr>
              <a:t>Qisqa muddatli ulush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4041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B57"/>
                </a:solidFill>
              </a:rPr>
              <a:t>0,257 → 0,205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389120" y="404164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8D64"/>
                </a:solidFill>
              </a:rPr>
              <a:t>−0,052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0" y="3383280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F2F7F5"/>
          </a:solidFill>
          <a:ln w="12700">
            <a:solidFill>
              <a:srgbClr val="C4DD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61188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D6B78"/>
                </a:solidFill>
              </a:rPr>
              <a:t>Kreditorlik ulushi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4041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B57"/>
                </a:solidFill>
              </a:rPr>
              <a:t>0,314 → 0,356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012680" y="404164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822B"/>
                </a:solidFill>
              </a:rPr>
              <a:t>+0,042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544068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3B57"/>
                </a:solidFill>
              </a:rPr>
              <a:t>Xulosa: umumiy qarzga qaramlik va qisqa muddatli ulush pasaygan, lekin kreditorlik ulushi oshgan. Kreditorlar tarkibi va muddatlarini nazorat qilish zarur.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shartli o‘quv keys yechimi.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Mustaqil mashq: ikki turfirmadan qaysi biri barqarorroq?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51560" y="1417320"/>
            <a:ext cx="5486400" cy="603504"/>
          </a:xfrm>
          <a:prstGeom prst="rect">
            <a:avLst/>
          </a:prstGeom>
          <a:solidFill>
            <a:srgbClr val="168A8A"/>
          </a:solidFill>
          <a:ln w="12700">
            <a:solidFill>
              <a:srgbClr val="CADF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" y="1545336"/>
            <a:ext cx="5340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Ko‘rsatkich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6537960" y="1417320"/>
            <a:ext cx="2148840" cy="603504"/>
          </a:xfrm>
          <a:prstGeom prst="rect">
            <a:avLst/>
          </a:prstGeom>
          <a:solidFill>
            <a:srgbClr val="168A8A"/>
          </a:solidFill>
          <a:ln w="12700">
            <a:solidFill>
              <a:srgbClr val="CADF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11112" y="1545336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Turfirm A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8686800" y="1417320"/>
            <a:ext cx="2148840" cy="603504"/>
          </a:xfrm>
          <a:prstGeom prst="rect">
            <a:avLst/>
          </a:prstGeom>
          <a:solidFill>
            <a:srgbClr val="168A8A"/>
          </a:solidFill>
          <a:ln w="12700">
            <a:solidFill>
              <a:srgbClr val="CADF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59952" y="1545336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Turfirm B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1051560" y="2020824"/>
            <a:ext cx="5486400" cy="603504"/>
          </a:xfrm>
          <a:prstGeom prst="rect">
            <a:avLst/>
          </a:prstGeom>
          <a:solidFill>
            <a:srgbClr val="F7FBF9"/>
          </a:solidFill>
          <a:ln w="12700">
            <a:solidFill>
              <a:srgbClr val="CADF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2148840"/>
            <a:ext cx="5340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203040"/>
                </a:solidFill>
              </a:rPr>
              <a:t>Umumiy to‘planish koeffitsiyenti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6537960" y="2020824"/>
            <a:ext cx="2148840" cy="603504"/>
          </a:xfrm>
          <a:prstGeom prst="rect">
            <a:avLst/>
          </a:prstGeom>
          <a:solidFill>
            <a:srgbClr val="F7FBF9"/>
          </a:solidFill>
          <a:ln w="12700">
            <a:solidFill>
              <a:srgbClr val="CADF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148840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203040"/>
                </a:solidFill>
              </a:rPr>
              <a:t>0,48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8686800" y="2020824"/>
            <a:ext cx="2148840" cy="603504"/>
          </a:xfrm>
          <a:prstGeom prst="rect">
            <a:avLst/>
          </a:prstGeom>
          <a:solidFill>
            <a:srgbClr val="F7FBF9"/>
          </a:solidFill>
          <a:ln w="12700">
            <a:solidFill>
              <a:srgbClr val="CADF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59952" y="2148840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203040"/>
                </a:solidFill>
              </a:rPr>
              <a:t>0,62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1051560" y="2624328"/>
            <a:ext cx="5486400" cy="603504"/>
          </a:xfrm>
          <a:prstGeom prst="rect">
            <a:avLst/>
          </a:prstGeom>
          <a:solidFill>
            <a:srgbClr val="EEF6F3"/>
          </a:solidFill>
          <a:ln w="12700">
            <a:solidFill>
              <a:srgbClr val="CADF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2752344"/>
            <a:ext cx="5340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203040"/>
                </a:solidFill>
              </a:rPr>
              <a:t>Qisqa muddatli ulush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6537960" y="2624328"/>
            <a:ext cx="2148840" cy="603504"/>
          </a:xfrm>
          <a:prstGeom prst="rect">
            <a:avLst/>
          </a:prstGeom>
          <a:solidFill>
            <a:srgbClr val="EEF6F3"/>
          </a:solidFill>
          <a:ln w="12700">
            <a:solidFill>
              <a:srgbClr val="CADF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2752344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203040"/>
                </a:solidFill>
              </a:rPr>
              <a:t>0,18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8686800" y="2624328"/>
            <a:ext cx="2148840" cy="603504"/>
          </a:xfrm>
          <a:prstGeom prst="rect">
            <a:avLst/>
          </a:prstGeom>
          <a:solidFill>
            <a:srgbClr val="EEF6F3"/>
          </a:solidFill>
          <a:ln w="12700">
            <a:solidFill>
              <a:srgbClr val="CADF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59952" y="2752344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203040"/>
                </a:solidFill>
              </a:rPr>
              <a:t>0,10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1051560" y="3227832"/>
            <a:ext cx="5486400" cy="603504"/>
          </a:xfrm>
          <a:prstGeom prst="rect">
            <a:avLst/>
          </a:prstGeom>
          <a:solidFill>
            <a:srgbClr val="F7FBF9"/>
          </a:solidFill>
          <a:ln w="12700">
            <a:solidFill>
              <a:srgbClr val="CADF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4712" y="3355848"/>
            <a:ext cx="5340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203040"/>
                </a:solidFill>
              </a:rPr>
              <a:t>Kreditorlik ulushi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6537960" y="3227832"/>
            <a:ext cx="2148840" cy="603504"/>
          </a:xfrm>
          <a:prstGeom prst="rect">
            <a:avLst/>
          </a:prstGeom>
          <a:solidFill>
            <a:srgbClr val="F7FBF9"/>
          </a:solidFill>
          <a:ln w="12700">
            <a:solidFill>
              <a:srgbClr val="CADF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11112" y="3355848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203040"/>
                </a:solidFill>
              </a:rPr>
              <a:t>0,21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8686800" y="3227832"/>
            <a:ext cx="2148840" cy="603504"/>
          </a:xfrm>
          <a:prstGeom prst="rect">
            <a:avLst/>
          </a:prstGeom>
          <a:solidFill>
            <a:srgbClr val="F7FBF9"/>
          </a:solidFill>
          <a:ln w="12700">
            <a:solidFill>
              <a:srgbClr val="CADF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59952" y="3355848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203040"/>
                </a:solidFill>
              </a:rPr>
              <a:t>0,36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1051560" y="3831336"/>
            <a:ext cx="5486400" cy="603504"/>
          </a:xfrm>
          <a:prstGeom prst="rect">
            <a:avLst/>
          </a:prstGeom>
          <a:solidFill>
            <a:srgbClr val="EEF6F3"/>
          </a:solidFill>
          <a:ln w="12700">
            <a:solidFill>
              <a:srgbClr val="CADFD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24712" y="3959352"/>
            <a:ext cx="5340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203040"/>
                </a:solidFill>
              </a:rPr>
              <a:t>AA dagi tashqi mablag‘lar ulushi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6537960" y="3831336"/>
            <a:ext cx="2148840" cy="603504"/>
          </a:xfrm>
          <a:prstGeom prst="rect">
            <a:avLst/>
          </a:prstGeom>
          <a:solidFill>
            <a:srgbClr val="EEF6F3"/>
          </a:solidFill>
          <a:ln w="12700">
            <a:solidFill>
              <a:srgbClr val="CADFD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11112" y="3959352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203040"/>
                </a:solidFill>
              </a:rPr>
              <a:t>0,39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8686800" y="3831336"/>
            <a:ext cx="2148840" cy="603504"/>
          </a:xfrm>
          <a:prstGeom prst="rect">
            <a:avLst/>
          </a:prstGeom>
          <a:solidFill>
            <a:srgbClr val="EEF6F3"/>
          </a:solidFill>
          <a:ln w="12700">
            <a:solidFill>
              <a:srgbClr val="CADFD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59952" y="3959352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203040"/>
                </a:solidFill>
              </a:rPr>
              <a:t>0,44</a:t>
            </a:r>
            <a:endParaRPr lang="en-US" sz="1280" dirty="0"/>
          </a:p>
        </p:txBody>
      </p:sp>
      <p:sp>
        <p:nvSpPr>
          <p:cNvPr id="33" name="Text 31"/>
          <p:cNvSpPr/>
          <p:nvPr/>
        </p:nvSpPr>
        <p:spPr>
          <a:xfrm>
            <a:off x="1143000" y="52578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B57"/>
                </a:solidFill>
              </a:rPr>
              <a:t>Savol: bitta koeffitsiyentga qarab xulosa chiqarish mumkinmi? Qaysi qo‘shimcha ma’lumotlarni so‘rardingiz?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shartli o‘quv topshirig‘i.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2025-yildan amaldagi normativ yangilanish: 1-son BHMS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822960" y="1325880"/>
            <a:ext cx="10515600" cy="1078992"/>
          </a:xfrm>
          <a:prstGeom prst="roundRect">
            <a:avLst>
              <a:gd name="adj" fmla="val 6780"/>
            </a:avLst>
          </a:prstGeom>
          <a:solidFill>
            <a:srgbClr val="EAF1F7"/>
          </a:solidFill>
          <a:ln w="12700">
            <a:solidFill>
              <a:srgbClr val="B8CC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6276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73B57"/>
                </a:solidFill>
              </a:rPr>
              <a:t>1-son BHMS “Moliyaviy hisobotni taqdim etish va hisob siyosati” 2024-yil 6-avgustda 3544-son bilan ro‘yxatdan o‘tgan va 2025-yil 1-yanvardan qo‘llaniladi.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051560" y="2971800"/>
            <a:ext cx="101041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203040"/>
                </a:solidFill>
              </a:rPr>
              <a:t>Amaliy darsda Xoliqulov kitobidagi koeffitsiyentlar mantiqi saqlanadi, biroq balans satrlarini tanlashda amaldagi moliyaviy hisobot shakllari va korxona hisob siyosatiga tayanish kerak.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50749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D6B78"/>
                </a:solidFill>
              </a:rPr>
              <a:t>Normativ manba: Lex.uz, 3544-son (06.08.2024), 1-son BHMS.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Asosiy nazariya: Xoliqulov, 2024. Normativ yangilanish: Lex.uz, 1-son BHMS, 3544-son.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Amaliy tahlil uchun tekshiruv ro‘yxati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25880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3312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78992" y="1298448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Balansdagi jami majburiyatlar to‘g‘ri aniqlanganmi?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2075688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78992" y="2048256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Uzoq va qisqa muddatli qismlar alohida hisoblanganmi?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2825496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852928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78992" y="2798064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Kreditorlik qarzlari alohida nazorat qilinganmi?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3575304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602736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78992" y="3547872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Majburiyatlar aktivlarning tegishli guruhlari bilan taqqoslanganmi?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58368" y="4325112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352544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78992" y="4297680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Dinamikadagi ijobiy o‘zgarish tarkibdagi salbiy siljishni yashirmayaptimi?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8368" y="5074920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5102352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78992" y="5047488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Xulosa aniq boshqaruv qaroriga olib keladimi?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 bo‘yicha tayanch tushunchalar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868680" y="1280160"/>
            <a:ext cx="4983480" cy="621792"/>
          </a:xfrm>
          <a:prstGeom prst="roundRect">
            <a:avLst>
              <a:gd name="adj" fmla="val 17647"/>
            </a:avLst>
          </a:prstGeom>
          <a:solidFill>
            <a:srgbClr val="EDF3F8"/>
          </a:solidFill>
          <a:ln w="12700">
            <a:solidFill>
              <a:srgbClr val="C2D2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44475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4E78"/>
                </a:solidFill>
              </a:rPr>
              <a:t>Majburiyatlar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0" y="1280160"/>
            <a:ext cx="4983480" cy="621792"/>
          </a:xfrm>
          <a:prstGeom prst="roundRect">
            <a:avLst>
              <a:gd name="adj" fmla="val 17647"/>
            </a:avLst>
          </a:prstGeom>
          <a:solidFill>
            <a:srgbClr val="EEF6F3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144475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8A8A"/>
                </a:solidFill>
              </a:rPr>
              <a:t>Moliyaviy salohiyat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68680" y="2194560"/>
            <a:ext cx="4983480" cy="621792"/>
          </a:xfrm>
          <a:prstGeom prst="roundRect">
            <a:avLst>
              <a:gd name="adj" fmla="val 17647"/>
            </a:avLst>
          </a:prstGeom>
          <a:solidFill>
            <a:srgbClr val="EDF3F8"/>
          </a:solidFill>
          <a:ln w="12700">
            <a:solidFill>
              <a:srgbClr val="C2D2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35915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4E78"/>
                </a:solidFill>
              </a:rPr>
              <a:t>Chetdan jalb qilingan mablag‘lar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0" y="2194560"/>
            <a:ext cx="4983480" cy="621792"/>
          </a:xfrm>
          <a:prstGeom prst="roundRect">
            <a:avLst>
              <a:gd name="adj" fmla="val 17647"/>
            </a:avLst>
          </a:prstGeom>
          <a:solidFill>
            <a:srgbClr val="EEF6F3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35915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8A8A"/>
                </a:solidFill>
              </a:rPr>
              <a:t>Umumiy to‘planish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68680" y="3108960"/>
            <a:ext cx="4983480" cy="621792"/>
          </a:xfrm>
          <a:prstGeom prst="roundRect">
            <a:avLst>
              <a:gd name="adj" fmla="val 17647"/>
            </a:avLst>
          </a:prstGeom>
          <a:solidFill>
            <a:srgbClr val="EDF3F8"/>
          </a:solidFill>
          <a:ln w="12700">
            <a:solidFill>
              <a:srgbClr val="C2D2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27355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4E78"/>
                </a:solidFill>
              </a:rPr>
              <a:t>Qisqa muddatli majburiyatlar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0" y="3108960"/>
            <a:ext cx="4983480" cy="621792"/>
          </a:xfrm>
          <a:prstGeom prst="roundRect">
            <a:avLst>
              <a:gd name="adj" fmla="val 17647"/>
            </a:avLst>
          </a:prstGeom>
          <a:solidFill>
            <a:srgbClr val="EEF6F3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27355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8A8A"/>
                </a:solidFill>
              </a:rPr>
              <a:t>Uzoq muddatli majburiyatlar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68680" y="4023360"/>
            <a:ext cx="4983480" cy="621792"/>
          </a:xfrm>
          <a:prstGeom prst="roundRect">
            <a:avLst>
              <a:gd name="adj" fmla="val 17647"/>
            </a:avLst>
          </a:prstGeom>
          <a:solidFill>
            <a:srgbClr val="EDF3F8"/>
          </a:solidFill>
          <a:ln w="12700">
            <a:solidFill>
              <a:srgbClr val="C2D2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18795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4E78"/>
                </a:solidFill>
              </a:rPr>
              <a:t>Kreditorlar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0" y="4023360"/>
            <a:ext cx="4983480" cy="621792"/>
          </a:xfrm>
          <a:prstGeom prst="roundRect">
            <a:avLst>
              <a:gd name="adj" fmla="val 17647"/>
            </a:avLst>
          </a:prstGeom>
          <a:solidFill>
            <a:srgbClr val="EEF6F3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18795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8A8A"/>
                </a:solidFill>
              </a:rPr>
              <a:t>Tarkibiy koeffitsiyent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68680" y="4937760"/>
            <a:ext cx="4983480" cy="621792"/>
          </a:xfrm>
          <a:prstGeom prst="roundRect">
            <a:avLst>
              <a:gd name="adj" fmla="val 17647"/>
            </a:avLst>
          </a:prstGeom>
          <a:solidFill>
            <a:srgbClr val="EDF3F8"/>
          </a:solidFill>
          <a:ln w="12700">
            <a:solidFill>
              <a:srgbClr val="C2D2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510235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4E78"/>
                </a:solidFill>
              </a:rPr>
              <a:t>Aylanma aktivlar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400800" y="4937760"/>
            <a:ext cx="4983480" cy="621792"/>
          </a:xfrm>
          <a:prstGeom prst="roundRect">
            <a:avLst>
              <a:gd name="adj" fmla="val 17647"/>
            </a:avLst>
          </a:prstGeom>
          <a:solidFill>
            <a:srgbClr val="EEF6F3"/>
          </a:solidFill>
          <a:ln w="12700">
            <a:solidFill>
              <a:srgbClr val="C5DD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510235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8A8A"/>
                </a:solidFill>
              </a:rPr>
              <a:t>Moliyaviy qaramlik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Nazorat savollari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58368" y="1325880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53312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78992" y="1298448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03040"/>
                </a:solidFill>
              </a:rPr>
              <a:t>Chetdan jalb qilingan mablag‘larning umumiy to‘planish koeffitsiyenti nimani ifodalaydi?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58368" y="2039112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066544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03040"/>
                </a:solidFill>
              </a:rPr>
              <a:t>Qisqa muddatli majburiyatlarning aylanma aktivlardagi hissasi qanday aniqlanadi?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2752344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79776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78992" y="2724912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03040"/>
                </a:solidFill>
              </a:rPr>
              <a:t>Uzoq muddatli majburiyatlarning tarkibiy koeffitsiyenti qanday iqtisodiy mazmunga ega?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8368" y="3465576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493008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78992" y="3438144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03040"/>
                </a:solidFill>
              </a:rPr>
              <a:t>Kreditorlik ulushining oshishi qaysi xavflarni kuchaytirishi mumkin?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58368" y="4178808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206240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78992" y="4151376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03040"/>
                </a:solidFill>
              </a:rPr>
              <a:t>Nima uchun barcha chetdan jalb qilingan mablag‘lar aylanma aktivlarda qatnashmaydi?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58368" y="4892040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919472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78992" y="4864608"/>
            <a:ext cx="10287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03040"/>
                </a:solidFill>
              </a:rPr>
              <a:t>9.2-jadval ma’lumotlari asosida korxonaning moliyaviy holatiga umumiy baho bering.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30352" y="619963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75828E"/>
                </a:solidFill>
              </a:rPr>
              <a:t>Manba: A.N. Xoliqulov, “Turistik korxonalar faoliyati tahlili”, 2024, IX bob, 164–175-betlar.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8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7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ED0F1"/>
                </a:solidFill>
              </a:rPr>
              <a:t>YAKUNIY XULOSA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Majburiyatlarni tahlil qilish — qarzning qancha ekanini bilish emas, uning tarkibi, muddati, aktivlar bilan bog‘liqligi va korxona moliyaviy mustaqilligiga ta’sirini tushunishdir.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3977640"/>
            <a:ext cx="6675120" cy="0"/>
          </a:xfrm>
          <a:prstGeom prst="line">
            <a:avLst/>
          </a:prstGeom>
          <a:noFill/>
          <a:ln w="25400">
            <a:solidFill>
              <a:srgbClr val="6CA6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47091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3E3EE"/>
                </a:solidFill>
              </a:rPr>
              <a:t>Asosiy manba: A.N. Xoliqulov, 2024, IX bob.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Dars materiallari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Turistik korxonalarning majburiyatlarini ifodalovchi ko‘rsatkichlar va ularni tahlil qilish yo‘llari</dc:title>
  <dc:subject>Turistik korxonalar faoliyati tahlili — 9-mavzu</dc:subject>
  <dc:creator>OpenAI</dc:creator>
  <cp:lastModifiedBy>OpenAI</cp:lastModifiedBy>
  <cp:revision>1</cp:revision>
  <dcterms:created xsi:type="dcterms:W3CDTF">2026-09-15T04:15:02Z</dcterms:created>
  <dcterms:modified xsi:type="dcterms:W3CDTF">2026-09-15T04:15:02Z</dcterms:modified>
</cp:coreProperties>
</file>