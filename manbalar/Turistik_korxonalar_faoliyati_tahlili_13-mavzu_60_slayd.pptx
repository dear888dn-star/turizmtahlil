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13.2-jadval asosida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O‘sish sur’ati, %</c:v>
                </c:pt>
              </c:strCache>
            </c:strRef>
          </c:tx>
          <c:spPr>
            <a:solidFill>
              <a:srgbClr val="187A80"/>
            </a:solidFill>
          </c:spPr>
          <c:cat>
            <c:strRef>
              <c:f>Sheet1!$A$2:$A$8</c:f>
              <c:strCache>
                <c:ptCount val="7"/>
                <c:pt idx="0">
                  <c:v>Sotish tushumi</c:v>
                </c:pt>
                <c:pt idx="1">
                  <c:v>Sof tushum</c:v>
                </c:pt>
                <c:pt idx="2">
                  <c:v>Yalpi foyda</c:v>
                </c:pt>
                <c:pt idx="3">
                  <c:v>Asosiy faoliyat</c:v>
                </c:pt>
                <c:pt idx="4">
                  <c:v>Umumxo‘jalik</c:v>
                </c:pt>
                <c:pt idx="5">
                  <c:v>Soliqdan oldin</c:v>
                </c:pt>
                <c:pt idx="6">
                  <c:v>Sof foyda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120.2</c:v>
                </c:pt>
                <c:pt idx="1">
                  <c:v>124.3</c:v>
                </c:pt>
                <c:pt idx="2">
                  <c:v>134.9</c:v>
                </c:pt>
                <c:pt idx="3">
                  <c:v>140.6</c:v>
                </c:pt>
                <c:pt idx="4">
                  <c:v>136.1</c:v>
                </c:pt>
                <c:pt idx="5">
                  <c:v>134.8</c:v>
                </c:pt>
                <c:pt idx="6">
                  <c:v>134.8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777240"/>
            <a:ext cx="106070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13-MAVZU</a:t>
            </a:r>
          </a:p>
          <a:p>
            <a:pPr>
              <a:spcBef>
                <a:spcPts val="1000"/>
              </a:spcBef>
              <a:defRPr sz="3500" b="1">
                <a:solidFill>
                  <a:srgbClr val="FFFFFF"/>
                </a:solidFill>
              </a:defRPr>
            </a:pPr>
            <a:r>
              <a:t>Korxonaning moliyaviy natijalarini ifodalovchi ko‘rsatkichlarni tahlil qilish muammolari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XIII bob, 229–238-betlar asosida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Moliyaviy natijalarni ifodalovchi ko‘rsatkichlar tizimini tushuntirish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Ularning shakllanish ketma-ketligini yoritish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Daromad, xarajat, foyda va rentabellik o‘rtasidagi bog‘liqlikni tahlil qilish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Moliyaviy natijalar hisobotini iqtisodiy o‘qiy oladi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 foyda ko‘rsatkichlarini hisoblay oladi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13.2-jadval asosida o‘sish sur’atlarini tahlil qiladi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13.1. Moliyaviy natijalarni tahlil qilishning vazifalari va ma’lumotlar manbai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13.2. Moliyaviy natijalarni ifodalovchi ko‘rsatkichlar tizimi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Daromadlar, foyda va rentabellik ko‘rsatkichlari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13.1-rasm: moliyaviy natijalar shakllanishi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13.1-jadval: moliyaviy natijalar to‘g‘risidagi hisobot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13.3. Moliyaviy natijalarni ifodalovchi ko‘rsatkichlar umumiy hajmini tahlil qilish</a:t>
            </a:r>
          </a:p>
          <a:p>
            <a:pPr>
              <a:spcAft>
                <a:spcPts val="600"/>
              </a:spcAft>
              <a:defRPr sz="1780">
                <a:solidFill>
                  <a:srgbClr val="25313A"/>
                </a:solidFill>
              </a:defRPr>
            </a:pPr>
            <a:r>
              <a:t>13.2-jadval: daromad va foyda ko‘rsatkichlari dinamikasi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asosiy g‘oyasi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Moliyaviy natijalar tahlili moliyaviy tahlilning tarkibiy qismidir.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Tahlil markazida korxonaning yakuniy natijasi — foyda va rentabellik turadi.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Bozor sharoitida foyda ko‘p manba va ko‘plab omillar ta’sirida shakllanadi.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Shu sababli moliyaviy natijalar tahlili faqat sof foydani ko‘rish bilan cheklanmaydi.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 tahlili nimadan boshlanadi?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1-bosqich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Sotish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Sotilgan mahsulot, ish va xizmatlar o‘rganiladi.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2-bosqich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Sof tushum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QQS va aksizlardan keyingi sof tushum aniqlanadi.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3-bosqich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Yalpi natija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Sof tushumdan tannarx ayrilib yalpi moliyaviy natija topiladi.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natijalarning asosiy manbasi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Sotishdan tushum → Sof tushum → Yalpi foyda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Asosiy mantiq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Muallif sotishdan tushgan tushumni moliyaviy natijalarning asosiy manbasi va natijalar o‘zgarishiga ta’sir qiluvchi omil sifatida ko‘radi.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moliyaviy natija qanday shakllanadi?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Yalpi moliyaviy natija = Sof tushum − Sotilgan mahsulot tannarxi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Tannarxning kamayishi yoki sof tushumning tezroq o‘sishi yalpi natijani yaxshilaydi.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faoliyat natijasi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Asosiy faoliyat natijasi = Yalpi natija − Davr xarajatlari + Boshqa operatsion daromad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Davr xarajatlariga sotish va ma’muriy xarajatlar kiradi; boshqa operatsion daromadlar natijani oshiradi.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faoliyat natijasi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Sho‘ba va uyushma korxonalaridan dividendlar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Boshqa dividendlar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Qarzlar bo‘yicha olingan va to‘langan foizlar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Valyuta kursi farqi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Moliyaviy faoliyat bo‘yicha boshqa daromad va xarajatlar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Umumxo‘jalik faoliyati natijasi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Umumxo‘jalik natijasi = Asosiy faoliyat natijasi + Moliyaviy faoliyat natijasi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Korxona yakuniy natijasiga faqat asosiy ishlab chiqarish yoki xizmat faoliyati emas, moliyaviy operatsiyalar ham ta’sir qiladi.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Soliqdan oldingi foyda va sof foyda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Soliqdan oldingi foyda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Umumxo‘jalik natijasi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Favqulodda foyda yoki zarar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Soliqlar hisoblanishidan oldingi yakuniy natija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Sof foyda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Soliqdan oldingi foyda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Foyda solig‘i va boshqa majburiy ajratmalar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Korxona ixtiyorida qoladigan yakuniy foyda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 tahlilining axborot manbalari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Ma’lumotlar manbai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 natijalar to‘g‘risidagi hisobot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Buxgalteriya balansi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Debitorlik va kreditorlik qarzlar haqidagi ma’lumotlar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Asosiy vositalar harakati haqidagi ma’lumotlar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Pul oqimlari to‘g‘risidagi hisobot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Xususiy kapital to‘g‘risidagi hisobot</a:t>
            </a:r>
          </a:p>
          <a:p>
            <a:pPr>
              <a:spcAft>
                <a:spcPts val="600"/>
              </a:spcAft>
              <a:defRPr sz="1700">
                <a:solidFill>
                  <a:srgbClr val="25313A"/>
                </a:solidFill>
              </a:defRPr>
            </a:pPr>
            <a:r>
              <a:t>Moliyaviy-iqtisodiy holat bo‘yicha boshqa hisob-kitoblar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 tizimining o‘zaro bog‘liqligi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874519" cy="105156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Sotilgan mahsulot</a:t>
            </a:r>
          </a:p>
        </p:txBody>
      </p:sp>
      <p:sp>
        <p:nvSpPr>
          <p:cNvPr id="9" name="Chevron 8"/>
          <p:cNvSpPr/>
          <p:nvPr/>
        </p:nvSpPr>
        <p:spPr>
          <a:xfrm>
            <a:off x="2377440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2331720"/>
            <a:ext cx="1874519" cy="1051560"/>
          </a:xfrm>
          <a:prstGeom prst="round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Daromad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9160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2331720"/>
            <a:ext cx="1874519" cy="1051560"/>
          </a:xfrm>
          <a:prstGeom prst="round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Xarajat</a:t>
            </a:r>
          </a:p>
        </p:txBody>
      </p:sp>
      <p:sp>
        <p:nvSpPr>
          <p:cNvPr id="15" name="Chevron 14"/>
          <p:cNvSpPr/>
          <p:nvPr/>
        </p:nvSpPr>
        <p:spPr>
          <a:xfrm>
            <a:off x="7040879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2359" y="2331720"/>
            <a:ext cx="1874519" cy="1051560"/>
          </a:xfrm>
          <a:prstGeom prst="round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799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Foyda</a:t>
            </a:r>
          </a:p>
        </p:txBody>
      </p:sp>
      <p:sp>
        <p:nvSpPr>
          <p:cNvPr id="18" name="Chevron 17"/>
          <p:cNvSpPr/>
          <p:nvPr/>
        </p:nvSpPr>
        <p:spPr>
          <a:xfrm>
            <a:off x="9372599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0" y="2331720"/>
            <a:ext cx="1874519" cy="1051560"/>
          </a:xfrm>
          <a:prstGeom prst="roundRect">
            <a:avLst/>
          </a:prstGeom>
          <a:solidFill>
            <a:srgbClr val="2DA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Rentabellik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 tahlilining 7 vazifasi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13.1. Tahlil vazifalari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Barcha moliyaviy natija ko‘rsatkichlari to‘g‘ri aniqlanganini tekshirish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Hisobot davridagi o‘zgarishlarga baho berish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Har bir ko‘rsatkichga ta’sir qiluvchi omillarni aniqlash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Omillar ta’sirini hisoblash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Ko‘rsatkichlarning o‘zaro bog‘liqligini va sof foydaga ta’sirini aniqlash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Rentabellik ko‘rsatkichlariga baho berish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Foyda va rentabellikni oshirishning ichki imkoniyatlarini topish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13.2. Moliyaviy natijalar ko‘rsatkichlari tizimi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Daromadlar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4 guruh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Sotish, asosiy, moliyaviy va favqulodda daromadlar.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Foyda turlari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6 tur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Sotishdan sof foydagacha bo‘lgan bosqichlar.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Rentabellik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8+ ko‘rsatkich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Iqtisodiy va moliyaviy salohiyat, aktivlar, kapital, mahsulot va boshqa rentabelliklar.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Daromadlar guruhlari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25313A"/>
                </a:solidFill>
              </a:defRPr>
            </a:pPr>
            <a:r>
              <a:t>Sotishdan olingan daromad</a:t>
            </a:r>
          </a:p>
          <a:p>
            <a:pPr>
              <a:spcAft>
                <a:spcPts val="600"/>
              </a:spcAft>
              <a:defRPr sz="2100">
                <a:solidFill>
                  <a:srgbClr val="25313A"/>
                </a:solidFill>
              </a:defRPr>
            </a:pPr>
            <a:r>
              <a:t>Asosiy faoliyatdan olingan daromad</a:t>
            </a:r>
          </a:p>
          <a:p>
            <a:pPr>
              <a:spcAft>
                <a:spcPts val="600"/>
              </a:spcAft>
              <a:defRPr sz="2100">
                <a:solidFill>
                  <a:srgbClr val="25313A"/>
                </a:solidFill>
              </a:defRPr>
            </a:pPr>
            <a:r>
              <a:t>Moliyaviy faoliyatdan olingan daromad</a:t>
            </a:r>
          </a:p>
          <a:p>
            <a:pPr>
              <a:spcAft>
                <a:spcPts val="600"/>
              </a:spcAft>
              <a:defRPr sz="2100">
                <a:solidFill>
                  <a:srgbClr val="25313A"/>
                </a:solidFill>
              </a:defRPr>
            </a:pPr>
            <a:r>
              <a:t>Favqulodda (tasodifiy) daromad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turlari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Sotishdan olingan foyda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Asosiy faoliyatdan olinadigan foyda (zarar)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Moliyaviy faoliyatdan olinadigan foyda (zarar)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Favqulodda foyda (zarar)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Soliq to‘langunga qadar foyda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Sof foyda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 ko‘rsatkichlari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Iqtisodiy salohiyat rentabelligi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Moliyaviy salohiyat rentabelligi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O‘z mablag‘lari rentabelligi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Barcha aktivlar rentabelligi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Xususiy kapital rentabelligi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Sotilgan mahsulot rentabelligi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Aksiya rentabelligi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Tahlil maqsadiga mos boshqa rentabellik ko‘rsatkichlari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13.1-rasm: moliyaviy natija shakllanish zanjiri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Ko‘rsatkichlar tizimi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1. Sof tushum − tannarx = yalpi moliyaviy natija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2. Yalpi natija − davr xarajatlari + boshqa operatsion daromad = asosiy faoliyat natijasi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3. Moliyaviy daromadlar − moliyaviy xarajatlar = moliyaviy faoliyat natijasi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4. Tasodifiy daromad − tasodifiy xarajat = favqulodda natija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5. Asosiy faoliyat natijasi + moliyaviy natija + favqulodda natija = soliqdan oldingi foyda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6. Soliqdan oldingi foyda − soliqlar = sof foyda</a:t>
            </a:r>
          </a:p>
          <a:p>
            <a:pPr>
              <a:spcAft>
                <a:spcPts val="600"/>
              </a:spcAft>
              <a:defRPr sz="1650">
                <a:solidFill>
                  <a:srgbClr val="25313A"/>
                </a:solidFill>
              </a:defRPr>
            </a:pPr>
            <a:r>
              <a:t>7. Sof foyda − dividendlar = taqsimlanmagan foyda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moliyaviy natija — kitobdagi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Hisoblash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852,8 = 5 694,5 − 4 841,7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Hisobot yilidagi misol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Sof tushumdan sotilgan mahsulot, ish va xizmatlarning tannarxi ayriladi.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faoliyat natijasi — kitobdagi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Hisoblash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711,7 = 852,8 − (98,3 + 80,0) + 37,2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Hisobot yilidagi misol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Sotish va ma’muriy xarajatlar ayriladi, boshqa operatsion daromadlar qo‘shiladi.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faoliyat natijasi — kitobdagi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Hisoblash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80,4 = 4,7 + 2,9 − 27,5 + 7,1 + 93,2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Hisobot yilidagi misol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Dividend, foiz, valyuta kursi farqi va boshqa moliyaviy daromad/xarajatlar birgalikda hisoblanadi.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Soliqdan oldingi foyda — kitobdagi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Hisoblash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800,4 = 711,7 + 80,4 + 8,3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Hisobot yilidagi misol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Asosiy faoliyat natijasi, moliyaviy faoliyat natijasi va favqulodda foyda jamlanadi.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foyda — kitobdagi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Hisoblash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496,2 = 800,4 − (248,5 + 55,7)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Hisobot yilidagi misol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Soliqdan oldingi foydadan foyda solig‘i va boshqa soliqlar/ajratmalar ayriladi.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Taqsimlanmagan foyda — kitobdagi hisob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Hisoblash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396,2 = 496,2 − 100,0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Hisobot yilidagi misol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Sof foydadan dividendlar ayrilgach korxonada qoladigan taqsimlanmagan foyda aniqlanadi.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13.1-jadval: sotish va asosiy faoliyat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Moliyaviy natijalar hisoboti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298448"/>
          <a:ext cx="108813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72737"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Mahsulot sotishdan tushgan tushum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5 728,6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6 883,6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QQS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799,1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831,3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Aksizlar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346,2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357,8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Sof tushum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4 583,3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5 694,5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Sotilgan mahsulot tannarxi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3 951,2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4 841,7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Yalpi moliyaviy natija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632,1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70" b="0">
                          <a:solidFill>
                            <a:srgbClr val="25313A"/>
                          </a:solidFill>
                        </a:defRPr>
                      </a:pPr>
                      <a:r>
                        <a:t>852,8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13.1-jadval: davr xarajatlari va asosiy faoliyat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Moliyaviy natijalar hisoboti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1554480"/>
          <a:ext cx="10332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sz="122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Sotish xarajatlari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85,4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98,3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Ma’muriy xarajatlar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67,0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80,0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Boshqa operatsion daromadlar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31,3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37,2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Asosiy faoliyat natijasi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511,0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20" b="0">
                          <a:solidFill>
                            <a:srgbClr val="25313A"/>
                          </a:solidFill>
                        </a:defRPr>
                      </a:pPr>
                      <a:r>
                        <a:t>711,7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13.1-jadval: moliyaviy faoliyat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Moliyaviy natijalar hisoboti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98448"/>
          <a:ext cx="1097280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72737"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Boshqa dividendlar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3,5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4,7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Qarzlar bo‘yicha foizlar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4,2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2,9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To‘langan/olingan boshqa foizlar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−21,6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−27,5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Valyuta kursi farqi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5,8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7,1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72737"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Boshqa moliyaviy daromad/xarajat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79,3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93,2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2738"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Umumxo‘jalik natijasi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582,2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60" b="0">
                          <a:solidFill>
                            <a:srgbClr val="25313A"/>
                          </a:solidFill>
                        </a:defRPr>
                      </a:pPr>
                      <a:r>
                        <a:t>792,1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13.1-jadval: yakuniy foyda ko‘rsatkichlari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13.2. Moliyaviy natijalar hisoboti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29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070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5680"/>
                <a:gridCol w="3535680"/>
                <a:gridCol w="353568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Favqulodda foyda/zarar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11,4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8,3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Soliqdan oldingi foyda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593,6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800,4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Foyda solig‘i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200,0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248,5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Boshqa soliq va ajratmalar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25,6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55,7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Sof foyda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368,0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50" b="0">
                          <a:solidFill>
                            <a:srgbClr val="25313A"/>
                          </a:solidFill>
                        </a:defRPr>
                      </a:pPr>
                      <a:r>
                        <a:t>496,2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Normativ yangilanish: amaldagi BHMS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Normativ yangilanish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2025-yil 1-yanvardan 1-son BHMS “Moliyaviy hisobotni taqdim etish va hisob siyosati”ning yangi tahriri kuchga kirgan.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2-son BHMS “Asosiy xo‘jalik faoliyatidan daromadlar” 2024-yil 5-avgustda 3542-son bilan ro‘yxatdan o‘tgan.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Shuning uchun kitobdagi eski shakl raqamlari va ayrim satr kodlari o‘quv-metodik namuna sifatida ishlatiladi; amaliy hisobotda amaldagi BHMS qo‘llaniladi.</a:t>
            </a:r>
          </a:p>
          <a:p>
            <a:pPr>
              <a:spcAft>
                <a:spcPts val="600"/>
              </a:spcAft>
              <a:defRPr sz="1680">
                <a:solidFill>
                  <a:srgbClr val="25313A"/>
                </a:solidFill>
              </a:defRPr>
            </a:pPr>
            <a:r>
              <a:t>Ushbu taqdimotda hisoblash mantiqi Xoliqulov kitobiga tayangan holda saqlandi.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13.3. Umumiy hajm tahlili nimadan boshlanadi?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Moliyaviy natijalarni ifodalovchi daromad va foyda ko‘rsatkichlarining hisobot yilidagi o‘zgarishi aniqlanadi.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Har bir ko‘rsatkich bo‘yicha mutlaq farq va o‘sish sur’ati hisoblanadi.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Keyin o‘sish sur’atlari bir-biri bilan taqqoslanib, natijaning sifatli yoki sifatsiz shakllangani baholanadi.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13.2-jadval: moliyaviy natijalar dinamikasi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1234440"/>
          <a:ext cx="11475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144"/>
                <a:gridCol w="2295144"/>
                <a:gridCol w="2295144"/>
                <a:gridCol w="2295144"/>
                <a:gridCol w="2295144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O‘tgan yil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Hisobot yili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O‘sish %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Sotishdan tushum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5 728,6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6 883,6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+1 155,0*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120,2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Sof tushum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4 583,3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5 694,5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+1 111,2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124,3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Yalpi natija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632,1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852,8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+220,7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134,9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Asosiy faoliyat natijasi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511,0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711,7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+200,7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140,6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Umumxo‘jalik natijasi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582,2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792,1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+209,9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136,1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Favqulodda foyda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11,4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8,3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−3,1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72,8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Soliqdan oldingi foyda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593,6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800,4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+206,8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134,8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Sof foyda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368,0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496,2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+128,2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25313A"/>
                          </a:solidFill>
                        </a:defRPr>
                      </a:pPr>
                      <a:r>
                        <a:t>134,8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Muhim tuzatish: 13.2-jadvaldagi arifmetik xato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Kitobda yozilgan farq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+115,5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Sotishdan tushgan tushum farqi jadvalda xato yozilgan.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To‘g‘ri hisob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+1 155,0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6 883,6 − 5 728,6 = 1 155,0.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 sur’ati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120,2%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O‘sish sur’ati 120,2% bo‘lib, bu qism to‘g‘ri.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Sotishdan tushum 20,2% ga o‘sgan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5 728,6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Asosiy daromad manbai.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6 883,6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yilidagi tushum.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120,2%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20,2 foizlik o‘sish.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 tezroq o‘sgan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Yalpi tushum o‘sishi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120,2%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Mahsulot sotishdan tushum.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Sof tushum o‘sishi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124,3%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QQS va aksizlardan keyingi tushum.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Soliqlar o‘sishi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103,8%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Kitob hisobiga ko‘ra QQS+aksizlar o‘sishi ancha past.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Tannarxning o‘sishi sof tushumdan past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Sof tushum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124,3%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Sof tushum o‘sishi.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Tannarx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122,5%*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4 841,7 / 3 951,2 ×100 ≈ 122,5%. Kitob matnida 122,3% deb berilgan.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Yalpi foyda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134,9%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Tannarx nisbatan sekin o‘sgani uchun yalpi foyda tezroq oshgan.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moliyaviy natija 34,9% ga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632,1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Yalpi foyda.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852,8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yili.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134,9%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Sof tushum tannarxdan tezroq o‘sgan.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Davr xarajatlari nisbatan sekin o‘sgan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152,4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85,4 + 67,0.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178,3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98,3 + 80,0.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117,0%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 bo‘yicha ≈117,0%; kitob matnida 116,8% deb berilgan.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Asosiy faoliyat natijasi 40,6% ga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511,0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Asosiy faoliyat foydasi.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711,7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140,6%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Moliyaviy natijalar ichida eng yuqori o‘sishlardan biri.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Nega asosiy faoliyat foydasi tezroq o‘sdi?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Sof tushum 124,3% ga oshgan.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Tannarx o‘sishi undan past bo‘lgan.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Sotish va ma’muriy xarajatlar o‘sishi ham sof tushum o‘sishidan past.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Natijada asosiy faoliyat foydasi 140,6% ga yetgan.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Umumxo‘jalik natijasi 36,1% ga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Asosiy faoliyat natijasi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140,6%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Asosiy faoliyat foydasining o‘sishi.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783080"/>
            <a:ext cx="53035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993392"/>
            <a:ext cx="50840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Umumxo‘jalik natijasi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0216" y="2670048"/>
            <a:ext cx="50840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136,1%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160520"/>
            <a:ext cx="51572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Moliyaviy faoliyat komponentlari o‘sishni biroz sekinlashtirgan.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88,6% hisobiga izoh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Kitobdagi ifoda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Muallif moliyaviy faoliyat komponentlarini 88,6% deb baholaydi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Formula amalda o‘tgan yil natijasini hisobot yiliga bo‘lish ko‘rinishida yozilgan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Qayta hisoblash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O‘tgan yil sof moliyaviy natija ≈ 71,2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Hisobot yili ≈ 80,4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80,4 / 71,2 ×100 ≈ 112,9%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Demak, matnda yo‘nalish yoki talqinda arifmetik nomuvofiqlik mavjud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Favqulodda foyda 27,2% ga kamaygan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11,4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Tasodifiy foyda.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8,3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 sur’ati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72,8%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100 − 72,8 = 27,2% kamayish.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Soliqdan oldingi foyda 34,8% ga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593,6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Soliqdan oldingi foyda.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800,4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O‘sish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134,8%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Umumxo‘jalik natijasidan biroz past o‘sish.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foyda ham 34,8% ga oshgan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O‘tgan yil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368,0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Sof foyda.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Hisobot yili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496,2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Farq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+128,2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davrida sof foyda 128,2 ming so‘mga oshgan.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 o‘sish zanjiri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46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85800" y="1371600"/>
          <a:ext cx="1078992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Ijobiy tendensiya nimada?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Sof tushum sotishdan tushgan umumiy tushumdan tezroq o‘sgan.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Yalpi foyda sof tushumdan tezroq o‘sgan.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Asosiy faoliyat foydasi yalpi foydadan tezroq o‘sgan.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Bu xarajatlar nisbatan tejalganini va asosiy faoliyat samaradorligi oshganini ko‘rsatadi.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Ehtiyot bo‘lish kerak bo‘lgan jihatlar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13.3. Umumiy hajm tahlili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Umumxo‘jalik natijasining o‘sishi asosiy faoliyat foydasidan past.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Favqulodda foyda kamaygan.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Moliyaviy faoliyat komponentlari yakuniy natijani sekinlashtirgan.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Faqat foyda o‘sishiga emas, uning qaysi manba hisobiga shakllanganiga ham e’tibor berish kerak.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 tahlilida “sifatli foyda” tushunchasi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Tahliliy 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Barqaror foyda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 faoliyat va sotishdan shakllanadi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Tushum o‘sishi xarajatlar o‘sishidan yuqori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Takrorlanuvchi manbalarga tayangan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Beqaror foyda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Tasodifiy va bir martalik daromadlarga tayanadi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Moliyaviy operatsiyalar hisobiga haddan tashqari oshgan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Kelgusi davrda takrorlanmasligi mumkin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Turistik korxona uchun asosiy boshqaruv xulosalari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Tahliliy xulosa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Sotish hajmi va sof tushumni barqaror oshirish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Turpaket va xizmatlar tannarxini nazorat qilish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Sotish va ma’muriy xarajatlarni tushum o‘sishidan sekinroq oshirish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Moliyaviy faoliyat daromadlarini risk bilan muvozanatlash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Sof foydani tasodifiy emas, asosiy faoliyat hisobiga shakllantirish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13-mavzu va 14–15-mavzular bog‘liqligi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Mantiqiy davom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13-mavzu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Moliyaviy natijalar tizimi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Natijalar qanday shakllanishi va umumiy dinamikasi.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14-mavzu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Foyda tahlili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Foyda ko‘rsatkichlari va omilli tahlil.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15-mavzu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Rentabellik tahlili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Foydaning resurs va kapitalga nisbatan samaradorligi.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Turistik firmada sof tushum 1 500 mln so‘m, sotilgan xizmatlar tannarxi 1 080 mln so‘m.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Sotish va ma’muriy xarajatlar jami 210 mln so‘m, boshqa operatsion daromadlar 40 mln so‘m.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Moliyaviy faoliyat natijasi +25 mln so‘m, favqulodda natija 0.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Soliqlar 55 mln so‘m. Yalpi foyda, asosiy faoliyat foydasi, soliqdan oldingi va sof foydani hisoblang.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30368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50" b="1">
                <a:solidFill>
                  <a:srgbClr val="187A80"/>
                </a:solidFill>
              </a:defRPr>
            </a:pPr>
            <a:r>
              <a:t>Nazorat: 420 → 250 → 275 → 220 mln so‘m.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tahlil: o‘sish sur’atlari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O‘tgan yil sof tushum 1 200 mln, bu yil 1 500 mln so‘m.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O‘tgan yil tannarx 900 mln, bu yil 1 080 mln so‘m.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Sof tushum o‘sish sur’atini va tannarx o‘sish sur’atini hisoblang.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Qaysi ko‘rsatkich tezroq o‘sganini va bu yalpi foydaga qanday ta’sir qilishini izohlang.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87A80"/>
                </a:solidFill>
              </a:defRPr>
            </a:pPr>
            <a:r>
              <a:t>Nazorat: sof tushum = 125%; tannarx = 120% → yalpi foyda marjasi yaxshilanadi.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Moliyaviy natija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Sotishdan tushgan tushum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Sof tushum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Tannarx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Yalpi moliyaviy natija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Asosiy faoliyat natijasi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Moliyaviy faoliyat natijasi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Umumxo‘jalik natijasi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Soliqdan oldingi foyda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Sof foyda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Taqsimlanmagan foyda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Rentabellik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Moliyaviy natijalar tahlilining maqsadi nimadan iborat?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Moliyaviy natijalarni tahlil qilishning asosiy vazifalarini sanang.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Moliyaviy natijalar tahlilida qaysi hisobotlar axborot manbai bo‘ladi?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Yalpi foyda qanday aniqlanadi?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Asosiy faoliyat moliyaviy natijasi qanday shakllanadi?</a:t>
            </a:r>
          </a:p>
          <a:p>
            <a:pPr>
              <a:spcAft>
                <a:spcPts val="600"/>
              </a:spcAft>
              <a:defRPr sz="1730">
                <a:solidFill>
                  <a:srgbClr val="25313A"/>
                </a:solidFill>
              </a:defRPr>
            </a:pPr>
            <a:r>
              <a:t>Soliqdan oldingi foyda va sof foyda o‘rtasidagi farq nimada?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Muhokama savoli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Sof foyda 40% ga oshdi, lekin asosiy faoliyat foydasi atigi 5% ga oshgan bo‘lsa, bu natijani ijobiy deb baholash mumkinmi?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Foydaning qaysi manba hisobiga shakllanganini tekshirish uchun qaysi ko‘rsatkichlarni ko‘rish kerak?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korxonalarda qaysi bir martalik daromadlar sof foydani vaqtincha oshirishi mumkin?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natijalarni tahlil qilish algoritmi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57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298448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408176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280160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1. Tushumni tekshirish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231136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340864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12848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2. Sof tushum va tannarx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3163824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273552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145536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3. Davr xarajatlari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4096512"/>
            <a:ext cx="566928" cy="566928"/>
          </a:xfrm>
          <a:prstGeom prst="ellipse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206240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078224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4. Moliyaviy faoliyat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5029200"/>
            <a:ext cx="566928" cy="566928"/>
          </a:xfrm>
          <a:prstGeom prst="ellipse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138928"/>
            <a:ext cx="56692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010912"/>
            <a:ext cx="93268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313A"/>
                </a:solidFill>
              </a:defRPr>
            </a:pPr>
            <a:r>
              <a:t>5. Soliqlar va sof foyda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asosiy raqamlarni bir joyda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Sof tushum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5 694,5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yili.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Asosiy faoliyat foydasi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711,7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yili.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Sof foyda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496,2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Hisobot yili.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87A80"/>
                </a:solidFill>
              </a:defRPr>
            </a:pPr>
            <a:r>
              <a:t>O‘sish sur’atlari: 124,3% → 140,6% → 134,8%.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bo‘yicha 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Moliyaviy natijalar sotishdan boshlab sof foydagacha bo‘lgan ketma-ket iqtisodiy zanjirda shakllanadi.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Natijani baholashda faqat foyda summasi emas, uning manbalari, xarajatlar va o‘sish sur’atlari ham tahlil qilinadi.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Xoliqulov misolida asosiy faoliyat foydasining o‘sishi sof tushum va yalpi foydadan yuqori bo‘lib, bu xarajatlar nisbatan tejalgani bilan izohlanadi.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Biroq moliyaviy va favqulodda faoliyatdagi o‘zgarishlar yakuniy foyda o‘sishini sekinlashtirishi mumkin.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Keyingi mavzu: foyda ko‘rsatkichlari tahlili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13-mavzu |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13-mavzu moliyaviy natijalar tizimini umumiy shaklda ochib berdi.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14-mavzuda foyda ko‘rsatkichlarining alohida turlari, ularni aniqlash va omilli tahlil qilish usullari chuqurroq o‘rganiladi.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Shu sababli ushbu mavzudagi formulalar va 13.1–13.2-jadvallar keyingi mavzu uchun metodik asos hisoblanadi.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