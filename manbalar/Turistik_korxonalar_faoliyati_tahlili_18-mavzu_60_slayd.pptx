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9848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18-MAVZU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Turistik korxonalarda ish haqi xarajatlari va mehnat unumdorligi tahlili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XVIII bob, 288–302-betlar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Mehnat resurslari va ish haqi ko‘rsatkichlarini tahlil qilishning ahamiyatini yoritish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Kadrlar bilan ta’minlanish, qo‘nimsizlik va ish vaqtidan foydalanishni baholash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Mehnat unumdorligi va unga ta’sir etuvchi omillarni tahlil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Mehnat ko‘rsatkichlarini hisoblay oladi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18.1–18.6-paragraflar va jadvallarni iqtisodiy talqin qiladi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Mehnat unumdorligini oshirishning ichki rezervlarini aniqlaydi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18.1. Ish haqi xarajatlari va mehnat unumdorligi tahlilining ahamiyati, vazifalari va axborot manbalari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18.2. Mehnat resurslari bilan ta’minlanishni tahlil qilish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18.3. Ish kuchi qo‘nimsizligi va malaka darajasini tahlil qilish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18.4. Ish vaqtidan foydalanishni tahlil qilish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18.5. Mehnat unumdorligi dinamikasi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18.6. Mehnat unumdorligiga ta’sir etuvchi omillar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Turizmda inson omili nega markaziy?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Ahamiyati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Yuqori texnologiyalar rivojlangan sharoitda ham turistik xizmatni yaratish va mijoz bilan ishlashda inson omili hal qiluvchi ahamiyatga ega.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korxona natijalari xodimlar soni, malakasi, ish vaqti va mehnat unumdorligiga bevosita bog‘liq.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resurslaridan samarali foydalanish xizmat hajmi, tannarx, foyda va rentabellikka ta’sir qiladi.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mehnat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Ahamiyati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Ish haqi fondi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140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Mehnat xarajatlari hajmi.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Xodimlar soni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60520"/>
            <a:ext cx="24140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Korxonadagi ishchi kuchi miqdori.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Mehnat unumdorligi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MU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24140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Bir xodim/ishchi hisobiga xizmat hajmi.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O‘rtacha ish haqi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160520"/>
            <a:ext cx="24140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Bir xodimga to‘g‘ri keladigan o‘rtacha to‘lov.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2003–2015 statistik izoh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Ahamiyati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Kitobdagi tarixiy ma’lumot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2003–2015-yillarda YaIM va sanoat mahsuloti yuqori sur’atlarda o‘sgani qayd etiladi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YaIM o‘sishi o‘rtacha 7% dan yuqori deb ko‘rsatilgan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Taqdimotdagi yondashuv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Bu raqamlar tarixiy kontekst sifatida saqlanadi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Ular bugungi kun statistikasi sifatida talqin qilinmaydi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Asosiy e’tibor metodika va formulalarga qaratiladi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resurslaridan samarali foydalanish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Ahamiyati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Mehnat unumdorligining o‘sish darajasi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Mehnat unumdorligi hisobiga xizmat hajmining o‘sishi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Xodimlar sonining nisbiy kamayishi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Mehnat haqi fondidan nisbiy iqtisod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Mehnat unumdorligi o‘sish sur’atining mehnat haqi o‘sish sur’atiga nisbati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resurslari tahlilining maqsadi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Ahamiyati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Korxonani xodimlar bilan ta’minlanganlik darajasini baholash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Xodimlar tarkibi va kasbiy mahoratini o‘rganish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 vaqtidan foydalanishni baholash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unumdorligini oshirish rezervlarini aniqlash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omillari hisobiga tannarxni kamaytirish imkoniyatlarini topish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Boshqaruv tahlilining 8 asosiy vazifasi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Mehnat resurslari bilan ta’minlanish va tarkibiy o‘zgarishlarni baholash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Ish vaqtini yo‘qotish sabablarini aniqlash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Mehnat unumdorligi rejasi va dinamikasiga baho berish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Samarali foydalanish imkoniyatlarini aniqlash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Xodimlar qo‘nimsizligini baholash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Xizmat hajmiga ta’sir etuvchi mehnat omillarini hisoblash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Bir xodim mehnat unumdorligi omillarini aniqlash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Ish vaqti va bir soatlik unumdorlikning xizmat hajmiga ta’sirini o‘rganish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Axborot manbalari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18.1. Axborot manbalari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Biznes-reja ma’lumotlari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Mehnat ko‘rsatkichlari aks ettirilgan statistik hisobotlar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Ish vaqti balansi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Ishga kelish-ketish tabeli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Ish kuni fotografiyasi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Ishlab chiqarish yoki xizmat ko‘rsatish normasining bajarilishi haqidagi ma’lumotlar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18.2. Mehnat resurslari xizmat hajmiga qanday ta’sir qiladi?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Ta’minlanganlik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Xodimlar bilan ta’minlanish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Xodimlar yetarliligi.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Ish vaqtidan foydalanish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Mavjud vaqt fondidan foydalanish.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Mehnat unumdorligi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Bir xodim/ishchi yaratadigan xizmat hajmi.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Xodimlar 2 asosiy guruhga ajratiladi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Ta’minlanganlik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Xizmat ko‘rsatish xodimlari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Turistlarga bevosita xizmat ko‘rsatadi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Gid va operatsion xodimlar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Xizmat jarayonida bevosita ishtirok etadi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Ma’muriy-boshqaruv xodimlari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Rahbarlar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Mutaxassislar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Xizmat ko‘rsatuvchi yordamchi xodimlar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18.1-chizma: tahlilning asosiy yo‘nalishlari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Ta’minlanganlik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Xodimlar sonining tahlili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unumdorligini tahlil qilish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Ishchilarning ish vaqtidan foydalanishini tahlil qilish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 vaqti balansini va yo‘qotish sabablarini o‘rganish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unumdorligiga ta’sir etuvchi omillarni tahlil qilish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Xodimlar sonining tahlili qanday boshlanadi?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Ta’minlanganlik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Haqiqiy xodimlar soni biznes-reja bilan taqqoslanadi.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Ortiqcha yoki yetishmayotgan xodimlar soni aniqlanadi.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Faqat umumiy son emas, xodimlar tarkibi va strukturasidagi o‘zgarishlar ham baholanadi.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18.1-jadval: xodimlar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Toifa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Rejadan 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Ishchilar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617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Xizmatchilar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Rahbarlar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Mutaxassislar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Qo‘riqlash xizmati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59676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Jami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838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814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Jami xodimlar soni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Bazis davr.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Haqiqiy holat.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−24 kishi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Jami mehnat resurslari soni qisqargan.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Rejaga nisbatan xodimlar yetishmovchiligi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Reja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Biznes-reja.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814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−6 kishi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Korxona rejalashtirilgan sonni to‘liq ta’minlamagan.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Tarkibdagi asosiy siljishlar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Kamaygan toifalar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Ishchilar: rejadan −6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Xizmatchilar: −3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Qo‘riqlash: −2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Oshgan toifalar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Rahbarlar: +2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Mutaxassislar: +3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Muallif rahbarlar rejasidan ortishni samarasiz deb baholaydi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Ishchilar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18.2.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Reja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73,78%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605 / 820.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Haqiqiy ulush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73,59%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599 / 814.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−0,19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Asosiy xizmat ko‘rsatuvchi xodimlar ulushi biroz pasaygan.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18.3. Ish kuchi qo‘nimsizligi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Qo‘nimsizlik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Xodimlar tarkibi ishga qabul qilish va ishdan bo‘shatish hisobiga yil davomida o‘zgaradi.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 o‘zgarishlar ish kuchi aylanmasi koeffitsiyentlari bilan ifodalanadi.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Yuqori qo‘nimsizlik xizmat sifati, tajriba va xarajatlar nuqtai nazaridan salbiy ta’sir qilishi mumkin.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Ishga qabul qilish aylanmasi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Qo‘nimsizlik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Kqabul = Ishga qabul qilinganlar / O‘rtacha ro‘yxatdagi xodimlar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Korxonaga yangi qabul qilingan xodimlar oqimini ifodalaydi.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Ishdan bo‘shatish aylanmasi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Qo‘nimsizlik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Kbo‘sh = Ishdan bo‘shatilganlar / O‘rtacha ro‘yxatdagi xodimlar ×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Xodimlar tarkibidan chiqib ketish intensivligini ko‘rsatadi.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Qo‘nimsizlik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Qo‘nimsizlik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Kqo‘n = (O‘z xohishi + Intizom buzilishi sababli bo‘shaganlar) / O‘rtacha xodimlar soni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Majburiy yoki tabiiy chiqishlardan farqli ravishda boshqarilishi mumkin bo‘lgan kadrlar almashinuvini ko‘rsatadi.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18.2-jadval: qo‘nimsizlik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842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O‘rtacha ishchilar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617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−18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Ishga qabul qilingan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Ishdan bo‘shatilgan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−13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O‘z xohishiga ko‘ra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Intizom buzilishi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−10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Qabul aylanmasi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6,16%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6,51%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+0,35 p.p.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Bo‘shatish aylanmasi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9,08%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7,18%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−1,90 p.p.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Qo‘nimsizlik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0,071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0,050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40" b="0">
                          <a:solidFill>
                            <a:srgbClr val="25313A"/>
                          </a:solidFill>
                        </a:defRPr>
                      </a:pPr>
                      <a:r>
                        <a:t>−0,021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Qo‘nimsizlik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0,071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Bazis koeffitsiyent.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0,050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Joriy yil.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Mutlaq kamayish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−0,021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Taxminan 29,6% nisbiy kamayish.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arifmetik izoh: −0,429 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 jadvalida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Qo‘nimsizlik farqi −0,429 deb berilgan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Matnda ham “0,429 ga pasaygan” deyiladi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To‘g‘ri hisob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0,050 − 0,071 = −0,021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Nisbiy kamayish: 0,021 / 0,071 ≈ 29,6%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Shuning uchun −0,429 texnik xato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Ishdan bo‘shatish aylanmasi yaxshilangan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9,08%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Ishdan chiqish intensivligi.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7,18%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Hisobot davri.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−1,90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Kadrlar barqarorligi oshgan.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intizomi yaxshilangan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18.3.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Intizom sababli bo‘shaganlar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O‘tgan yil.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Hisobot yilida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Joriy yil.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Kamayish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−10 kishi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Muallif buni ijobiy holat sifatida baholaydi.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18.4. Ish vaqtidan foydalanish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Ish vaqti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Xizmat hajmi ish vaqtini tashkil etish va undan foydalanish darajasiga bog‘liq.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Ish vaqti fondi kishi-kun va kishi-soatlarda o‘lchanadi.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Tahlilda reja bilan haqiqat taqqoslanib, yo‘qotilgan vaqt va sabablar aniqlanadi.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 vaqti fondining omilli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Ish vaqti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IVF = IS × KK × KD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IS — ishchilar soni; KK — bir ishchining ishlagan kunlari; KD — o‘rtacha ish kuni davomiyligi.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 vaqti tahlilida 2 qo‘shimcha ko‘rsatkich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Ish vaqti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Bir ishchining ishlagan kunlari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KK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Yillik ish kunlari.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Ish kuni davomiyligi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KD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Bir ish kunidagi o‘rtacha soatlar.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18.3-jadval: ish vaqtidan foydalanish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Bajarilish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Ishchilar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99,01%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Jami kishi-kun, ming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160,2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153,5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−6,7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95,81%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Jami kishi-soat, ming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1 255,2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1 202,8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−52,4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95,82%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Bir ishchi kunlari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−9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96,60%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Ish kuni, soat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7,83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7,84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+0,01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5313A"/>
                          </a:solidFill>
                        </a:defRPr>
                      </a:pPr>
                      <a:r>
                        <a:t>100,12%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Jami ish vaqti fondi qisqargan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Reja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1 255,2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Rejalashtirilgan fond.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1 202,8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Haqiqiy fond.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Yo‘qotish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−52,4 ming 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Mehnat resurslaridan to‘liq foydalanilmagan.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1-omil: ishchilar soni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−6 × 265 × 7,83 = −12,45 ming kishi-soat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Ishchilar sonining rejadan 6 kishiga kamligi ish vaqti fondini qisqartirgan.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2-omil: ishlangan kunlar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−9 × 599 × 7,83 = −42,21 ming kishi-soat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Bir ishchining ishlagan kunlari 9 kunga kamayishi eng katta salbiy ta’sir ko‘rsatgan.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3-omil: ish kuni davomiyligi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+0,01 × 153,5 ming kishi-kun = +1,54 ming kishi-soat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Ish kuni 0,01 soatga uzaygani yo‘qotilgan fondning bir qismini qoplagan.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Ish vaqti omillari yig‘indisi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18.4. 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−12,45 − 42,21 + 1,54 = −53,12 ming kishi-soat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18.3-jadvaldagi umumiy farq −52,4 ming soat. Tafovut jadvaldagi yumaloqlangan ko‘rsatkichlardan foydalanish bilan bog‘liq bo‘lishi mumkin.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18.5. Mehnat unumdorligi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Mehnat unumdorligi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Mehnat unumdorligi — xizmat ko‘rsatish samaradorligini ifodalovchi asosiy ko‘rsatkich.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 iqtisodiy o‘sishning muhim omillaridan biri.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korxonada unumdorlik xizmat hajmi va sarflangan mehnat o‘rtasidagi nisbatni ifodalaydi.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unumdorligining o‘lchov birliklari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Mehnat unumdorligi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Qiymat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so‘m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Puldagi xizmat hajmi.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Natural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xizmat/turist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Natural birlikdagi natija.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Mehnat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kishi-soat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Sarflangan mehnat vaqti asosida.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unumdorlik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Mehnat unumdorligi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xodimga to‘g‘ri keladigan o‘rtacha yillik xizmat hajmi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ishchiga to‘g‘ri keladigan o‘rtacha yillik xizmat hajmi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ishchining bir kunlik ish unumi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 ishchining bir soatlik ish unumi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18.4-jadval: mehnat unumdorligi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16152"/>
          <a:ext cx="11567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432"/>
                <a:gridCol w="2313432"/>
                <a:gridCol w="2313432"/>
                <a:gridCol w="2313432"/>
                <a:gridCol w="2313432"/>
              </a:tblGrid>
              <a:tr h="634365"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1">
                          <a:solidFill>
                            <a:srgbClr val="FFFFFF"/>
                          </a:solidFill>
                        </a:defRPr>
                      </a:pPr>
                      <a:r>
                        <a:t>Rejadan 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Xizmat hajmi, ming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2 113 430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2 198 763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2 553 967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+355 204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Xodimlar soni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838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820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814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Ishchilar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617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xodim yillik mahsuloti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2 522,0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2 681,4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3 137,6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+456,2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ishchi yillik mahsuloti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3 425,3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3 634,3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4 263,7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+629,4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kunlik unum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8 035,855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8 297,219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9 976,433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+1 679,214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soatlik unum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1 012,591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1 059,793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1 271,889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0" b="0">
                          <a:solidFill>
                            <a:srgbClr val="25313A"/>
                          </a:solidFill>
                        </a:defRPr>
                      </a:pPr>
                      <a:r>
                        <a:t>+212,096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Xizmat hajmi keskin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2 113 430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Ming so‘m.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2 553 967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+440 537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Xodimlar soni kamayganiga qaramay hajm oshgan.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Bir xodim yillik unumdorligi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2 522,0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Ming so‘m/xodim.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Reja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2 681,4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Biznes-reja.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3 137,6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Rejadan +456,2 ming so‘m.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Bir ishchi yillik unumdorligi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3 425,3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Ming so‘m/ishchi.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Reja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3 634,3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Biznes-reja.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Haqiqat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4 263,7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Rejadan +629,4 ming so‘m.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Bir kunlik va bir soatlik unumdorlik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Bir kunlik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9 976,433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Hisobot yilidagi haqiqiy ko‘rsatkich.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Bir soatlik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1 271,889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Hisobot yilidagi haqiqiy ko‘rsatkich.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unumdorligi nega o‘sgan?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18.5. Tahliliy 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Ijobiy omil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Xizmat hajmi sezilarli oshgan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Bir ishchi va xodim hisobiga natija ko‘paygan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Tarkibiy holat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21408"/>
            <a:ext cx="468172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Xodimlar va ishchilar soni kamaygan</a:t>
            </a:r>
          </a:p>
          <a:p>
            <a:pPr>
              <a:spcAft>
                <a:spcPts val="600"/>
              </a:spcAft>
              <a:defRPr sz="1630">
                <a:solidFill>
                  <a:srgbClr val="25313A"/>
                </a:solidFill>
              </a:defRPr>
            </a:pPr>
            <a:r>
              <a:t>Kamroq mehnat resursi bilan ko‘proq xizmat yaratilgan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18.6. Bir xodim unumdorligining omilli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Bir xodim yillik unumdorligi = Ishchilar ulushi × Bir ishchi yillik unumdorligi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Xodimlar tarkibidagi ishchilar salmog‘i va ishchi unumdorligi birgalikda bir xodim natijasini belgilaydi.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18.6-jadval: asosiy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“ABC” firmasi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Xodimlar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820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814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Ishchilar soni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605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Ishchilar ulushi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73,78%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73,59%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−0,19 p.p.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xodim yillik mahsuloti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2 681,4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3 137,6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+456,2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ishchi yillik mahsuloti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3 634,3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4 263,7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+629,4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1-omil: ishchilar ulushi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−0,19 × 3 634,3 / 100 = −6,905 ming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Ishchilar ulushining 0,19 foiz punktga pasayishi bir xodim unumdorligini kamaytirgan.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2-omil: bir ishchi unumdorligi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+629,4 × 73,59 / 100 = +463,175 ming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Bir ishchi unumdorligining oshishi bir xodim yillik unumdorligiga eng katta ijobiy ta’sir ko‘rsatgan.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Omillar yig‘indisi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−6,905 + 463,175 = +456,270 ≈ +456,2 ming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Natija 18.6-jadvaldagi bir xodim unumdorligining rejadan oshishiga mos keladi.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Omilli tahlil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18.6. Tahliliy 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Ishchilar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−6,905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Salbiy ta’sir.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Ishchi unumdorligi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+463,175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Kuchli ijobiy ta’sir.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F6C75"/>
                </a:solidFill>
              </a:defRPr>
            </a:pPr>
            <a:r>
              <a:t>Jami natija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22A42"/>
                </a:solidFill>
              </a:defRPr>
            </a:pPr>
            <a:r>
              <a:t>+456,2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10">
                <a:solidFill>
                  <a:srgbClr val="25313A"/>
                </a:solidFill>
              </a:defRPr>
            </a:pPr>
            <a:r>
              <a:t>Ming so‘m/xodim.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Mehnat unumdorligini oshirish rezervlari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Ish vaqti yo‘qotishlarini kamaytirish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Ishchi va xizmat ko‘rsatuvchi xodimlar tarkibini optimallashtirish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Malaka oshirish va kasbiy rivojlanishni kuchaytirish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Raqamli texnologiyalar orqali takrorlanuvchi operatsiyalarni avtomatlashtirish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Mehnatni tashkil etish va rag‘batlantirish tizimini yaxshilash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Bir turistga xizmat ko‘rsatish jarayonini standartlashtirish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Turistik korxona uchun zamonaviy boshqaruv paneli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tavsiyalari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Bir xodimga tushum va foyda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Bir soatga xizmat hajmi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Kadrlar qo‘nimsizligi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Xodim boshiga turistlar soni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O‘rtacha ish haqi va unumdorlik o‘sish sur’atlari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Mijoz qoniqishi va xodim unumdorligi bog‘liqligi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qo‘nimsizlik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(12 + 8) / 400 = 0,05 yoki 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Korxonada 400 xodim bor; 12 kishi o‘z xohishi bilan, 8 kishi intizom sababli ketgan. Qo‘nimsizlik koeffitsiyenti 5%.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ish vaqti fondi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IVF = 120 × 250 × 8 = 240 000 kishi-soat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120 ishchi, yiliga 250 ish kuni va 8 soatlik ish kuni bo‘lsa, rejalashtirilgan ish vaqti fondi 240 ming kishi-soat.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mini-keys: mehnat unumdorligi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54480"/>
            <a:ext cx="10424160" cy="1874519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01952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MU = 18 000 mln / 60 xodim = 300 mln so‘m/xodim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2412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5313A"/>
                </a:solidFill>
              </a:defRPr>
            </a:pPr>
            <a:r>
              <a:t>Turistik firma yiliga 18 mlrd so‘mlik xizmat ko‘rsatib, 60 xodim ishlatsa, bir xodimga 300 mln so‘m xizmat hajmi to‘g‘ri keladi.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Mehnat resurslari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Ish haqi fondi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Mehnat unumdorligi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Ishga qabul qilish aylanmasi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Ishdan bo‘shatish aylanmasi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Qo‘nimsizlik koeffitsiyenti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Ish vaqti fondi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Bir kunlik unumdorlik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Bir soatlik unumdorlik</a:t>
            </a:r>
          </a:p>
          <a:p>
            <a:pPr>
              <a:spcAft>
                <a:spcPts val="600"/>
              </a:spcAft>
              <a:defRPr sz="1600">
                <a:solidFill>
                  <a:srgbClr val="25313A"/>
                </a:solidFill>
              </a:defRPr>
            </a:pPr>
            <a:r>
              <a:t>Omilli tahlil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bo‘yicha 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Mehnat resurslarini tahlil qilishning ahamiyati nimada?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Mehnat tahlilining asosiy axborot manbalari qaysilar?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Xodimlar tarkibi va ta’minlanganlik qanday tahlil qilinadi?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Qo‘nimsizlik koeffitsiyenti qanday aniqlanadi?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Ish vaqti fondiga qaysi omillar ta’sir qiladi?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Mehnat unumdorligini ifodalovchi asosiy ko‘rsatkichlar nimalar?</a:t>
            </a:r>
          </a:p>
          <a:p>
            <a:pPr>
              <a:spcAft>
                <a:spcPts val="600"/>
              </a:spcAft>
              <a:defRPr sz="1590">
                <a:solidFill>
                  <a:srgbClr val="25313A"/>
                </a:solidFill>
              </a:defRPr>
            </a:pPr>
            <a:r>
              <a:t>Bir xodim unumdorligiga ishchilar ulushi va bir ishchi unumdorligi qanday ta’sir qiladi?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83096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18-mavzu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10">
                <a:solidFill>
                  <a:srgbClr val="25313A"/>
                </a:solidFill>
              </a:defRPr>
            </a:pPr>
            <a:r>
              <a:t>Mehnat resurslari turistik xizmat sifatini va moliyaviy natijalarni shakllantiruvchi asosiy omillardan biridir.</a:t>
            </a:r>
          </a:p>
          <a:p>
            <a:pPr>
              <a:spcAft>
                <a:spcPts val="600"/>
              </a:spcAft>
              <a:defRPr sz="1710">
                <a:solidFill>
                  <a:srgbClr val="25313A"/>
                </a:solidFill>
              </a:defRPr>
            </a:pPr>
            <a:r>
              <a:t>Tahlil xodimlar soni bilan cheklanmaydi: tarkib, qo‘nimsizlik, ish vaqti, malaka va unumdorlik birgalikda baholanadi.</a:t>
            </a:r>
          </a:p>
          <a:p>
            <a:pPr>
              <a:spcAft>
                <a:spcPts val="600"/>
              </a:spcAft>
              <a:defRPr sz="1710">
                <a:solidFill>
                  <a:srgbClr val="25313A"/>
                </a:solidFill>
              </a:defRPr>
            </a:pPr>
            <a:r>
              <a:t>“ABC” firmasi misolida xodimlar soni va ish vaqti fondi kamaygan bo‘lsa-da, mehnat unumdorligi sezilarli oshgan.</a:t>
            </a:r>
          </a:p>
          <a:p>
            <a:pPr>
              <a:spcAft>
                <a:spcPts val="600"/>
              </a:spcAft>
              <a:defRPr sz="1710">
                <a:solidFill>
                  <a:srgbClr val="25313A"/>
                </a:solidFill>
              </a:defRPr>
            </a:pPr>
            <a:r>
              <a:t>Eng katta ijobiy omil — bir ishchi unumdorligining o‘sishi; asosiy ichki rezervlar esa ish vaqtidan to‘liq foydalanish va kadrlar tarkibini optimallashtirish bilan bog‘liq.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